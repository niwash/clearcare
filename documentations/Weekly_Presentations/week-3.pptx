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IE"/>
    </a:defPPr>
    <a:lvl1pPr marL="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en-I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6" dt="2026-10-02T10:09:58.834"/>
    <p1510:client id="{1CC50858-9B63-24FF-360A-809BBB77B03C}" v="29" dt="2026-10-02T09:49:05.733"/>
    <p1510:client id="{3F6E6829-1DC4-14A7-98C8-8C14226C691F}" v="134" dt="2026-10-02T10:02:09.774"/>
    <p1510:client id="{A0F36193-EF3F-7B17-1BF5-EDA293D08B6C}" v="26" dt="2026-10-02T00:28:47.457"/>
    <p1510:client id="{DB842AE6-23CA-2F34-8D2C-5D3ADA66B40D}" v="2" dt="2026-10-02T11:25:38.134"/>
    <p1510:client id="{FB9288B4-23A1-3202-DE39-BE235F4C2D9D}" v="121" dt="2026-10-02T11:22:29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IE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E">
                <a:solidFill>
                  <a:srgbClr val="000000"/>
                </a:solidFill>
              </a:rPr>
              <a:t>So we decided one of the main goals for this week is to reflect last week's advice and notes. Then we held a retrospective meeting to prepare for next week.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rcare_week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IE" smtClean="0"/>
              <a:t>02/10/2026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learcare_week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I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IE" smtClean="0"/>
              <a:t>02/10/2026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I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IE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IE" smtClean="0"/>
              <a:t>‹#›</a:t>
            </a:fld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en-IE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en-I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en-IE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en-IE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en-IE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en-IE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en-IE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en-IE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en-IE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en-IE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E"/>
      </a:defPPr>
      <a:lvl1pPr marL="0" algn="l" defTabSz="457200" rtl="0" eaLnBrk="1" latinLnBrk="0" hangingPunct="1">
        <a:defRPr lang="en-I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en-IE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en-IE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en-IE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en-IE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en-IE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en-IE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en-IE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en-IE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lear-care-nine.vercel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-block"/>
          <p:cNvGrpSpPr/>
          <p:nvPr/>
        </p:nvGrpSpPr>
        <p:grpSpPr>
          <a:xfrm>
            <a:off x="590550" y="1854518"/>
            <a:ext cx="3549930" cy="1494234"/>
            <a:chOff x="590550" y="1854518"/>
            <a:chExt cx="3549930" cy="149423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854518"/>
              <a:ext cx="1582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MSc Group 2 Project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2179320"/>
              <a:ext cx="354993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5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ClearCare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2979420"/>
              <a:ext cx="201978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IE" sz="240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Week 3 update</a:t>
              </a:r>
            </a:p>
          </p:txBody>
        </p:sp>
      </p:grpSp>
      <p:grpSp>
        <p:nvGrpSpPr>
          <p:cNvPr id="9" name="record-hook"/>
          <p:cNvGrpSpPr/>
          <p:nvPr/>
        </p:nvGrpSpPr>
        <p:grpSpPr>
          <a:xfrm>
            <a:off x="598932" y="3676650"/>
            <a:ext cx="4746940" cy="1688973"/>
            <a:chOff x="598932" y="3676650"/>
            <a:chExt cx="4746940" cy="1688973"/>
          </a:xfrm>
        </p:grpSpPr>
        <p:sp>
          <p:nvSpPr>
            <p:cNvPr id="6" name="Rectangle 6"/>
            <p:cNvSpPr/>
            <p:nvPr/>
          </p:nvSpPr>
          <p:spPr>
            <a:xfrm>
              <a:off x="609600" y="3676650"/>
              <a:ext cx="914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2742" y="3930968"/>
              <a:ext cx="858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 record of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4231005"/>
              <a:ext cx="4746940" cy="113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IE" sz="21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inspectors found.</a:t>
              </a:r>
              <a:br>
                <a:rPr/>
              </a:br>
              <a:r>
                <a:rPr lang="en-IE" sz="21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the provider </a:t>
              </a:r>
              <a:r>
                <a:rPr lang="en-IE" sz="2100">
                  <a:solidFill>
                    <a:schemeClr val="dk1"/>
                  </a:solidFill>
                </a:rPr>
                <a:t>planned</a:t>
              </a:r>
              <a:r>
                <a:rPr lang="en-IE" sz="21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  <a:br>
                <a:rPr/>
              </a:br>
              <a:r>
                <a:rPr lang="en-IE" sz="21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Whether the next inspection </a:t>
              </a:r>
              <a:r>
                <a:rPr lang="en-IE" sz="2100" b="1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found it fixed.</a:t>
              </a:r>
            </a:p>
          </p:txBody>
        </p:sp>
      </p:grpSp>
      <p:grpSp>
        <p:nvGrpSpPr>
          <p:cNvPr id="24" name="team"/>
          <p:cNvGrpSpPr/>
          <p:nvPr/>
        </p:nvGrpSpPr>
        <p:grpSpPr>
          <a:xfrm>
            <a:off x="8382000" y="0"/>
            <a:ext cx="3810000" cy="6858000"/>
            <a:chOff x="8382000" y="0"/>
            <a:chExt cx="3810000" cy="6858000"/>
          </a:xfrm>
        </p:grpSpPr>
        <p:sp>
          <p:nvSpPr>
            <p:cNvPr id="10" name="Rectangle 10"/>
            <p:cNvSpPr/>
            <p:nvPr/>
          </p:nvSpPr>
          <p:spPr>
            <a:xfrm>
              <a:off x="8382000" y="0"/>
              <a:ext cx="3810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32342" y="1759268"/>
              <a:ext cx="438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Team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830056" y="2186940"/>
              <a:ext cx="1606447" cy="3095244"/>
              <a:chOff x="8830056" y="2186940"/>
              <a:chExt cx="1606447" cy="3095244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8830056" y="2186940"/>
                <a:ext cx="10772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Likun Fang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830056" y="2872740"/>
                <a:ext cx="12430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Twila Habab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830056" y="3558540"/>
                <a:ext cx="146731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Aswin Remesh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830056" y="4244340"/>
                <a:ext cx="1606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Niwash Acharya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30056" y="4930140"/>
                <a:ext cx="15224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Waseel Chopra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832342" y="2483168"/>
              <a:ext cx="903363" cy="3007233"/>
              <a:chOff x="8832342" y="2483168"/>
              <a:chExt cx="903363" cy="3007233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832342" y="2483168"/>
                <a:ext cx="9033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A00049290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32342" y="3168968"/>
                <a:ext cx="8946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C20361521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32342" y="3854768"/>
                <a:ext cx="9033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A00047249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832342" y="4540568"/>
                <a:ext cx="9033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A00046271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832342" y="5226368"/>
                <a:ext cx="9033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A00046669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593598" y="1492568"/>
            <a:ext cx="2376644" cy="1682305"/>
            <a:chOff x="593598" y="1492568"/>
            <a:chExt cx="2376644" cy="1682305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1492568"/>
              <a:ext cx="10785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Week </a:t>
              </a:r>
              <a:r>
                <a:rPr lang="en-IE" sz="1350" b="1">
                  <a:solidFill>
                    <a:schemeClr val="accent3"/>
                  </a:solidFill>
                </a:rPr>
                <a:t>3</a:t>
              </a:r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 update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793558"/>
              <a:ext cx="22858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Reflections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2402205"/>
              <a:ext cx="2371310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IE" sz="21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Last week's feedback,</a:t>
              </a:r>
              <a:br/>
              <a:r>
                <a:rPr lang="en-IE" sz="21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 four topics.</a:t>
              </a:r>
            </a:p>
          </p:txBody>
        </p:sp>
      </p:grpSp>
      <p:grpSp>
        <p:nvGrpSpPr>
          <p:cNvPr id="7" name="contents-rule"/>
          <p:cNvGrpSpPr/>
          <p:nvPr/>
        </p:nvGrpSpPr>
        <p:grpSpPr>
          <a:xfrm>
            <a:off x="4181475" y="1600200"/>
            <a:ext cx="19050" cy="4552950"/>
            <a:chOff x="4181475" y="1600200"/>
            <a:chExt cx="19050" cy="4552950"/>
          </a:xfrm>
        </p:grpSpPr>
        <p:sp>
          <p:nvSpPr>
            <p:cNvPr id="6" name="Rectangle 6"/>
            <p:cNvSpPr/>
            <p:nvPr/>
          </p:nvSpPr>
          <p:spPr>
            <a:xfrm>
              <a:off x="4181475" y="1600200"/>
              <a:ext cx="190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4" name="topic-row-1"/>
          <p:cNvGrpSpPr/>
          <p:nvPr/>
        </p:nvGrpSpPr>
        <p:grpSpPr>
          <a:xfrm>
            <a:off x="4552950" y="1600200"/>
            <a:ext cx="7036308" cy="1188720"/>
            <a:chOff x="4552950" y="1600200"/>
            <a:chExt cx="7036308" cy="1188720"/>
          </a:xfrm>
        </p:grpSpPr>
        <p:sp>
          <p:nvSpPr>
            <p:cNvPr id="8" name="Rectangle 8">
              <a:hlinkClick r:id="rId3" action="ppaction://hlinksldjump"/>
            </p:cNvPr>
            <p:cNvSpPr/>
            <p:nvPr/>
          </p:nvSpPr>
          <p:spPr>
            <a:xfrm>
              <a:off x="4572000" y="1600200"/>
              <a:ext cx="70104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Line 9">
              <a:hlinkClick r:id="rId3" action="ppaction://hlinksldjump"/>
            </p:cNvPr>
            <p:cNvSpPr/>
            <p:nvPr/>
          </p:nvSpPr>
          <p:spPr>
            <a:xfrm>
              <a:off x="4572000" y="1604962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>
              <a:hlinkClick r:id="rId3" action="ppaction://hlinksldjump"/>
            </p:cNvPr>
            <p:cNvSpPr txBox="1"/>
            <p:nvPr/>
          </p:nvSpPr>
          <p:spPr>
            <a:xfrm>
              <a:off x="4552950" y="1741170"/>
              <a:ext cx="36815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5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1" name="TextBox 11">
              <a:hlinkClick r:id="rId3" action="ppaction://hlinksldjump"/>
            </p:cNvPr>
            <p:cNvSpPr txBox="1"/>
            <p:nvPr/>
          </p:nvSpPr>
          <p:spPr>
            <a:xfrm>
              <a:off x="5512308" y="1779270"/>
              <a:ext cx="30862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Qualitative research</a:t>
              </a:r>
            </a:p>
          </p:txBody>
        </p:sp>
        <p:sp>
          <p:nvSpPr>
            <p:cNvPr id="12" name="TextBox 12">
              <a:hlinkClick r:id="rId3" action="ppaction://hlinksldjump"/>
            </p:cNvPr>
            <p:cNvSpPr txBox="1"/>
            <p:nvPr/>
          </p:nvSpPr>
          <p:spPr>
            <a:xfrm>
              <a:off x="5515356" y="2205990"/>
              <a:ext cx="39061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8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Talk to real people about real problems</a:t>
              </a:r>
            </a:p>
          </p:txBody>
        </p:sp>
        <p:sp>
          <p:nvSpPr>
            <p:cNvPr id="13" name="TextBox 13">
              <a:hlinkClick r:id="rId3" action="ppaction://hlinksldjump"/>
            </p:cNvPr>
            <p:cNvSpPr txBox="1"/>
            <p:nvPr/>
          </p:nvSpPr>
          <p:spPr>
            <a:xfrm>
              <a:off x="10828839" y="1892618"/>
              <a:ext cx="760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E" sz="135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Slides 3–4</a:t>
              </a:r>
            </a:p>
          </p:txBody>
        </p:sp>
      </p:grpSp>
      <p:grpSp>
        <p:nvGrpSpPr>
          <p:cNvPr id="21" name="topic-row-2"/>
          <p:cNvGrpSpPr/>
          <p:nvPr/>
        </p:nvGrpSpPr>
        <p:grpSpPr>
          <a:xfrm>
            <a:off x="4552950" y="2762250"/>
            <a:ext cx="7036308" cy="1188720"/>
            <a:chOff x="4552950" y="2762250"/>
            <a:chExt cx="7036308" cy="1188720"/>
          </a:xfrm>
        </p:grpSpPr>
        <p:sp>
          <p:nvSpPr>
            <p:cNvPr id="15" name="Rectangle 15">
              <a:hlinkClick r:id="rId4" action="ppaction://hlinksldjump"/>
            </p:cNvPr>
            <p:cNvSpPr/>
            <p:nvPr/>
          </p:nvSpPr>
          <p:spPr>
            <a:xfrm>
              <a:off x="4572000" y="2762250"/>
              <a:ext cx="70104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Line 16">
              <a:hlinkClick r:id="rId4" action="ppaction://hlinksldjump"/>
            </p:cNvPr>
            <p:cNvSpPr/>
            <p:nvPr/>
          </p:nvSpPr>
          <p:spPr>
            <a:xfrm>
              <a:off x="4572000" y="2767012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>
              <a:hlinkClick r:id="rId4" action="ppaction://hlinksldjump"/>
            </p:cNvPr>
            <p:cNvSpPr txBox="1"/>
            <p:nvPr/>
          </p:nvSpPr>
          <p:spPr>
            <a:xfrm>
              <a:off x="4552950" y="2903220"/>
              <a:ext cx="46715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5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8" name="TextBox 18">
              <a:hlinkClick r:id="rId4" action="ppaction://hlinksldjump"/>
            </p:cNvPr>
            <p:cNvSpPr txBox="1"/>
            <p:nvPr/>
          </p:nvSpPr>
          <p:spPr>
            <a:xfrm>
              <a:off x="5512308" y="2941320"/>
              <a:ext cx="20435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Technologies</a:t>
              </a:r>
            </a:p>
          </p:txBody>
        </p:sp>
        <p:sp>
          <p:nvSpPr>
            <p:cNvPr id="19" name="TextBox 19">
              <a:hlinkClick r:id="rId4" action="ppaction://hlinksldjump"/>
            </p:cNvPr>
            <p:cNvSpPr txBox="1"/>
            <p:nvPr/>
          </p:nvSpPr>
          <p:spPr>
            <a:xfrm>
              <a:off x="5515356" y="3368040"/>
              <a:ext cx="34329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8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choice of backend and hosting</a:t>
              </a:r>
            </a:p>
          </p:txBody>
        </p:sp>
        <p:sp>
          <p:nvSpPr>
            <p:cNvPr id="20" name="TextBox 20">
              <a:hlinkClick r:id="rId4" action="ppaction://hlinksldjump"/>
            </p:cNvPr>
            <p:cNvSpPr txBox="1"/>
            <p:nvPr/>
          </p:nvSpPr>
          <p:spPr>
            <a:xfrm>
              <a:off x="11084002" y="3054668"/>
              <a:ext cx="505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E" sz="135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Slide 5</a:t>
              </a:r>
            </a:p>
          </p:txBody>
        </p:sp>
      </p:grpSp>
      <p:grpSp>
        <p:nvGrpSpPr>
          <p:cNvPr id="28" name="topic-row-3"/>
          <p:cNvGrpSpPr/>
          <p:nvPr/>
        </p:nvGrpSpPr>
        <p:grpSpPr>
          <a:xfrm>
            <a:off x="4552950" y="3924300"/>
            <a:ext cx="7036308" cy="1188720"/>
            <a:chOff x="4552950" y="3924300"/>
            <a:chExt cx="7036308" cy="1188720"/>
          </a:xfrm>
        </p:grpSpPr>
        <p:sp>
          <p:nvSpPr>
            <p:cNvPr id="22" name="Rectangle 22">
              <a:hlinkClick r:id="rId5" action="ppaction://hlinksldjump"/>
            </p:cNvPr>
            <p:cNvSpPr/>
            <p:nvPr/>
          </p:nvSpPr>
          <p:spPr>
            <a:xfrm>
              <a:off x="4572000" y="3924300"/>
              <a:ext cx="70104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Line 23">
              <a:hlinkClick r:id="rId5" action="ppaction://hlinksldjump"/>
            </p:cNvPr>
            <p:cNvSpPr/>
            <p:nvPr/>
          </p:nvSpPr>
          <p:spPr>
            <a:xfrm>
              <a:off x="4572000" y="3929062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>
              <a:hlinkClick r:id="rId5" action="ppaction://hlinksldjump"/>
            </p:cNvPr>
            <p:cNvSpPr txBox="1"/>
            <p:nvPr/>
          </p:nvSpPr>
          <p:spPr>
            <a:xfrm>
              <a:off x="4552950" y="4065270"/>
              <a:ext cx="46193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5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5" name="TextBox 25">
              <a:hlinkClick r:id="rId5" action="ppaction://hlinksldjump"/>
            </p:cNvPr>
            <p:cNvSpPr txBox="1"/>
            <p:nvPr/>
          </p:nvSpPr>
          <p:spPr>
            <a:xfrm>
              <a:off x="5512308" y="4103370"/>
              <a:ext cx="27646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Data visualisation</a:t>
              </a:r>
            </a:p>
          </p:txBody>
        </p:sp>
        <p:sp>
          <p:nvSpPr>
            <p:cNvPr id="26" name="TextBox 26">
              <a:hlinkClick r:id="rId5" action="ppaction://hlinksldjump"/>
            </p:cNvPr>
            <p:cNvSpPr txBox="1"/>
            <p:nvPr/>
          </p:nvSpPr>
          <p:spPr>
            <a:xfrm>
              <a:off x="5515356" y="4530090"/>
              <a:ext cx="373769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8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Show a lot of inspection data </a:t>
              </a:r>
              <a:r>
                <a:rPr lang="en-IE">
                  <a:solidFill>
                    <a:schemeClr val="accent5"/>
                  </a:solidFill>
                </a:rPr>
                <a:t>effectively</a:t>
              </a:r>
              <a:endParaRPr lang="en-IE" sz="180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>
              <a:hlinkClick r:id="rId5" action="ppaction://hlinksldjump"/>
            </p:cNvPr>
            <p:cNvSpPr txBox="1"/>
            <p:nvPr/>
          </p:nvSpPr>
          <p:spPr>
            <a:xfrm>
              <a:off x="11084002" y="4216718"/>
              <a:ext cx="505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E" sz="135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Slide 6</a:t>
              </a:r>
            </a:p>
          </p:txBody>
        </p:sp>
      </p:grpSp>
      <p:grpSp>
        <p:nvGrpSpPr>
          <p:cNvPr id="36" name="topic-row-4"/>
          <p:cNvGrpSpPr/>
          <p:nvPr/>
        </p:nvGrpSpPr>
        <p:grpSpPr>
          <a:xfrm>
            <a:off x="4552950" y="5086350"/>
            <a:ext cx="7036308" cy="1188720"/>
            <a:chOff x="4552950" y="5086350"/>
            <a:chExt cx="7036308" cy="1188720"/>
          </a:xfrm>
        </p:grpSpPr>
        <p:sp>
          <p:nvSpPr>
            <p:cNvPr id="29" name="Rectangle 29">
              <a:hlinkClick r:id="rId6" action="ppaction://hlinksldjump"/>
            </p:cNvPr>
            <p:cNvSpPr/>
            <p:nvPr/>
          </p:nvSpPr>
          <p:spPr>
            <a:xfrm>
              <a:off x="4572000" y="5086350"/>
              <a:ext cx="70104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Line 30">
              <a:hlinkClick r:id="rId6" action="ppaction://hlinksldjump"/>
            </p:cNvPr>
            <p:cNvSpPr/>
            <p:nvPr/>
          </p:nvSpPr>
          <p:spPr>
            <a:xfrm>
              <a:off x="4572000" y="5091112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Line 31">
              <a:hlinkClick r:id="rId6" action="ppaction://hlinksldjump"/>
            </p:cNvPr>
            <p:cNvSpPr/>
            <p:nvPr/>
          </p:nvSpPr>
          <p:spPr>
            <a:xfrm>
              <a:off x="4572000" y="6157912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>
              <a:hlinkClick r:id="rId6" action="ppaction://hlinksldjump"/>
            </p:cNvPr>
            <p:cNvSpPr txBox="1"/>
            <p:nvPr/>
          </p:nvSpPr>
          <p:spPr>
            <a:xfrm>
              <a:off x="4552950" y="5227320"/>
              <a:ext cx="47199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5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3" name="TextBox 33">
              <a:hlinkClick r:id="rId6" action="ppaction://hlinksldjump"/>
            </p:cNvPr>
            <p:cNvSpPr txBox="1"/>
            <p:nvPr/>
          </p:nvSpPr>
          <p:spPr>
            <a:xfrm>
              <a:off x="5512308" y="5265420"/>
              <a:ext cx="32004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Artificial intelligence</a:t>
              </a:r>
            </a:p>
          </p:txBody>
        </p:sp>
        <p:sp>
          <p:nvSpPr>
            <p:cNvPr id="34" name="TextBox 34">
              <a:hlinkClick r:id="rId6" action="ppaction://hlinksldjump"/>
            </p:cNvPr>
            <p:cNvSpPr txBox="1"/>
            <p:nvPr/>
          </p:nvSpPr>
          <p:spPr>
            <a:xfrm>
              <a:off x="5515356" y="5692140"/>
              <a:ext cx="4591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8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Why build this when anyone can ask a chatbot</a:t>
              </a:r>
            </a:p>
          </p:txBody>
        </p:sp>
        <p:sp>
          <p:nvSpPr>
            <p:cNvPr id="35" name="TextBox 35">
              <a:hlinkClick r:id="rId6" action="ppaction://hlinksldjump"/>
            </p:cNvPr>
            <p:cNvSpPr txBox="1"/>
            <p:nvPr/>
          </p:nvSpPr>
          <p:spPr>
            <a:xfrm>
              <a:off x="11084002" y="5378768"/>
              <a:ext cx="505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E" sz="135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Slide 7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140664" y="6480810"/>
            <a:ext cx="144783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</a:t>
            </a:r>
            <a:r>
              <a:rPr lang="en-IE" sz="1200">
                <a:solidFill>
                  <a:schemeClr val="accent5"/>
                </a:solidFill>
              </a:rPr>
              <a:t>3</a:t>
            </a:r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· 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opic-marker"/>
          <p:cNvGrpSpPr/>
          <p:nvPr/>
        </p:nvGrpSpPr>
        <p:grpSpPr>
          <a:xfrm>
            <a:off x="609600" y="523875"/>
            <a:ext cx="1590700" cy="327850"/>
            <a:chOff x="609600" y="523875"/>
            <a:chExt cx="1590700" cy="327850"/>
          </a:xfrm>
        </p:grpSpPr>
        <p:sp>
          <p:nvSpPr>
            <p:cNvPr id="2" name="Ellipse 2"/>
            <p:cNvSpPr/>
            <p:nvPr/>
          </p:nvSpPr>
          <p:spPr>
            <a:xfrm>
              <a:off x="609600" y="523875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090" y="587692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IE" sz="1350" b="1">
                  <a:solidFill>
                    <a:srgbClr val="F8F6F0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2792" y="587692"/>
              <a:ext cx="1197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Feedback 1 of 4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79158"/>
              <a:ext cx="40506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Qualitative research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2" name="this-week"/>
          <p:cNvGrpSpPr/>
          <p:nvPr/>
        </p:nvGrpSpPr>
        <p:grpSpPr>
          <a:xfrm>
            <a:off x="598932" y="1740218"/>
            <a:ext cx="2866554" cy="1021966"/>
            <a:chOff x="598932" y="1740218"/>
            <a:chExt cx="2866554" cy="1021966"/>
          </a:xfrm>
        </p:grpSpPr>
        <p:sp>
          <p:nvSpPr>
            <p:cNvPr id="10" name="TextBox 10"/>
            <p:cNvSpPr txBox="1"/>
            <p:nvPr/>
          </p:nvSpPr>
          <p:spPr>
            <a:xfrm>
              <a:off x="602742" y="1740218"/>
              <a:ext cx="770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This week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2040255"/>
              <a:ext cx="2866554" cy="721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lnSpc>
                  <a:spcPts val="2850"/>
                </a:lnSpc>
              </a:pPr>
              <a:r>
                <a:rPr lang="en-IE" sz="2100">
                  <a:solidFill>
                    <a:schemeClr val="dk1"/>
                  </a:solidFill>
                </a:rPr>
                <a:t>We need real people: </a:t>
              </a:r>
              <a:br>
                <a:rPr lang="en-IE" sz="2100">
                  <a:solidFill>
                    <a:schemeClr val="dk1"/>
                  </a:solidFill>
                </a:rPr>
              </a:br>
              <a:r>
                <a:rPr lang="en-IE" sz="2100" b="1">
                  <a:solidFill>
                    <a:schemeClr val="accent1"/>
                  </a:solidFill>
                </a:rPr>
                <a:t>two</a:t>
              </a:r>
              <a:r>
                <a:rPr lang="en-IE" sz="21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interviews this week.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470142" y="1740218"/>
            <a:ext cx="4799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IE" sz="1350" b="1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Today</a:t>
            </a:r>
          </a:p>
        </p:txBody>
      </p:sp>
      <p:grpSp>
        <p:nvGrpSpPr>
          <p:cNvPr id="32" name="demand-ahead"/>
          <p:cNvGrpSpPr/>
          <p:nvPr/>
        </p:nvGrpSpPr>
        <p:grpSpPr>
          <a:xfrm>
            <a:off x="609600" y="3048000"/>
            <a:ext cx="10972800" cy="2861501"/>
            <a:chOff x="609600" y="3048000"/>
            <a:chExt cx="10972800" cy="2861501"/>
          </a:xfrm>
        </p:grpSpPr>
        <p:sp>
          <p:nvSpPr>
            <p:cNvPr id="16" name="Rectangle 16"/>
            <p:cNvSpPr/>
            <p:nvPr/>
          </p:nvSpPr>
          <p:spPr>
            <a:xfrm>
              <a:off x="609600" y="3048000"/>
              <a:ext cx="10972800" cy="2857500"/>
            </a:xfrm>
            <a:prstGeom prst="roundRect">
              <a:avLst>
                <a:gd name="adj" fmla="val 1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3732" y="3278505"/>
              <a:ext cx="52256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Ahead: demand will grow faster than supply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267200" y="38100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924800" y="38100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3" name="figure-85-plus"/>
            <p:cNvGrpSpPr/>
            <p:nvPr/>
          </p:nvGrpSpPr>
          <p:grpSpPr>
            <a:xfrm>
              <a:off x="895350" y="3829050"/>
              <a:ext cx="2893120" cy="2080451"/>
              <a:chOff x="895350" y="3829050"/>
              <a:chExt cx="2893120" cy="2080451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895350" y="3829050"/>
                <a:ext cx="2245760" cy="1162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600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+162%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5256" y="4682490"/>
                <a:ext cx="288321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population aged 85+ by 2045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07542" y="5416868"/>
                <a:ext cx="2410038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Department of Health projections,</a:t>
                </a:r>
                <a:br/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via Nursing Homes Ireland</a:t>
                </a:r>
              </a:p>
            </p:txBody>
          </p:sp>
        </p:grpSp>
        <p:grpSp>
          <p:nvGrpSpPr>
            <p:cNvPr id="27" name="figure-beds"/>
            <p:cNvGrpSpPr/>
            <p:nvPr/>
          </p:nvGrpSpPr>
          <p:grpSpPr>
            <a:xfrm>
              <a:off x="4552950" y="3829050"/>
              <a:ext cx="2349947" cy="1851851"/>
              <a:chOff x="4552950" y="3829050"/>
              <a:chExt cx="2349947" cy="1851851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4552950" y="3829050"/>
                <a:ext cx="1877036" cy="1162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60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1,000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562856" y="4682490"/>
                <a:ext cx="2340041" cy="6377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extra nursing-home beds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year, to 2040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565142" y="5416868"/>
                <a:ext cx="3483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ESRI</a:t>
                </a:r>
              </a:p>
            </p:txBody>
          </p:sp>
        </p:grpSp>
        <p:grpSp>
          <p:nvGrpSpPr>
            <p:cNvPr id="31" name="figure-occupancy"/>
            <p:cNvGrpSpPr/>
            <p:nvPr/>
          </p:nvGrpSpPr>
          <p:grpSpPr>
            <a:xfrm>
              <a:off x="8210550" y="3829050"/>
              <a:ext cx="1809239" cy="1851851"/>
              <a:chOff x="8210550" y="3829050"/>
              <a:chExt cx="1809239" cy="1851851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210550" y="3829050"/>
                <a:ext cx="1434163" cy="1162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60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95%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220456" y="4682490"/>
                <a:ext cx="1799333" cy="6377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occupancy already,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 nursing homes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2742" y="5416868"/>
                <a:ext cx="17159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Nursing Homes Ireland</a:t>
                </a:r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10140664" y="6480810"/>
            <a:ext cx="144783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</a:t>
            </a:r>
            <a:r>
              <a:rPr lang="en-IE" sz="1200">
                <a:solidFill>
                  <a:schemeClr val="accent5"/>
                </a:solidFill>
              </a:rPr>
              <a:t>3</a:t>
            </a:r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· 03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03F72C73-8ED7-902E-23E8-BA0EDB857053}"/>
              </a:ext>
            </a:extLst>
          </p:cNvPr>
          <p:cNvSpPr txBox="1"/>
          <p:nvPr/>
        </p:nvSpPr>
        <p:spPr>
          <a:xfrm>
            <a:off x="6377524" y="2040232"/>
            <a:ext cx="3116174" cy="3500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>
              <a:lnSpc>
                <a:spcPts val="2850"/>
              </a:lnSpc>
            </a:pPr>
            <a:r>
              <a:rPr lang="en-IE" sz="2100">
                <a:solidFill>
                  <a:schemeClr val="dk1"/>
                </a:solidFill>
              </a:rPr>
              <a:t>Availability over preference?</a:t>
            </a:r>
            <a:endParaRPr lang="en-US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opic-marker"/>
          <p:cNvGrpSpPr/>
          <p:nvPr/>
        </p:nvGrpSpPr>
        <p:grpSpPr>
          <a:xfrm>
            <a:off x="609600" y="523875"/>
            <a:ext cx="1590700" cy="327850"/>
            <a:chOff x="609600" y="523875"/>
            <a:chExt cx="1590700" cy="327850"/>
          </a:xfrm>
        </p:grpSpPr>
        <p:sp>
          <p:nvSpPr>
            <p:cNvPr id="2" name="Ellipse 2"/>
            <p:cNvSpPr/>
            <p:nvPr/>
          </p:nvSpPr>
          <p:spPr>
            <a:xfrm>
              <a:off x="609600" y="523875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090" y="587692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IE" sz="1350" b="1">
                  <a:solidFill>
                    <a:srgbClr val="F8F6F0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2792" y="587692"/>
              <a:ext cx="1197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Feedback 1 of 4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79158"/>
              <a:ext cx="94104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Interviews: how many families read the reports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4" name="don-view"/>
          <p:cNvGrpSpPr/>
          <p:nvPr/>
        </p:nvGrpSpPr>
        <p:grpSpPr>
          <a:xfrm>
            <a:off x="598932" y="1945005"/>
            <a:ext cx="4545938" cy="3046095"/>
            <a:chOff x="598932" y="1945005"/>
            <a:chExt cx="4545938" cy="3046095"/>
          </a:xfrm>
        </p:grpSpPr>
        <p:sp>
          <p:nvSpPr>
            <p:cNvPr id="10" name="TextBox 10"/>
            <p:cNvSpPr txBox="1"/>
            <p:nvPr/>
          </p:nvSpPr>
          <p:spPr>
            <a:xfrm>
              <a:off x="598932" y="1945005"/>
              <a:ext cx="227109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Director of Nursing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2292668"/>
              <a:ext cx="28592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Private nursing home, Dublin · 29 Sept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2762250"/>
              <a:ext cx="28575" cy="22288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7908" y="2884170"/>
              <a:ext cx="4356962" cy="1235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IE" sz="240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“Not everyone checks the</a:t>
              </a:r>
              <a:br>
                <a:rPr/>
              </a:br>
              <a:r>
                <a:rPr lang="en-IE" sz="240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reports, maybe </a:t>
              </a:r>
              <a:r>
                <a:rPr lang="en-IE" sz="2400" b="1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one out of five</a:t>
              </a:r>
              <a:br>
                <a:rPr/>
              </a:br>
              <a:r>
                <a:rPr lang="en-IE" sz="2400" b="1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or ten.</a:t>
              </a:r>
              <a:endParaRPr lang="en-IE" sz="240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6" name="views-divider"/>
          <p:cNvGrpSpPr/>
          <p:nvPr/>
        </p:nvGrpSpPr>
        <p:grpSpPr>
          <a:xfrm>
            <a:off x="6400800" y="1924050"/>
            <a:ext cx="9525" cy="3048000"/>
            <a:chOff x="6400800" y="1924050"/>
            <a:chExt cx="9525" cy="3048000"/>
          </a:xfrm>
        </p:grpSpPr>
        <p:sp>
          <p:nvSpPr>
            <p:cNvPr id="15" name="Line 15"/>
            <p:cNvSpPr/>
            <p:nvPr/>
          </p:nvSpPr>
          <p:spPr>
            <a:xfrm>
              <a:off x="6400800" y="192405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1" name="adon-view"/>
          <p:cNvGrpSpPr/>
          <p:nvPr/>
        </p:nvGrpSpPr>
        <p:grpSpPr>
          <a:xfrm>
            <a:off x="6694932" y="1945005"/>
            <a:ext cx="3408458" cy="1827657"/>
            <a:chOff x="6694932" y="1945005"/>
            <a:chExt cx="3408458" cy="1827657"/>
          </a:xfrm>
        </p:grpSpPr>
        <p:sp>
          <p:nvSpPr>
            <p:cNvPr id="17" name="TextBox 17"/>
            <p:cNvSpPr txBox="1"/>
            <p:nvPr/>
          </p:nvSpPr>
          <p:spPr>
            <a:xfrm>
              <a:off x="6694932" y="1945005"/>
              <a:ext cx="34084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Assistant Director of Nursing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98742" y="2292668"/>
              <a:ext cx="28592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Private nursing home, Dublin · 30 Sept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705600" y="2762250"/>
              <a:ext cx="28575" cy="76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83908" y="2884170"/>
              <a:ext cx="2767980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IE" sz="240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“</a:t>
              </a:r>
              <a:r>
                <a:rPr lang="en-IE" sz="2400" b="1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All families</a:t>
              </a:r>
              <a:r>
                <a:rPr lang="en-IE" sz="240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 check</a:t>
              </a:r>
              <a:br/>
              <a:r>
                <a:rPr lang="en-IE" sz="240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reports.”</a:t>
              </a:r>
            </a:p>
          </p:txBody>
        </p:sp>
      </p:grpSp>
      <p:grpSp>
        <p:nvGrpSpPr>
          <p:cNvPr id="23" name="consent-note"/>
          <p:cNvGrpSpPr/>
          <p:nvPr/>
        </p:nvGrpSpPr>
        <p:grpSpPr>
          <a:xfrm>
            <a:off x="616419" y="6231223"/>
            <a:ext cx="3341620" cy="184666"/>
            <a:chOff x="603504" y="5585460"/>
            <a:chExt cx="3341620" cy="18466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5585460"/>
              <a:ext cx="334162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Two interviews, 29 and 30 Sept, with signed consent. 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140664" y="6480810"/>
            <a:ext cx="144783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</a:t>
            </a:r>
            <a:r>
              <a:rPr lang="en-IE" sz="1200">
                <a:solidFill>
                  <a:schemeClr val="accent5"/>
                </a:solidFill>
              </a:rPr>
              <a:t>3</a:t>
            </a:r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· 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opic-marker"/>
          <p:cNvGrpSpPr/>
          <p:nvPr/>
        </p:nvGrpSpPr>
        <p:grpSpPr>
          <a:xfrm>
            <a:off x="609600" y="523875"/>
            <a:ext cx="1590700" cy="327850"/>
            <a:chOff x="609600" y="523875"/>
            <a:chExt cx="1590700" cy="327850"/>
          </a:xfrm>
        </p:grpSpPr>
        <p:sp>
          <p:nvSpPr>
            <p:cNvPr id="2" name="Ellipse 2"/>
            <p:cNvSpPr/>
            <p:nvPr/>
          </p:nvSpPr>
          <p:spPr>
            <a:xfrm>
              <a:off x="609600" y="523875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090" y="587692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IE" sz="1350" b="1">
                  <a:solidFill>
                    <a:srgbClr val="F8F6F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2792" y="587692"/>
              <a:ext cx="1197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Feedback 2 of 4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79158"/>
              <a:ext cx="268219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Technologies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3" name="decision-hosting"/>
          <p:cNvGrpSpPr/>
          <p:nvPr/>
        </p:nvGrpSpPr>
        <p:grpSpPr>
          <a:xfrm>
            <a:off x="598932" y="1740218"/>
            <a:ext cx="3562883" cy="1446466"/>
            <a:chOff x="598932" y="1740218"/>
            <a:chExt cx="3562883" cy="1446466"/>
          </a:xfrm>
        </p:grpSpPr>
        <p:sp>
          <p:nvSpPr>
            <p:cNvPr id="10" name="TextBox 10"/>
            <p:cNvSpPr txBox="1"/>
            <p:nvPr/>
          </p:nvSpPr>
          <p:spPr>
            <a:xfrm>
              <a:off x="602742" y="1740218"/>
              <a:ext cx="150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Decision 1 · Hosting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2135505"/>
              <a:ext cx="3556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Hosting on Oracle Cloud (OCI)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2548890"/>
              <a:ext cx="3561359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8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provider for the API, the pipeline,</a:t>
              </a:r>
              <a:br/>
              <a:r>
                <a:rPr lang="en-IE" sz="18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database and the PDF archive.</a:t>
              </a:r>
            </a:p>
          </p:txBody>
        </p:sp>
      </p:grpSp>
      <p:grpSp>
        <p:nvGrpSpPr>
          <p:cNvPr id="20" name="decision-backend"/>
          <p:cNvGrpSpPr/>
          <p:nvPr/>
        </p:nvGrpSpPr>
        <p:grpSpPr>
          <a:xfrm>
            <a:off x="6466332" y="1740218"/>
            <a:ext cx="3836240" cy="1446466"/>
            <a:chOff x="6466332" y="1740218"/>
            <a:chExt cx="3836240" cy="1446466"/>
          </a:xfrm>
        </p:grpSpPr>
        <p:sp>
          <p:nvSpPr>
            <p:cNvPr id="14" name="TextBox 14"/>
            <p:cNvSpPr txBox="1"/>
            <p:nvPr/>
          </p:nvSpPr>
          <p:spPr>
            <a:xfrm>
              <a:off x="6470142" y="1740218"/>
              <a:ext cx="1569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Decision 2 · Backend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6332" y="2135505"/>
              <a:ext cx="9003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FastAPI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543800" y="2114550"/>
              <a:ext cx="685800" cy="30480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07908" y="2122170"/>
              <a:ext cx="18946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40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Spring Boot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77000" y="2647950"/>
              <a:ext cx="952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96456" y="2548890"/>
              <a:ext cx="3504164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IE" sz="18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Mature ecosystem, supported for the</a:t>
              </a:r>
              <a:br/>
              <a:r>
                <a:rPr lang="en-IE" sz="180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life of the project.</a:t>
              </a:r>
            </a:p>
          </p:txBody>
        </p:sp>
      </p:grpSp>
      <p:grpSp>
        <p:nvGrpSpPr>
          <p:cNvPr id="35" name="enterprise-checks"/>
          <p:cNvGrpSpPr/>
          <p:nvPr/>
        </p:nvGrpSpPr>
        <p:grpSpPr>
          <a:xfrm>
            <a:off x="598932" y="4195762"/>
            <a:ext cx="10983468" cy="1360361"/>
            <a:chOff x="598932" y="4195762"/>
            <a:chExt cx="10983468" cy="1360361"/>
          </a:xfrm>
        </p:grpSpPr>
        <p:sp>
          <p:nvSpPr>
            <p:cNvPr id="21" name="Line 21"/>
            <p:cNvSpPr/>
            <p:nvPr/>
          </p:nvSpPr>
          <p:spPr>
            <a:xfrm>
              <a:off x="609600" y="419576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8932" y="4402455"/>
              <a:ext cx="39572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How we judge “enterprise ready”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09600" y="4972050"/>
              <a:ext cx="7029450" cy="28575"/>
              <a:chOff x="609600" y="4972050"/>
              <a:chExt cx="7029450" cy="285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09600" y="4972050"/>
                <a:ext cx="457200" cy="2857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2800350" y="4972050"/>
                <a:ext cx="457200" cy="2857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991100" y="4972050"/>
                <a:ext cx="457200" cy="2857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7181850" y="4972050"/>
                <a:ext cx="457200" cy="2857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598932" y="5145405"/>
              <a:ext cx="7430482" cy="410718"/>
              <a:chOff x="598932" y="5145405"/>
              <a:chExt cx="7430482" cy="410718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598932" y="5145405"/>
                <a:ext cx="1136593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IE" sz="2100">
                    <a:solidFill>
                      <a:schemeClr val="dk1"/>
                    </a:solidFill>
                  </a:rPr>
                  <a:t>Evaluation</a:t>
                </a:r>
                <a:endParaRPr 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789682" y="5145405"/>
                <a:ext cx="95262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2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Security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980432" y="5145405"/>
                <a:ext cx="132164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2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Monitoring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171182" y="5145405"/>
                <a:ext cx="85823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2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Testing</a:t>
                </a:r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10140664" y="6480810"/>
            <a:ext cx="144783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</a:t>
            </a:r>
            <a:r>
              <a:rPr lang="en-IE" sz="1200">
                <a:solidFill>
                  <a:schemeClr val="accent5"/>
                </a:solidFill>
              </a:rPr>
              <a:t>3</a:t>
            </a:r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· 05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C9569F-B425-4568-02E4-053DD9AD0072}"/>
              </a:ext>
            </a:extLst>
          </p:cNvPr>
          <p:cNvSpPr txBox="1"/>
          <p:nvPr/>
        </p:nvSpPr>
        <p:spPr>
          <a:xfrm>
            <a:off x="423333" y="5561874"/>
            <a:ext cx="1778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</a:rPr>
              <a:t>gold set, measured accuracy</a:t>
            </a:r>
            <a:endParaRPr lang="en-US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94AC1B-A615-5448-5C9B-19B805E72D23}"/>
              </a:ext>
            </a:extLst>
          </p:cNvPr>
          <p:cNvSpPr txBox="1"/>
          <p:nvPr/>
        </p:nvSpPr>
        <p:spPr>
          <a:xfrm>
            <a:off x="2661920" y="5532120"/>
            <a:ext cx="150368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Spring Security</a:t>
            </a:r>
          </a:p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97BC66-2003-2089-A0D2-944869990D77}"/>
              </a:ext>
            </a:extLst>
          </p:cNvPr>
          <p:cNvSpPr txBox="1"/>
          <p:nvPr/>
        </p:nvSpPr>
        <p:spPr>
          <a:xfrm>
            <a:off x="4775200" y="5532120"/>
            <a:ext cx="20828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health checks, job alerts</a:t>
            </a:r>
          </a:p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99D401-626F-6E56-F038-13B0DD0A7112}"/>
              </a:ext>
            </a:extLst>
          </p:cNvPr>
          <p:cNvSpPr txBox="1"/>
          <p:nvPr/>
        </p:nvSpPr>
        <p:spPr>
          <a:xfrm>
            <a:off x="6990080" y="5450840"/>
            <a:ext cx="20929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real PostgreSQL in CI</a:t>
            </a:r>
          </a:p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opic-marker"/>
          <p:cNvGrpSpPr/>
          <p:nvPr/>
        </p:nvGrpSpPr>
        <p:grpSpPr>
          <a:xfrm>
            <a:off x="609600" y="523875"/>
            <a:ext cx="1590700" cy="327850"/>
            <a:chOff x="609600" y="523875"/>
            <a:chExt cx="1590700" cy="327850"/>
          </a:xfrm>
        </p:grpSpPr>
        <p:sp>
          <p:nvSpPr>
            <p:cNvPr id="2" name="Ellipse 2"/>
            <p:cNvSpPr/>
            <p:nvPr/>
          </p:nvSpPr>
          <p:spPr>
            <a:xfrm>
              <a:off x="609600" y="523875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090" y="587692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IE" sz="1350" b="1">
                  <a:solidFill>
                    <a:srgbClr val="F8F6F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2792" y="587692"/>
              <a:ext cx="1197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Feedback 3 of 4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79158"/>
              <a:ext cx="36286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Data visualisation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" name="goal"/>
          <p:cNvGrpSpPr/>
          <p:nvPr/>
        </p:nvGrpSpPr>
        <p:grpSpPr>
          <a:xfrm>
            <a:off x="597408" y="1684020"/>
            <a:ext cx="7494039" cy="369332"/>
            <a:chOff x="597408" y="1684020"/>
            <a:chExt cx="7494039" cy="369332"/>
          </a:xfrm>
        </p:grpSpPr>
        <p:sp>
          <p:nvSpPr>
            <p:cNvPr id="10" name="TextBox 10"/>
            <p:cNvSpPr txBox="1"/>
            <p:nvPr/>
          </p:nvSpPr>
          <p:spPr>
            <a:xfrm>
              <a:off x="597408" y="1684020"/>
              <a:ext cx="74940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IE" sz="240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Goal: show the most information with the least display.</a:t>
              </a:r>
            </a:p>
          </p:txBody>
        </p:sp>
      </p:grpSp>
      <p:grpSp>
        <p:nvGrpSpPr>
          <p:cNvPr id="28" name="planned-views"/>
          <p:cNvGrpSpPr/>
          <p:nvPr/>
        </p:nvGrpSpPr>
        <p:grpSpPr>
          <a:xfrm>
            <a:off x="600456" y="2214562"/>
            <a:ext cx="6638544" cy="3667125"/>
            <a:chOff x="600456" y="2214562"/>
            <a:chExt cx="6638544" cy="3667125"/>
          </a:xfrm>
        </p:grpSpPr>
        <p:grpSp>
          <p:nvGrpSpPr>
            <p:cNvPr id="17" name="Group 17"/>
            <p:cNvGrpSpPr/>
            <p:nvPr/>
          </p:nvGrpSpPr>
          <p:grpSpPr>
            <a:xfrm>
              <a:off x="609600" y="2214562"/>
              <a:ext cx="6629400" cy="3667125"/>
              <a:chOff x="609600" y="2214562"/>
              <a:chExt cx="6629400" cy="3667125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609600" y="2214562"/>
                <a:ext cx="662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29400" h="9525">
                    <a:moveTo>
                      <a:pt x="0" y="0"/>
                    </a:moveTo>
                    <a:lnTo>
                      <a:pt x="6629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609600" y="3128962"/>
                <a:ext cx="662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29400" h="9525">
                    <a:moveTo>
                      <a:pt x="0" y="0"/>
                    </a:moveTo>
                    <a:lnTo>
                      <a:pt x="6629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09600" y="4043362"/>
                <a:ext cx="662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29400" h="9525">
                    <a:moveTo>
                      <a:pt x="0" y="0"/>
                    </a:moveTo>
                    <a:lnTo>
                      <a:pt x="6629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609600" y="4957762"/>
                <a:ext cx="662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29400" h="9525">
                    <a:moveTo>
                      <a:pt x="0" y="0"/>
                    </a:moveTo>
                    <a:lnTo>
                      <a:pt x="6629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609600" y="5872162"/>
                <a:ext cx="6629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29400" h="9525">
                    <a:moveTo>
                      <a:pt x="0" y="0"/>
                    </a:moveTo>
                    <a:lnTo>
                      <a:pt x="6629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600456" y="2396490"/>
              <a:ext cx="3711736" cy="3095244"/>
              <a:chOff x="600456" y="2396490"/>
              <a:chExt cx="3711736" cy="3095244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00456" y="2396490"/>
                <a:ext cx="37117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Compliance per regulation over time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00456" y="3310890"/>
                <a:ext cx="27287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 mind map of each report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0456" y="4225290"/>
                <a:ext cx="33828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Maximum agreed price per home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0456" y="5139690"/>
                <a:ext cx="22406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Activities and services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00456" y="2701290"/>
              <a:ext cx="4774136" cy="3095244"/>
              <a:chOff x="600456" y="2701290"/>
              <a:chExt cx="4774136" cy="3095244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00456" y="2701290"/>
                <a:ext cx="41498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Bar charts, with the legend shown at right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00456" y="3615690"/>
                <a:ext cx="47741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Regulations, judgments, the provider's promises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00456" y="4530090"/>
                <a:ext cx="13849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From the HSE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00456" y="5444490"/>
                <a:ext cx="23840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In the inspector's words</a:t>
                </a:r>
              </a:p>
            </p:txBody>
          </p:sp>
        </p:grpSp>
      </p:grpSp>
      <p:grpSp>
        <p:nvGrpSpPr>
          <p:cNvPr id="45" name="judgment-legend"/>
          <p:cNvGrpSpPr/>
          <p:nvPr/>
        </p:nvGrpSpPr>
        <p:grpSpPr>
          <a:xfrm>
            <a:off x="7696200" y="2209800"/>
            <a:ext cx="3886200" cy="2743200"/>
            <a:chOff x="7696200" y="2209800"/>
            <a:chExt cx="3886200" cy="2743200"/>
          </a:xfrm>
        </p:grpSpPr>
        <p:sp>
          <p:nvSpPr>
            <p:cNvPr id="29" name="Rectangle 29"/>
            <p:cNvSpPr/>
            <p:nvPr/>
          </p:nvSpPr>
          <p:spPr>
            <a:xfrm>
              <a:off x="7696200" y="2209800"/>
              <a:ext cx="3886200" cy="2743200"/>
            </a:xfrm>
            <a:prstGeom prst="roundRect">
              <a:avLst>
                <a:gd name="adj" fmla="val 13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56042" y="2387918"/>
              <a:ext cx="1719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Legend, per regulation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972425" y="275272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972425" y="3228975"/>
              <a:ext cx="228600" cy="2286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972425" y="3228975"/>
              <a:ext cx="228600" cy="228600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981950" y="3714750"/>
              <a:ext cx="209550" cy="209550"/>
            </a:xfrm>
            <a:prstGeom prst="rect">
              <a:avLst/>
            </a:prstGeom>
            <a:noFill/>
            <a:ln w="19050">
              <a:solidFill>
                <a:srgbClr val="A23B2A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029575" y="3762375"/>
              <a:ext cx="114300" cy="114300"/>
              <a:chOff x="8029575" y="3762375"/>
              <a:chExt cx="114300" cy="114300"/>
            </a:xfrm>
          </p:grpSpPr>
          <p:sp>
            <p:nvSpPr>
              <p:cNvPr id="35" name="Line 35"/>
              <p:cNvSpPr/>
              <p:nvPr/>
            </p:nvSpPr>
            <p:spPr>
              <a:xfrm>
                <a:off x="8029575" y="376237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114300"/>
                    </a:lnTo>
                  </a:path>
                </a:pathLst>
              </a:custGeom>
              <a:noFill/>
              <a:ln w="19050">
                <a:solidFill>
                  <a:srgbClr val="A23B2A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8029575" y="376237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A23B2A"/>
                </a:solidFill>
              </a:ln>
            </p:spPr>
          </p:sp>
        </p:grpSp>
        <p:sp>
          <p:nvSpPr>
            <p:cNvPr id="38" name="Ellipse 38"/>
            <p:cNvSpPr/>
            <p:nvPr/>
          </p:nvSpPr>
          <p:spPr>
            <a:xfrm>
              <a:off x="7981950" y="4191000"/>
              <a:ext cx="209550" cy="209550"/>
            </a:xfrm>
            <a:prstGeom prst="ellipse">
              <a:avLst/>
            </a:prstGeom>
            <a:noFill/>
            <a:ln w="19050">
              <a:solidFill>
                <a:srgbClr val="8C948F"/>
              </a:solidFill>
              <a:custDash>
                <a:ds d="150000" sp="150000"/>
              </a:custDash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8334756" y="2758440"/>
              <a:ext cx="2324950" cy="1780794"/>
              <a:chOff x="8334756" y="2758440"/>
              <a:chExt cx="2324950" cy="1780794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8334756" y="2758440"/>
                <a:ext cx="10382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Compliant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334756" y="3234690"/>
                <a:ext cx="232495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Substantially compliant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34756" y="3710940"/>
                <a:ext cx="14319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Not compliant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34756" y="4187190"/>
                <a:ext cx="13339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Not assessed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8337042" y="4540568"/>
              <a:ext cx="29918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looked at is not the same as passed.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0140664" y="6480810"/>
            <a:ext cx="144783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</a:t>
            </a:r>
            <a:r>
              <a:rPr lang="en-IE" sz="1200">
                <a:solidFill>
                  <a:schemeClr val="accent5"/>
                </a:solidFill>
              </a:rPr>
              <a:t>3</a:t>
            </a:r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· 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opic-marker"/>
          <p:cNvGrpSpPr/>
          <p:nvPr/>
        </p:nvGrpSpPr>
        <p:grpSpPr>
          <a:xfrm>
            <a:off x="609600" y="523875"/>
            <a:ext cx="1590700" cy="327850"/>
            <a:chOff x="609600" y="523875"/>
            <a:chExt cx="1590700" cy="327850"/>
          </a:xfrm>
        </p:grpSpPr>
        <p:sp>
          <p:nvSpPr>
            <p:cNvPr id="2" name="Ellipse 2"/>
            <p:cNvSpPr/>
            <p:nvPr/>
          </p:nvSpPr>
          <p:spPr>
            <a:xfrm>
              <a:off x="609600" y="523875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090" y="587692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IE" sz="1350" b="1">
                  <a:solidFill>
                    <a:srgbClr val="F8F6F0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2792" y="587692"/>
              <a:ext cx="1197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Feedback 4 of 4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79158"/>
              <a:ext cx="329686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 vs ClearCare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aphicFrame>
        <p:nvGraphicFramePr>
          <p:cNvPr id="10" name="ai-vs-clearc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447612"/>
              </p:ext>
            </p:extLst>
          </p:nvPr>
        </p:nvGraphicFramePr>
        <p:xfrm>
          <a:off x="609600" y="1676400"/>
          <a:ext cx="10972800" cy="4267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8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en-IE" sz="1500" b="1">
                          <a:solidFill>
                            <a:schemeClr val="dk1"/>
                          </a:solidFill>
                          <a:latin typeface="Calibri"/>
                          <a:ea typeface="Microsoft YaHei"/>
                          <a:cs typeface="Calibri"/>
                        </a:rPr>
                        <a:t>General AI chatbot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1500" b="1">
                          <a:solidFill>
                            <a:srgbClr val="F8F6F0"/>
                          </a:solidFill>
                          <a:latin typeface="Calibri"/>
                          <a:ea typeface="Microsoft YaHei"/>
                          <a:cs typeface="Calibri"/>
                        </a:rPr>
                        <a:t>ClearCare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accent5"/>
                          </a:solidFill>
                          <a:latin typeface="Calibri"/>
                          <a:ea typeface="Microsoft YaHei"/>
                          <a:cs typeface="Calibri"/>
                        </a:rPr>
                        <a:t>You find and upload each report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dk1"/>
                          </a:solidFill>
                          <a:latin typeface="Calibri"/>
                          <a:ea typeface="Microsoft YaHei"/>
                          <a:cs typeface="Calibri"/>
                        </a:rPr>
                        <a:t>Every HIQA report collected automatically and kept current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accent5"/>
                          </a:solidFill>
                          <a:latin typeface="Calibri"/>
                          <a:ea typeface="Microsoft YaHei"/>
                          <a:cs typeface="Calibri"/>
                        </a:rPr>
                        <a:t>Answers can vary between runs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dk1"/>
                          </a:solidFill>
                          <a:latin typeface="Calibri"/>
                          <a:ea typeface="Microsoft YaHei"/>
                          <a:cs typeface="Calibri"/>
                        </a:rPr>
                        <a:t>Judgments extracted once, stored, the same for every user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accent5"/>
                          </a:solidFill>
                          <a:latin typeface="Calibri"/>
                          <a:ea typeface="Microsoft YaHei"/>
                          <a:cs typeface="Calibri"/>
                        </a:rPr>
                        <a:t>Paraphrases loosely, may hallucinate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dk1"/>
                          </a:solidFill>
                          <a:latin typeface="Calibri"/>
                          <a:ea typeface="Microsoft YaHei"/>
                          <a:cs typeface="Calibri"/>
                        </a:rPr>
                        <a:t>Every line linked to the inspector's words and the PDF page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accent5"/>
                          </a:solidFill>
                          <a:latin typeface="Calibri"/>
                          <a:ea typeface="Microsoft YaHei"/>
                          <a:cs typeface="Calibri"/>
                        </a:rPr>
                        <a:t>Compares anything and may sound confident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dk1"/>
                          </a:solidFill>
                          <a:latin typeface="Calibri"/>
                          <a:ea typeface="Microsoft YaHei"/>
                          <a:cs typeface="Calibri"/>
                        </a:rPr>
                        <a:t>Says “not comparable” when inspections covered different regulations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accent5"/>
                          </a:solidFill>
                          <a:latin typeface="Calibri"/>
                          <a:ea typeface="Microsoft YaHei"/>
                          <a:cs typeface="Calibri"/>
                        </a:rPr>
                        <a:t>Conversation only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dk1"/>
                          </a:solidFill>
                          <a:latin typeface="Calibri"/>
                          <a:ea typeface="Microsoft YaHei"/>
                          <a:cs typeface="Calibri"/>
                        </a:rPr>
                        <a:t>One page per home: findings, promises, what the next inspection said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accent5"/>
                          </a:solidFill>
                          <a:latin typeface="Calibri"/>
                          <a:ea typeface="Microsoft YaHei"/>
                          <a:cs typeface="Calibri"/>
                        </a:rPr>
                        <a:t>No memory across reports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E" sz="1500" b="0">
                          <a:solidFill>
                            <a:schemeClr val="dk1"/>
                          </a:solidFill>
                          <a:latin typeface="Calibri"/>
                          <a:ea typeface="Microsoft YaHei"/>
                          <a:cs typeface="Calibri"/>
                        </a:rPr>
                        <a:t>Compliance history over time</a:t>
                      </a:r>
                    </a:p>
                  </a:txBody>
                  <a:tcPr marL="152400" marR="152400" marT="38100" marB="381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10140664" y="6480810"/>
            <a:ext cx="144783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</a:t>
            </a:r>
            <a:r>
              <a:rPr lang="en-IE" sz="1200">
                <a:solidFill>
                  <a:schemeClr val="accent5"/>
                </a:solidFill>
              </a:rPr>
              <a:t>3</a:t>
            </a:r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· 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ection-statement"/>
          <p:cNvGrpSpPr/>
          <p:nvPr/>
        </p:nvGrpSpPr>
        <p:grpSpPr>
          <a:xfrm>
            <a:off x="1200150" y="2178368"/>
            <a:ext cx="5072421" cy="2267902"/>
            <a:chOff x="1200150" y="2178368"/>
            <a:chExt cx="5072421" cy="2267902"/>
          </a:xfrm>
        </p:grpSpPr>
        <p:sp>
          <p:nvSpPr>
            <p:cNvPr id="2" name="TextBox 2"/>
            <p:cNvSpPr txBox="1"/>
            <p:nvPr/>
          </p:nvSpPr>
          <p:spPr>
            <a:xfrm>
              <a:off x="1212342" y="2178368"/>
              <a:ext cx="10785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Week </a:t>
              </a:r>
              <a:r>
                <a:rPr lang="en-IE" sz="1350" b="1">
                  <a:solidFill>
                    <a:schemeClr val="accent6"/>
                  </a:solidFill>
                </a:rPr>
                <a:t>3</a:t>
              </a:r>
              <a:r>
                <a:rPr lang="en-IE" sz="1350" b="1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update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200150" y="2560320"/>
              <a:ext cx="5072421" cy="1885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600"/>
                </a:lnSpc>
              </a:pPr>
              <a:r>
                <a:rPr lang="en-IE" sz="5400">
                  <a:solidFill>
                    <a:srgbClr val="F8F6F0"/>
                  </a:solidFill>
                  <a:latin typeface="+mj-lt"/>
                  <a:ea typeface="+mj-ea"/>
                  <a:cs typeface="+mj-cs"/>
                </a:rPr>
                <a:t>We will listen to</a:t>
              </a:r>
              <a:br/>
              <a:r>
                <a:rPr lang="en-IE" sz="5400">
                  <a:solidFill>
                    <a:srgbClr val="F8F6F0"/>
                  </a:solidFill>
                  <a:latin typeface="+mj-lt"/>
                  <a:ea typeface="+mj-ea"/>
                  <a:cs typeface="+mj-cs"/>
                </a:rPr>
                <a:t>the advice given.</a:t>
              </a:r>
            </a:p>
          </p:txBody>
        </p:sp>
      </p:grpSp>
      <p:grpSp>
        <p:nvGrpSpPr>
          <p:cNvPr id="7" name="next-part"/>
          <p:cNvGrpSpPr/>
          <p:nvPr/>
        </p:nvGrpSpPr>
        <p:grpSpPr>
          <a:xfrm>
            <a:off x="1208532" y="4362450"/>
            <a:ext cx="8529745" cy="698373"/>
            <a:chOff x="1208532" y="4362450"/>
            <a:chExt cx="8529745" cy="698373"/>
          </a:xfrm>
        </p:grpSpPr>
        <p:sp>
          <p:nvSpPr>
            <p:cNvPr id="5" name="Rectangle 5"/>
            <p:cNvSpPr/>
            <p:nvPr/>
          </p:nvSpPr>
          <p:spPr>
            <a:xfrm>
              <a:off x="1219200" y="4362450"/>
              <a:ext cx="9144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08532" y="4650105"/>
              <a:ext cx="8529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>
                  <a:solidFill>
                    <a:srgbClr val="E9EEE8"/>
                  </a:solidFill>
                  <a:latin typeface="+mn-lt"/>
                  <a:ea typeface="+mn-ea"/>
                  <a:cs typeface="+mn-cs"/>
                </a:rPr>
                <a:t>Next: the retrospective — what went well, what did not, what comes next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2742" y="587692"/>
            <a:ext cx="1026365" cy="264033"/>
            <a:chOff x="602742" y="587692"/>
            <a:chExt cx="1026365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87692"/>
              <a:ext cx="102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Sprint review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93598" y="879158"/>
              <a:ext cx="31116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Retrospective I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2" name="went-well"/>
          <p:cNvGrpSpPr/>
          <p:nvPr/>
        </p:nvGrpSpPr>
        <p:grpSpPr>
          <a:xfrm>
            <a:off x="609600" y="1706880"/>
            <a:ext cx="6248400" cy="3556254"/>
            <a:chOff x="609600" y="1706880"/>
            <a:chExt cx="6248400" cy="3556254"/>
          </a:xfrm>
        </p:grpSpPr>
        <p:grpSp>
          <p:nvGrpSpPr>
            <p:cNvPr id="10" name="Group 10"/>
            <p:cNvGrpSpPr/>
            <p:nvPr/>
          </p:nvGrpSpPr>
          <p:grpSpPr>
            <a:xfrm>
              <a:off x="642938" y="1747838"/>
              <a:ext cx="200026" cy="200026"/>
              <a:chOff x="642938" y="1747838"/>
              <a:chExt cx="200026" cy="20002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42938" y="17478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2F6B4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09613" y="18256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2F6B4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79932" y="1706880"/>
              <a:ext cx="18979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rgbClr val="2F6B45"/>
                  </a:solidFill>
                  <a:latin typeface="+mn-lt"/>
                  <a:ea typeface="+mn-ea"/>
                  <a:cs typeface="+mn-cs"/>
                </a:rPr>
                <a:t>What went well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28650" y="2324100"/>
              <a:ext cx="76200" cy="2743200"/>
              <a:chOff x="628650" y="2324100"/>
              <a:chExt cx="76200" cy="27432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28650" y="2324100"/>
                <a:ext cx="76200" cy="76200"/>
              </a:xfrm>
              <a:prstGeom prst="rect">
                <a:avLst/>
              </a:prstGeom>
              <a:solidFill>
                <a:srgbClr val="2F6B45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628650" y="2857500"/>
                <a:ext cx="76200" cy="76200"/>
              </a:xfrm>
              <a:prstGeom prst="rect">
                <a:avLst/>
              </a:prstGeom>
              <a:solidFill>
                <a:srgbClr val="2F6B45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28650" y="3390900"/>
                <a:ext cx="76200" cy="76200"/>
              </a:xfrm>
              <a:prstGeom prst="rect">
                <a:avLst/>
              </a:prstGeom>
              <a:solidFill>
                <a:srgbClr val="2F6B45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28650" y="3924300"/>
                <a:ext cx="76200" cy="76200"/>
              </a:xfrm>
              <a:prstGeom prst="rect">
                <a:avLst/>
              </a:prstGeom>
              <a:solidFill>
                <a:srgbClr val="2F6B45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28650" y="4457700"/>
                <a:ext cx="76200" cy="76200"/>
              </a:xfrm>
              <a:prstGeom prst="rect">
                <a:avLst/>
              </a:prstGeom>
              <a:solidFill>
                <a:srgbClr val="2F6B45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628650" y="4991100"/>
                <a:ext cx="76200" cy="76200"/>
              </a:xfrm>
              <a:prstGeom prst="rect">
                <a:avLst/>
              </a:prstGeom>
              <a:solidFill>
                <a:srgbClr val="2F6B45"/>
              </a:solidFill>
              <a:ln>
                <a:noFill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609600" y="2671762"/>
              <a:ext cx="6248400" cy="2143125"/>
              <a:chOff x="609600" y="2671762"/>
              <a:chExt cx="6248400" cy="2143125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609600" y="2671762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609600" y="3205162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609600" y="3738562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609600" y="4271962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609600" y="4805362"/>
                <a:ext cx="6248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48400" h="9525">
                    <a:moveTo>
                      <a:pt x="0" y="0"/>
                    </a:moveTo>
                    <a:lnTo>
                      <a:pt x="6248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867156" y="2244090"/>
              <a:ext cx="5101381" cy="3019044"/>
              <a:chOff x="867156" y="2244090"/>
              <a:chExt cx="5101381" cy="3019044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67156" y="2244090"/>
                <a:ext cx="51013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Conducted two interviews; emailed Sage Advocacy.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67156" y="2777490"/>
                <a:ext cx="46596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Defined the coding standards and conventions.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7156" y="3310890"/>
                <a:ext cx="301679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Deployed the first Next.js app.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67156" y="3844290"/>
                <a:ext cx="308027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Re-evaluated the technologies.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7156" y="4377690"/>
                <a:ext cx="28335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Audited a few HIQA reports.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7156" y="4911090"/>
                <a:ext cx="38531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Had the first meeting with our mentor.</a:t>
                </a:r>
              </a:p>
            </p:txBody>
          </p:sp>
        </p:grpSp>
      </p:grpSp>
      <p:grpSp>
        <p:nvGrpSpPr>
          <p:cNvPr id="47" name="went-poorly"/>
          <p:cNvGrpSpPr/>
          <p:nvPr/>
        </p:nvGrpSpPr>
        <p:grpSpPr>
          <a:xfrm>
            <a:off x="7391400" y="1676400"/>
            <a:ext cx="4191000" cy="3657600"/>
            <a:chOff x="7391400" y="1676400"/>
            <a:chExt cx="4191000" cy="3657600"/>
          </a:xfrm>
        </p:grpSpPr>
        <p:sp>
          <p:nvSpPr>
            <p:cNvPr id="33" name="Rectangle 33"/>
            <p:cNvSpPr/>
            <p:nvPr/>
          </p:nvSpPr>
          <p:spPr>
            <a:xfrm>
              <a:off x="7391400" y="1676400"/>
              <a:ext cx="4191000" cy="3657600"/>
            </a:xfrm>
            <a:prstGeom prst="roundRect">
              <a:avLst>
                <a:gd name="adj" fmla="val 104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641279" y="1915596"/>
              <a:ext cx="224134" cy="192560"/>
              <a:chOff x="7641279" y="1915596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753350" y="19859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A23B2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641279" y="19155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A23B2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53350" y="20637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A23B2A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990332" y="1878330"/>
              <a:ext cx="2165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rgbClr val="A23B2A"/>
                  </a:solidFill>
                  <a:latin typeface="+mn-lt"/>
                  <a:ea typeface="+mn-ea"/>
                  <a:cs typeface="+mn-cs"/>
                </a:rPr>
                <a:t>What went poorly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7639050" y="2514600"/>
              <a:ext cx="76200" cy="1428750"/>
              <a:chOff x="7639050" y="2514600"/>
              <a:chExt cx="76200" cy="14287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7639050" y="2514600"/>
                <a:ext cx="76200" cy="76200"/>
              </a:xfrm>
              <a:prstGeom prst="rect">
                <a:avLst/>
              </a:prstGeom>
              <a:solidFill>
                <a:srgbClr val="A23B2A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639050" y="3333750"/>
                <a:ext cx="76200" cy="76200"/>
              </a:xfrm>
              <a:prstGeom prst="rect">
                <a:avLst/>
              </a:prstGeom>
              <a:solidFill>
                <a:srgbClr val="A23B2A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7639050" y="3867150"/>
                <a:ext cx="76200" cy="76200"/>
              </a:xfrm>
              <a:prstGeom prst="rect">
                <a:avLst/>
              </a:prstGeom>
              <a:solidFill>
                <a:srgbClr val="A23B2A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7820406" y="2434590"/>
              <a:ext cx="2863741" cy="1990344"/>
              <a:chOff x="7820406" y="2434590"/>
              <a:chExt cx="2863741" cy="1990344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7820406" y="2434590"/>
                <a:ext cx="2127969" cy="6377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Sage Advocacy has not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replied yet.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820406" y="3253740"/>
                <a:ext cx="2863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Less coding than we wanted.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820406" y="3787140"/>
                <a:ext cx="2523355" cy="6377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The Spring Boot backend is</a:t>
                </a:r>
                <a:br/>
                <a:r>
                  <a:rPr lang="en-IE" sz="18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not started yet.</a:t>
                </a:r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10140664" y="6480810"/>
            <a:ext cx="144783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</a:t>
            </a:r>
            <a:r>
              <a:rPr lang="en-IE" sz="1200">
                <a:solidFill>
                  <a:schemeClr val="accent5"/>
                </a:solidFill>
              </a:rPr>
              <a:t>3</a:t>
            </a:r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· 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2742" y="587692"/>
            <a:ext cx="1026365" cy="264033"/>
            <a:chOff x="602742" y="587692"/>
            <a:chExt cx="1026365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87692"/>
              <a:ext cx="102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1350" b="1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Sprint review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93598" y="879158"/>
              <a:ext cx="33302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Retrospective II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4" name="new-ideas"/>
          <p:cNvGrpSpPr/>
          <p:nvPr/>
        </p:nvGrpSpPr>
        <p:grpSpPr>
          <a:xfrm>
            <a:off x="598932" y="1706880"/>
            <a:ext cx="2811037" cy="2546604"/>
            <a:chOff x="598932" y="1706880"/>
            <a:chExt cx="2811037" cy="2546604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1706880"/>
              <a:ext cx="12488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New ideas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09600" y="2343150"/>
              <a:ext cx="304800" cy="1828800"/>
              <a:chOff x="609600" y="2343150"/>
              <a:chExt cx="304800" cy="18288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609600" y="23431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609600" y="31051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609600" y="386715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709090" y="2406968"/>
              <a:ext cx="105820" cy="1788033"/>
              <a:chOff x="709090" y="2406968"/>
              <a:chExt cx="105820" cy="1788033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09090" y="2406968"/>
                <a:ext cx="1058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35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09090" y="3168968"/>
                <a:ext cx="1058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35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09090" y="3930968"/>
                <a:ext cx="1058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35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19556" y="2377440"/>
              <a:ext cx="2390413" cy="1876044"/>
              <a:chOff x="1019556" y="2377440"/>
              <a:chExt cx="2390413" cy="187604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019556" y="2377440"/>
                <a:ext cx="23904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Show where homes are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19556" y="3139440"/>
                <a:ext cx="21961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Add the financial side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9556" y="3901440"/>
                <a:ext cx="188134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800" b="1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Mobile-friendly UI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021842" y="2673668"/>
              <a:ext cx="1834753" cy="1026033"/>
              <a:chOff x="1021842" y="2673668"/>
              <a:chExt cx="1834753" cy="102603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1021842" y="2673668"/>
                <a:ext cx="7331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On a map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21842" y="3435668"/>
                <a:ext cx="18347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135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Maximum contract price</a:t>
                </a:r>
              </a:p>
            </p:txBody>
          </p:sp>
        </p:grpSp>
      </p:grpSp>
      <p:grpSp>
        <p:nvGrpSpPr>
          <p:cNvPr id="26" name="columns-rule"/>
          <p:cNvGrpSpPr/>
          <p:nvPr/>
        </p:nvGrpSpPr>
        <p:grpSpPr>
          <a:xfrm>
            <a:off x="4267200" y="1695450"/>
            <a:ext cx="9525" cy="2819400"/>
            <a:chOff x="4267200" y="1695450"/>
            <a:chExt cx="9525" cy="2819400"/>
          </a:xfrm>
        </p:grpSpPr>
        <p:sp>
          <p:nvSpPr>
            <p:cNvPr id="25" name="Line 25"/>
            <p:cNvSpPr/>
            <p:nvPr/>
          </p:nvSpPr>
          <p:spPr>
            <a:xfrm>
              <a:off x="4267200" y="1695450"/>
              <a:ext cx="9525" cy="2819400"/>
            </a:xfrm>
            <a:custGeom>
              <a:avLst/>
              <a:gdLst/>
              <a:ahLst/>
              <a:cxnLst/>
              <a:rect l="l" t="t" r="r" b="b"/>
              <a:pathLst>
                <a:path w="9525"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3" name="next-actions"/>
          <p:cNvGrpSpPr/>
          <p:nvPr/>
        </p:nvGrpSpPr>
        <p:grpSpPr>
          <a:xfrm>
            <a:off x="4561332" y="1706880"/>
            <a:ext cx="7021068" cy="2668143"/>
            <a:chOff x="4561332" y="1706880"/>
            <a:chExt cx="7021068" cy="2668143"/>
          </a:xfrm>
        </p:grpSpPr>
        <p:sp>
          <p:nvSpPr>
            <p:cNvPr id="27" name="TextBox 27"/>
            <p:cNvSpPr txBox="1"/>
            <p:nvPr/>
          </p:nvSpPr>
          <p:spPr>
            <a:xfrm>
              <a:off x="4561332" y="1706880"/>
              <a:ext cx="25894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21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Actions for next week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4572000" y="2381250"/>
              <a:ext cx="381000" cy="1905000"/>
              <a:chOff x="4572000" y="2381250"/>
              <a:chExt cx="381000" cy="19050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4572000" y="2381250"/>
                <a:ext cx="381000" cy="381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572000" y="3143250"/>
                <a:ext cx="381000" cy="381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4572000" y="3905250"/>
                <a:ext cx="381000" cy="381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4691953" y="2453640"/>
              <a:ext cx="141094" cy="1876044"/>
              <a:chOff x="4691953" y="2453640"/>
              <a:chExt cx="141094" cy="1876044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4691953" y="2453640"/>
                <a:ext cx="1410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80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691953" y="3215640"/>
                <a:ext cx="1410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80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91953" y="3977640"/>
                <a:ext cx="1410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IE" sz="1800" b="1">
                    <a:solidFill>
                      <a:srgbClr val="F8F6F0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572000" y="2957512"/>
              <a:ext cx="7010400" cy="771525"/>
              <a:chOff x="4572000" y="2957512"/>
              <a:chExt cx="7010400" cy="771525"/>
            </a:xfrm>
          </p:grpSpPr>
          <p:sp>
            <p:nvSpPr>
              <p:cNvPr id="36" name="Line 36"/>
              <p:cNvSpPr/>
              <p:nvPr/>
            </p:nvSpPr>
            <p:spPr>
              <a:xfrm>
                <a:off x="4572000" y="2957512"/>
                <a:ext cx="701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10400" h="9525">
                    <a:moveTo>
                      <a:pt x="0" y="0"/>
                    </a:moveTo>
                    <a:lnTo>
                      <a:pt x="701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4572000" y="3719512"/>
                <a:ext cx="701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10400" h="9525">
                    <a:moveTo>
                      <a:pt x="0" y="0"/>
                    </a:moveTo>
                    <a:lnTo>
                      <a:pt x="7010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5132832" y="2440305"/>
              <a:ext cx="3641996" cy="1934718"/>
              <a:chOff x="5132832" y="2440305"/>
              <a:chExt cx="3641996" cy="1934718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5132832" y="2440305"/>
                <a:ext cx="36419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2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Further outreach for interviews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132832" y="3202305"/>
                <a:ext cx="302925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2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Start Spring Boot backend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132832" y="3964305"/>
                <a:ext cx="157973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IE" sz="2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More coding!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0140664" y="6480810"/>
            <a:ext cx="144783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</a:t>
            </a:r>
            <a:r>
              <a:rPr lang="en-IE" sz="1200">
                <a:solidFill>
                  <a:schemeClr val="accent5"/>
                </a:solidFill>
              </a:rPr>
              <a:t>3</a:t>
            </a:r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· 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age-title"/>
          <p:cNvGrpSpPr/>
          <p:nvPr/>
        </p:nvGrpSpPr>
        <p:grpSpPr>
          <a:xfrm>
            <a:off x="593598" y="879158"/>
            <a:ext cx="11000994" cy="616077"/>
            <a:chOff x="593598" y="879158"/>
            <a:chExt cx="1100099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879158"/>
              <a:ext cx="378750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Vercel deployment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646739" y="960120"/>
              <a:ext cx="39478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E" sz="2400">
                  <a:solidFill>
                    <a:schemeClr val="accent2"/>
                  </a:solidFill>
                  <a:latin typeface="+mj-lt"/>
                  <a:ea typeface="+mj-ea"/>
                  <a:cs typeface="+mj-cs"/>
                  <a:hlinkClick r:id="rId3"/>
                </a:rPr>
                <a:t>clear-care-nine.vercel.app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9" name="desktop-shot"/>
          <p:cNvGrpSpPr/>
          <p:nvPr/>
        </p:nvGrpSpPr>
        <p:grpSpPr>
          <a:xfrm>
            <a:off x="609600" y="1676400"/>
            <a:ext cx="7924800" cy="4686300"/>
            <a:chOff x="609600" y="1676400"/>
            <a:chExt cx="7924800" cy="46863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1676400"/>
              <a:ext cx="7924800" cy="46863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09600" y="1676400"/>
              <a:ext cx="7924800" cy="46863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phone-shot"/>
          <p:cNvGrpSpPr/>
          <p:nvPr/>
        </p:nvGrpSpPr>
        <p:grpSpPr>
          <a:xfrm>
            <a:off x="9239250" y="1676400"/>
            <a:ext cx="2343150" cy="4695825"/>
            <a:chOff x="9239250" y="1676400"/>
            <a:chExt cx="2343150" cy="4695825"/>
          </a:xfrm>
        </p:grpSpPr>
        <p:sp>
          <p:nvSpPr>
            <p:cNvPr id="10" name="Rectangle 10"/>
            <p:cNvSpPr/>
            <p:nvPr/>
          </p:nvSpPr>
          <p:spPr>
            <a:xfrm>
              <a:off x="9239250" y="1676400"/>
              <a:ext cx="2343150" cy="46958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39250" y="1676400"/>
              <a:ext cx="2343150" cy="4695825"/>
            </a:xfrm>
            <a:prstGeom prst="rect">
              <a:avLst/>
            </a:prstGeom>
          </p:spPr>
        </p:pic>
      </p:grpSp>
      <p:sp>
        <p:nvSpPr>
          <p:cNvPr id="13" name="TextBox 13"/>
          <p:cNvSpPr txBox="1"/>
          <p:nvPr/>
        </p:nvSpPr>
        <p:spPr>
          <a:xfrm>
            <a:off x="10140664" y="6480810"/>
            <a:ext cx="144783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</a:t>
            </a:r>
            <a:r>
              <a:rPr lang="en-IE" sz="1200">
                <a:solidFill>
                  <a:schemeClr val="accent5"/>
                </a:solidFill>
              </a:rPr>
              <a:t>3</a:t>
            </a:r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· 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age-title"/>
          <p:cNvGrpSpPr/>
          <p:nvPr/>
        </p:nvGrpSpPr>
        <p:grpSpPr>
          <a:xfrm>
            <a:off x="593598" y="879158"/>
            <a:ext cx="10988802" cy="616077"/>
            <a:chOff x="593598" y="879158"/>
            <a:chExt cx="10988802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93598" y="879158"/>
              <a:ext cx="54808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E" sz="315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Requirements specification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433512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19225"/>
              <a:ext cx="6096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0140664" y="6480810"/>
            <a:ext cx="144783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ClearCare · Week </a:t>
            </a:r>
            <a:r>
              <a:rPr lang="en-IE" sz="1200">
                <a:solidFill>
                  <a:schemeClr val="accent5"/>
                </a:solidFill>
              </a:rPr>
              <a:t>3</a:t>
            </a:r>
            <a:r>
              <a:rPr lang="en-IE" sz="12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· 12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029963-B212-F0B7-6030-56BDCE9C8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60" y="1524001"/>
            <a:ext cx="8089946" cy="4729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learcare_week2">
  <a:themeElements>
    <a:clrScheme name="clearcare_week2">
      <a:dk1>
        <a:srgbClr val="202B27"/>
      </a:dk1>
      <a:lt1>
        <a:srgbClr val="F8F6F0"/>
      </a:lt1>
      <a:dk2>
        <a:srgbClr val="1F497D"/>
      </a:dk2>
      <a:lt2>
        <a:srgbClr val="E9EEE8"/>
      </a:lt2>
      <a:accent1>
        <a:srgbClr val="173E36"/>
      </a:accent1>
      <a:accent2>
        <a:srgbClr val="B64F32"/>
      </a:accent2>
      <a:accent3>
        <a:srgbClr val="63775F"/>
      </a:accent3>
      <a:accent4>
        <a:srgbClr val="173E36"/>
      </a:accent4>
      <a:accent5>
        <a:srgbClr val="58655F"/>
      </a:accent5>
      <a:accent6>
        <a:srgbClr val="C7CEC5"/>
      </a:accent6>
      <a:hlink>
        <a:srgbClr val="B64F32"/>
      </a:hlink>
      <a:folHlink>
        <a:srgbClr val="63775F"/>
      </a:folHlink>
    </a:clrScheme>
    <a:fontScheme name="clearcare_week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earcare_week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learcare_week2">
  <a:themeElements>
    <a:clrScheme name="clearcare_week2">
      <a:dk1>
        <a:srgbClr val="202B27"/>
      </a:dk1>
      <a:lt1>
        <a:srgbClr val="F8F6F0"/>
      </a:lt1>
      <a:dk2>
        <a:srgbClr val="1F497D"/>
      </a:dk2>
      <a:lt2>
        <a:srgbClr val="E9EEE8"/>
      </a:lt2>
      <a:accent1>
        <a:srgbClr val="173E36"/>
      </a:accent1>
      <a:accent2>
        <a:srgbClr val="B64F32"/>
      </a:accent2>
      <a:accent3>
        <a:srgbClr val="63775F"/>
      </a:accent3>
      <a:accent4>
        <a:srgbClr val="173E36"/>
      </a:accent4>
      <a:accent5>
        <a:srgbClr val="58655F"/>
      </a:accent5>
      <a:accent6>
        <a:srgbClr val="C7CEC5"/>
      </a:accent6>
      <a:hlink>
        <a:srgbClr val="B64F32"/>
      </a:hlink>
      <a:folHlink>
        <a:srgbClr val="63775F"/>
      </a:folHlink>
    </a:clrScheme>
    <a:fontScheme name="clearcare_week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earcare_week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clearcare_week2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revision>2</cp:revision>
  <dcterms:created xsi:type="dcterms:W3CDTF">2026-10-01T19:09:37Z</dcterms:created>
  <dcterms:modified xsi:type="dcterms:W3CDTF">2026-10-02T15:30:57Z</dcterms:modified>
  <cp:category/>
  <cp:contentStatus/>
  <dc:language>en-IE</dc:language>
</cp:coreProperties>
</file>