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5" r:id="rId8"/>
    <p:sldId id="262" r:id="rId9"/>
    <p:sldId id="263" r:id="rId10"/>
    <p:sldId id="266" r:id="rId11"/>
    <p:sldId id="264" r:id="rId12"/>
  </p:sldIdLst>
  <p:sldSz cx="12192000" cy="6858000"/>
  <p:notesSz cx="6858000" cy="9144000"/>
  <p:defaultTextStyle>
    <a:defPPr>
      <a:defRPr lang="en-IE"/>
    </a:defPPr>
    <a:lvl1pPr marL="0" algn="l" defTabSz="457200" rtl="0" eaLnBrk="1" latinLnBrk="0" hangingPunct="1">
      <a:defRPr lang="en-IE" sz="1800" kern="1200">
        <a:solidFill>
          <a:schemeClr val="tx1"/>
        </a:solidFill>
        <a:latin typeface="+mn-lt"/>
        <a:ea typeface="+mn-ea"/>
        <a:cs typeface="+mn-cs"/>
      </a:defRPr>
    </a:lvl1pPr>
    <a:lvl2pPr marL="457200" algn="l" defTabSz="457200" rtl="0" eaLnBrk="1" latinLnBrk="0" hangingPunct="1">
      <a:defRPr lang="en-IE" sz="1800" kern="1200">
        <a:solidFill>
          <a:schemeClr val="tx1"/>
        </a:solidFill>
        <a:latin typeface="+mn-lt"/>
        <a:ea typeface="+mn-ea"/>
        <a:cs typeface="+mn-cs"/>
      </a:defRPr>
    </a:lvl2pPr>
    <a:lvl3pPr marL="914400" algn="l" defTabSz="457200" rtl="0" eaLnBrk="1" latinLnBrk="0" hangingPunct="1">
      <a:defRPr lang="en-IE" sz="1800" kern="1200">
        <a:solidFill>
          <a:schemeClr val="tx1"/>
        </a:solidFill>
        <a:latin typeface="+mn-lt"/>
        <a:ea typeface="+mn-ea"/>
        <a:cs typeface="+mn-cs"/>
      </a:defRPr>
    </a:lvl3pPr>
    <a:lvl4pPr marL="1371600" algn="l" defTabSz="457200" rtl="0" eaLnBrk="1" latinLnBrk="0" hangingPunct="1">
      <a:defRPr lang="en-IE" sz="1800" kern="1200">
        <a:solidFill>
          <a:schemeClr val="tx1"/>
        </a:solidFill>
        <a:latin typeface="+mn-lt"/>
        <a:ea typeface="+mn-ea"/>
        <a:cs typeface="+mn-cs"/>
      </a:defRPr>
    </a:lvl4pPr>
    <a:lvl5pPr marL="1828800" algn="l" defTabSz="457200" rtl="0" eaLnBrk="1" latinLnBrk="0" hangingPunct="1">
      <a:defRPr lang="en-IE" sz="1800" kern="1200">
        <a:solidFill>
          <a:schemeClr val="tx1"/>
        </a:solidFill>
        <a:latin typeface="+mn-lt"/>
        <a:ea typeface="+mn-ea"/>
        <a:cs typeface="+mn-cs"/>
      </a:defRPr>
    </a:lvl5pPr>
    <a:lvl6pPr marL="2286000" algn="l" defTabSz="457200" rtl="0" eaLnBrk="1" latinLnBrk="0" hangingPunct="1">
      <a:defRPr lang="en-IE" sz="1800" kern="1200">
        <a:solidFill>
          <a:schemeClr val="tx1"/>
        </a:solidFill>
        <a:latin typeface="+mn-lt"/>
        <a:ea typeface="+mn-ea"/>
        <a:cs typeface="+mn-cs"/>
      </a:defRPr>
    </a:lvl6pPr>
    <a:lvl7pPr marL="2743200" algn="l" defTabSz="457200" rtl="0" eaLnBrk="1" latinLnBrk="0" hangingPunct="1">
      <a:defRPr lang="en-IE" sz="1800" kern="1200">
        <a:solidFill>
          <a:schemeClr val="tx1"/>
        </a:solidFill>
        <a:latin typeface="+mn-lt"/>
        <a:ea typeface="+mn-ea"/>
        <a:cs typeface="+mn-cs"/>
      </a:defRPr>
    </a:lvl7pPr>
    <a:lvl8pPr marL="3200400" algn="l" defTabSz="457200" rtl="0" eaLnBrk="1" latinLnBrk="0" hangingPunct="1">
      <a:defRPr lang="en-IE" sz="1800" kern="1200">
        <a:solidFill>
          <a:schemeClr val="tx1"/>
        </a:solidFill>
        <a:latin typeface="+mn-lt"/>
        <a:ea typeface="+mn-ea"/>
        <a:cs typeface="+mn-cs"/>
      </a:defRPr>
    </a:lvl8pPr>
    <a:lvl9pPr marL="3657600" algn="l" defTabSz="457200" rtl="0" eaLnBrk="1" latinLnBrk="0" hangingPunct="1">
      <a:defRPr lang="en-I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16T09:27:37.679"/>
    <p1510:client id="{1E14B881-333F-BCDB-5041-F734AC6F67E4}" v="164" dt="2026-10-15T22:28:12.004"/>
    <p1510:client id="{65571F84-E32D-6425-89B6-136AB9A3FC6B}" v="136" dt="2026-10-15T22:20:01.295"/>
    <p1510:client id="{7D86E3D7-BD32-A92D-A60D-2D5C61B54B53}" v="71" dt="2026-10-16T07:04:38.812"/>
    <p1510:client id="{9EA01451-B4E5-701F-AEC7-DA7FF903E732}" v="17" dt="2026-10-15T18:14:56.425"/>
    <p1510:client id="{F4C266B9-AA1C-0CDE-25B5-A0774BB6303D}" v="21" dt="2026-10-16T09:20:44.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IE"/>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IE"/>
          </a:p>
        </p:txBody>
      </p:sp>
    </p:spTree>
  </p:cSld>
  <p:clrMap bg1="lt1" tx1="dk1" bg2="lt2" tx2="dk2" accent1="accent1" accent2="accent2" accent3="accent3" accent4="accent4" accent5="accent5" accent6="accent6" hlink="hlink" folHlink="folHlink"/>
  <p:hf/>
  <p:notesStyle>
    <a:lvl1pPr marL="0" algn="l">
      <a:defRPr lang="en-IE"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E"/>
              <a:t>We are ClearCare, MSc Group 2. ClearCare is a record of what inspectors found, what the provider promised, and whether the next inspection found it fixed. It does not rank, score or recommend. This is our week 5 update, and this week it goes person by person: each of us says what we did between 8 and 15 October, and we finish with next week.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The week in one line: every HIQA nursing-home inspection report in the country is now downloaded, parsed and in our database. That is 545 centres and 2,204 PDFs, and 1,969 reports are loaded. The site shows them: each home's page has its inspection history, one row per regulation and one column per inspection. The pipeline runs by itself on the server, taking the register daily and looking for new reports weekly. The contacts page is live, the guides are in draft, and there is a flowchart of how a family chooses a home.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I worked on the site. The centre page now shows real inspection reports from the API: the judgment for each regulation across inspections, newest inspection first, with "not assessed" kept visible. I added new pages: Contacts, with the regulator, Fair Deal, dementia support and advocacy; Resources; and draft guides on choosing a home and reading an inspection report. The Fair Deal guide is not live yet. I also fixed the double search bar, made the search grid show 24 results so it has no gaps, and fixed some visual bugs. Alongside that I am researching adult-centred user design, and I am currently reading WCAG 2.2, WAI and other public guides.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E"/>
              <a:t>My part was the data pipeline and deployment. Every merge to main now deploys to the server from CI. On 13 October I downloaded every inspection report in the country: 545 centres, 2,204 PDFs. The pipeline now runs as one Docker Compose project with the database and the API. It loads the register daily, looks for new reports weekly, uploads every file to object storage and loads the parsed reports into the database, so the old systemd timers are gone. We cut over today, 15 October: the server ingested all 1,969 standard reports in an hour and 43 minutes, which is 26,876 regulation judgments and 15,049 compliance-plan items. I merged six pull requests, and I reviewed the parser with a national run before it merged.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With the data in, we can start on the research question: what happens after a finding. These first numbers are Dublin only: 399 standard reports from 103 centres, which gives 296 pairs of consecutive inspections. A regulation judged substantially compliant is compliant at the next inspection 46% of the time, the same 39% of the time, and worse 15%. A regulation judged not compliant is compliant next time in 33% of cases, not compliant again in 36%, and better, meaning substantially compliant, in 32%. The highest repeat rates are Regulation 17, Premises, at 84%, Regulation 23, Governance and management, at 81%, and Regulation 28, Fire precautions, at 77%. The median gap between inspections is 268 days. Now that everything is in the database, the national numbers are next.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I built the parser, the database side and the API. The parser is section-aware: it reads the cover fields, the inspectors, each regulation with its judgment from Appendix 1, and the compliance plan from Section 2, and it handles page breaks and tables that run over pages. Batch ingestion transforms the parsed reports and loads them into PostgreSQL, and the migrations create the report tables and the views the API reads. There are two endpoints: a centre's reports, and one report in full with its inspectors, regulations and compliance items; that merged on 14 October. It reads 1,969 of the 2,204 reports. The 235 it does not read are thematic and National Standards reports, which have a different layout.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I wrote a guide on how to read a HIQA inspection report, from 16 reports we read by hand. It comes down to four steps: start with the basics, read the evidence behind each judgment, look for repeat findings, and keep the provider's plan separate from the inspector's findings. It was merged on 15 October and is now the text of the site's guide. I also did the second set of user personas and the week 3 and week 4 retrospectives, and the audit of the hand-read reports is in review.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I worked on the user personas and the "questions to ask yourself" checklist, which became the choosing-a-home guide, and the Fair Deal guide is in review. The main piece is amenities extraction: a three-stage Python pipeline that downloads, extracts and loads. Each report's text goes once to GPT-4o-mini with a fixed schema, so every home gets the same fields: care types, room types, outdoor space and activities. We started with Dublin; a full run costs under one euro, and it can be re-run and extended to other counties. To validate it, I spot-check the extracted fields against the PDF.</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Next week. Twila continues her research on adult-centred user design, starts an initial user evaluation, and keeps developing the front end. Likun computes the national numbers for the research question and stores the "About the designated centre" paragraph the parser already finds, as the source for amenities. Niwash hardens the parser, takes on the thematic inspection reports, and adds the maximum contract prices per home. Waseel fixes the audit report and builds a gold set to measure how accurately ClearCare extracts information from reports. Aswin validates the amenities extraction against the source PDFs and connects the results to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learcare_week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IE" smtClean="0"/>
              <a:t>20/10/2026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C1FF6DA9-008F-8B48-92A6-B652298478BF}" type="slidenum">
              <a:rPr lang="en-IE" smtClean="0"/>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learcare_week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IE" sz="1200">
                <a:solidFill>
                  <a:schemeClr val="tx1">
                    <a:tint val="75000"/>
                  </a:schemeClr>
                </a:solidFill>
              </a:defRPr>
            </a:lvl1pPr>
          </a:lstStyle>
          <a:p>
            <a:fld id="{5BCAD085-E8A6-8845-BD4E-CB4CCA059FC4}" type="datetimeFigureOut">
              <a:rPr lang="en-IE" smtClean="0"/>
              <a:t>20/10/2026</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IE"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IE" sz="1200">
                <a:solidFill>
                  <a:schemeClr val="tx1">
                    <a:tint val="75000"/>
                  </a:schemeClr>
                </a:solidFill>
              </a:defRPr>
            </a:lvl1pPr>
          </a:lstStyle>
          <a:p>
            <a:fld id="{C1FF6DA9-008F-8B48-92A6-B652298478BF}" type="slidenum">
              <a:rPr lang="en-IE" smtClean="0"/>
              <a:t>‹#›</a:t>
            </a:fld>
            <a:endParaRPr lang="en-IE"/>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IE"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IE"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IE"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IE"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IE"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IE"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IE"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IE"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IE"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IE" sz="900" kern="1200">
          <a:solidFill>
            <a:schemeClr val="tx1"/>
          </a:solidFill>
          <a:latin typeface="+mn-lt"/>
          <a:ea typeface="+mn-ea"/>
          <a:cs typeface="+mn-cs"/>
        </a:defRPr>
      </a:lvl9pPr>
    </p:bodyStyle>
    <p:otherStyle>
      <a:defPPr>
        <a:defRPr lang="en-IE"/>
      </a:defPPr>
      <a:lvl1pPr marL="0" algn="l" defTabSz="457200" rtl="0" eaLnBrk="1" latinLnBrk="0" hangingPunct="1">
        <a:defRPr lang="en-IE" sz="1800" kern="1200">
          <a:solidFill>
            <a:schemeClr val="tx1"/>
          </a:solidFill>
          <a:latin typeface="+mn-lt"/>
          <a:ea typeface="+mn-ea"/>
          <a:cs typeface="+mn-cs"/>
        </a:defRPr>
      </a:lvl1pPr>
      <a:lvl2pPr marL="457200" algn="l" defTabSz="457200" rtl="0" eaLnBrk="1" latinLnBrk="0" hangingPunct="1">
        <a:defRPr lang="en-IE" sz="1700" kern="1200">
          <a:solidFill>
            <a:schemeClr val="tx1"/>
          </a:solidFill>
          <a:latin typeface="+mn-lt"/>
          <a:ea typeface="+mn-ea"/>
          <a:cs typeface="+mn-cs"/>
        </a:defRPr>
      </a:lvl2pPr>
      <a:lvl3pPr marL="914400" algn="l" defTabSz="457200" rtl="0" eaLnBrk="1" latinLnBrk="0" hangingPunct="1">
        <a:defRPr lang="en-IE" sz="1600" kern="1200">
          <a:solidFill>
            <a:schemeClr val="tx1"/>
          </a:solidFill>
          <a:latin typeface="+mn-lt"/>
          <a:ea typeface="+mn-ea"/>
          <a:cs typeface="+mn-cs"/>
        </a:defRPr>
      </a:lvl3pPr>
      <a:lvl4pPr marL="1371600" algn="l" defTabSz="457200" rtl="0" eaLnBrk="1" latinLnBrk="0" hangingPunct="1">
        <a:defRPr lang="en-IE" sz="1450" kern="1200">
          <a:solidFill>
            <a:schemeClr val="tx1"/>
          </a:solidFill>
          <a:latin typeface="+mn-lt"/>
          <a:ea typeface="+mn-ea"/>
          <a:cs typeface="+mn-cs"/>
        </a:defRPr>
      </a:lvl4pPr>
      <a:lvl5pPr marL="1828800" algn="l" defTabSz="457200" rtl="0" eaLnBrk="1" latinLnBrk="0" hangingPunct="1">
        <a:defRPr lang="en-IE" sz="1350" kern="1200">
          <a:solidFill>
            <a:schemeClr val="tx1"/>
          </a:solidFill>
          <a:latin typeface="+mn-lt"/>
          <a:ea typeface="+mn-ea"/>
          <a:cs typeface="+mn-cs"/>
        </a:defRPr>
      </a:lvl5pPr>
      <a:lvl6pPr marL="2286000" algn="l" defTabSz="457200" rtl="0" eaLnBrk="1" latinLnBrk="0" hangingPunct="1">
        <a:defRPr lang="en-IE" sz="1250" kern="1200">
          <a:solidFill>
            <a:schemeClr val="tx1"/>
          </a:solidFill>
          <a:latin typeface="+mn-lt"/>
          <a:ea typeface="+mn-ea"/>
          <a:cs typeface="+mn-cs"/>
        </a:defRPr>
      </a:lvl6pPr>
      <a:lvl7pPr marL="2743200" algn="l" defTabSz="457200" rtl="0" eaLnBrk="1" latinLnBrk="0" hangingPunct="1">
        <a:defRPr lang="en-IE" sz="1100" kern="1200">
          <a:solidFill>
            <a:schemeClr val="tx1"/>
          </a:solidFill>
          <a:latin typeface="+mn-lt"/>
          <a:ea typeface="+mn-ea"/>
          <a:cs typeface="+mn-cs"/>
        </a:defRPr>
      </a:lvl7pPr>
      <a:lvl8pPr marL="3200400" algn="l" defTabSz="457200" rtl="0" eaLnBrk="1" latinLnBrk="0" hangingPunct="1">
        <a:defRPr lang="en-IE" sz="1000" kern="1200">
          <a:solidFill>
            <a:schemeClr val="tx1"/>
          </a:solidFill>
          <a:latin typeface="+mn-lt"/>
          <a:ea typeface="+mn-ea"/>
          <a:cs typeface="+mn-cs"/>
        </a:defRPr>
      </a:lvl8pPr>
      <a:lvl9pPr marL="3657600" algn="l" defTabSz="457200" rtl="0" eaLnBrk="1" latinLnBrk="0" hangingPunct="1">
        <a:defRPr lang="en-IE"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block"/>
          <p:cNvGrpSpPr/>
          <p:nvPr/>
        </p:nvGrpSpPr>
        <p:grpSpPr>
          <a:xfrm>
            <a:off x="590550" y="1854518"/>
            <a:ext cx="3549930" cy="1594294"/>
            <a:chOff x="590550" y="1854518"/>
            <a:chExt cx="3549930" cy="1594294"/>
          </a:xfrm>
        </p:grpSpPr>
        <p:sp>
          <p:nvSpPr>
            <p:cNvPr id="2" name="TextBox 2"/>
            <p:cNvSpPr txBox="1"/>
            <p:nvPr/>
          </p:nvSpPr>
          <p:spPr>
            <a:xfrm>
              <a:off x="602742" y="1854518"/>
              <a:ext cx="1582370"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MSc Group 2 Project</a:t>
              </a:r>
            </a:p>
          </p:txBody>
        </p:sp>
        <p:sp>
          <p:nvSpPr>
            <p:cNvPr id="3" name="TextBox 3"/>
            <p:cNvSpPr txBox="1"/>
            <p:nvPr/>
          </p:nvSpPr>
          <p:spPr>
            <a:xfrm>
              <a:off x="590550" y="2179320"/>
              <a:ext cx="3549930" cy="1047750"/>
            </a:xfrm>
            <a:prstGeom prst="rect">
              <a:avLst/>
            </a:prstGeom>
            <a:noFill/>
            <a:ln>
              <a:noFill/>
            </a:ln>
          </p:spPr>
          <p:txBody>
            <a:bodyPr wrap="none" lIns="0" tIns="0" rIns="0" bIns="0" anchor="t" anchorCtr="0">
              <a:spAutoFit/>
            </a:bodyPr>
            <a:lstStyle/>
            <a:p>
              <a:pPr algn="l"/>
              <a:r>
                <a:rPr lang="en-IE" sz="5400">
                  <a:solidFill>
                    <a:schemeClr val="accent1"/>
                  </a:solidFill>
                  <a:latin typeface="+mj-lt"/>
                  <a:ea typeface="+mj-ea"/>
                  <a:cs typeface="+mj-cs"/>
                </a:rPr>
                <a:t>ClearCare</a:t>
              </a:r>
            </a:p>
          </p:txBody>
        </p:sp>
        <p:sp>
          <p:nvSpPr>
            <p:cNvPr id="4" name="TextBox 4"/>
            <p:cNvSpPr txBox="1"/>
            <p:nvPr/>
          </p:nvSpPr>
          <p:spPr>
            <a:xfrm>
              <a:off x="597408" y="2979420"/>
              <a:ext cx="2305487" cy="469392"/>
            </a:xfrm>
            <a:prstGeom prst="rect">
              <a:avLst/>
            </a:prstGeom>
            <a:noFill/>
            <a:ln>
              <a:noFill/>
            </a:ln>
          </p:spPr>
          <p:txBody>
            <a:bodyPr wrap="none" lIns="0" tIns="0" rIns="0" bIns="0" anchor="t" anchorCtr="0">
              <a:spAutoFit/>
            </a:bodyPr>
            <a:lstStyle/>
            <a:p>
              <a:pPr algn="l"/>
              <a:r>
                <a:rPr lang="en-IE" sz="2400">
                  <a:solidFill>
                    <a:schemeClr val="accent5"/>
                  </a:solidFill>
                  <a:latin typeface="+mj-lt"/>
                  <a:ea typeface="+mj-ea"/>
                  <a:cs typeface="+mj-cs"/>
                </a:rPr>
                <a:t>Week 5 update</a:t>
              </a:r>
            </a:p>
          </p:txBody>
        </p:sp>
      </p:grpSp>
      <p:grpSp>
        <p:nvGrpSpPr>
          <p:cNvPr id="9" name="record-hook"/>
          <p:cNvGrpSpPr/>
          <p:nvPr/>
        </p:nvGrpSpPr>
        <p:grpSpPr>
          <a:xfrm>
            <a:off x="598932" y="3676650"/>
            <a:ext cx="4746940" cy="1688973"/>
            <a:chOff x="598932" y="3676650"/>
            <a:chExt cx="4746940" cy="1688973"/>
          </a:xfrm>
        </p:grpSpPr>
        <p:sp>
          <p:nvSpPr>
            <p:cNvPr id="6" name="Rectangle 6"/>
            <p:cNvSpPr/>
            <p:nvPr/>
          </p:nvSpPr>
          <p:spPr>
            <a:xfrm>
              <a:off x="609600" y="3676650"/>
              <a:ext cx="914400" cy="28575"/>
            </a:xfrm>
            <a:prstGeom prst="rect">
              <a:avLst/>
            </a:prstGeom>
            <a:solidFill>
              <a:schemeClr val="accent1"/>
            </a:solidFill>
            <a:ln>
              <a:noFill/>
            </a:ln>
          </p:spPr>
        </p:sp>
        <p:sp>
          <p:nvSpPr>
            <p:cNvPr id="7" name="TextBox 7"/>
            <p:cNvSpPr txBox="1"/>
            <p:nvPr/>
          </p:nvSpPr>
          <p:spPr>
            <a:xfrm>
              <a:off x="602742" y="3930968"/>
              <a:ext cx="858494"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A record of</a:t>
              </a:r>
            </a:p>
          </p:txBody>
        </p:sp>
        <p:sp>
          <p:nvSpPr>
            <p:cNvPr id="8" name="TextBox 8"/>
            <p:cNvSpPr txBox="1"/>
            <p:nvPr/>
          </p:nvSpPr>
          <p:spPr>
            <a:xfrm>
              <a:off x="598932" y="4231005"/>
              <a:ext cx="4746940" cy="1134618"/>
            </a:xfrm>
            <a:prstGeom prst="rect">
              <a:avLst/>
            </a:prstGeom>
            <a:noFill/>
            <a:ln>
              <a:noFill/>
            </a:ln>
          </p:spPr>
          <p:txBody>
            <a:bodyPr wrap="none" lIns="0" tIns="0" rIns="0" bIns="0" anchor="t" anchorCtr="0">
              <a:spAutoFit/>
            </a:bodyPr>
            <a:lstStyle/>
            <a:p>
              <a:pPr algn="l">
                <a:lnSpc>
                  <a:spcPts val="2850"/>
                </a:lnSpc>
              </a:pPr>
              <a:r>
                <a:rPr lang="en-IE" sz="2100">
                  <a:solidFill>
                    <a:schemeClr val="dk1"/>
                  </a:solidFill>
                  <a:latin typeface="+mn-lt"/>
                  <a:ea typeface="+mn-ea"/>
                  <a:cs typeface="+mn-cs"/>
                </a:rPr>
                <a:t>What inspectors found.</a:t>
              </a:r>
              <a:br/>
              <a:r>
                <a:rPr lang="en-IE" sz="2100">
                  <a:solidFill>
                    <a:schemeClr val="dk1"/>
                  </a:solidFill>
                  <a:latin typeface="+mn-lt"/>
                  <a:ea typeface="+mn-ea"/>
                  <a:cs typeface="+mn-cs"/>
                </a:rPr>
                <a:t>What the provider promised.</a:t>
              </a:r>
              <a:br/>
              <a:r>
                <a:rPr lang="en-IE" sz="2100">
                  <a:solidFill>
                    <a:schemeClr val="dk1"/>
                  </a:solidFill>
                  <a:latin typeface="+mn-lt"/>
                  <a:ea typeface="+mn-ea"/>
                  <a:cs typeface="+mn-cs"/>
                </a:rPr>
                <a:t>Whether the next inspection </a:t>
              </a:r>
              <a:r>
                <a:rPr lang="en-IE" sz="2100" b="1">
                  <a:solidFill>
                    <a:schemeClr val="accent2"/>
                  </a:solidFill>
                  <a:latin typeface="+mn-lt"/>
                  <a:ea typeface="+mn-ea"/>
                  <a:cs typeface="+mn-cs"/>
                </a:rPr>
                <a:t>found it fixed.</a:t>
              </a:r>
            </a:p>
          </p:txBody>
        </p:sp>
      </p:grpSp>
      <p:grpSp>
        <p:nvGrpSpPr>
          <p:cNvPr id="24" name="team"/>
          <p:cNvGrpSpPr/>
          <p:nvPr/>
        </p:nvGrpSpPr>
        <p:grpSpPr>
          <a:xfrm>
            <a:off x="8382000" y="0"/>
            <a:ext cx="3810000" cy="6858000"/>
            <a:chOff x="8382000" y="0"/>
            <a:chExt cx="3810000" cy="6858000"/>
          </a:xfrm>
        </p:grpSpPr>
        <p:sp>
          <p:nvSpPr>
            <p:cNvPr id="10" name="Rectangle 10"/>
            <p:cNvSpPr/>
            <p:nvPr/>
          </p:nvSpPr>
          <p:spPr>
            <a:xfrm>
              <a:off x="8382000" y="0"/>
              <a:ext cx="3810000" cy="6858000"/>
            </a:xfrm>
            <a:prstGeom prst="rect">
              <a:avLst/>
            </a:prstGeom>
            <a:solidFill>
              <a:schemeClr val="accent1"/>
            </a:solidFill>
            <a:ln>
              <a:noFill/>
            </a:ln>
          </p:spPr>
        </p:sp>
        <p:sp>
          <p:nvSpPr>
            <p:cNvPr id="11" name="TextBox 11"/>
            <p:cNvSpPr txBox="1"/>
            <p:nvPr/>
          </p:nvSpPr>
          <p:spPr>
            <a:xfrm>
              <a:off x="8832342" y="1759268"/>
              <a:ext cx="438677" cy="264033"/>
            </a:xfrm>
            <a:prstGeom prst="rect">
              <a:avLst/>
            </a:prstGeom>
            <a:noFill/>
            <a:ln>
              <a:noFill/>
            </a:ln>
          </p:spPr>
          <p:txBody>
            <a:bodyPr wrap="none" lIns="0" tIns="0" rIns="0" bIns="0" anchor="t" anchorCtr="0">
              <a:spAutoFit/>
            </a:bodyPr>
            <a:lstStyle/>
            <a:p>
              <a:pPr algn="l"/>
              <a:r>
                <a:rPr lang="en-IE" sz="1350" b="1">
                  <a:solidFill>
                    <a:schemeClr val="accent6"/>
                  </a:solidFill>
                  <a:latin typeface="+mn-lt"/>
                  <a:ea typeface="+mn-ea"/>
                  <a:cs typeface="+mn-cs"/>
                </a:rPr>
                <a:t>Team</a:t>
              </a:r>
            </a:p>
          </p:txBody>
        </p:sp>
        <p:grpSp>
          <p:nvGrpSpPr>
            <p:cNvPr id="17" name="Group 17"/>
            <p:cNvGrpSpPr/>
            <p:nvPr/>
          </p:nvGrpSpPr>
          <p:grpSpPr>
            <a:xfrm>
              <a:off x="8830056" y="2186940"/>
              <a:ext cx="1606447" cy="3095244"/>
              <a:chOff x="8830056" y="2186940"/>
              <a:chExt cx="1606447" cy="3095244"/>
            </a:xfrm>
          </p:grpSpPr>
          <p:sp>
            <p:nvSpPr>
              <p:cNvPr id="12" name="TextBox 12"/>
              <p:cNvSpPr txBox="1"/>
              <p:nvPr/>
            </p:nvSpPr>
            <p:spPr>
              <a:xfrm>
                <a:off x="8830056" y="2186940"/>
                <a:ext cx="1077279" cy="352044"/>
              </a:xfrm>
              <a:prstGeom prst="rect">
                <a:avLst/>
              </a:prstGeom>
              <a:noFill/>
              <a:ln>
                <a:noFill/>
              </a:ln>
            </p:spPr>
            <p:txBody>
              <a:bodyPr wrap="none" lIns="0" tIns="0" rIns="0" bIns="0" anchor="t" anchorCtr="0">
                <a:spAutoFit/>
              </a:bodyPr>
              <a:lstStyle/>
              <a:p>
                <a:pPr algn="l"/>
                <a:r>
                  <a:rPr lang="en-IE" sz="1800">
                    <a:solidFill>
                      <a:srgbClr val="F8F6F0"/>
                    </a:solidFill>
                    <a:latin typeface="+mn-lt"/>
                    <a:ea typeface="+mn-ea"/>
                    <a:cs typeface="+mn-cs"/>
                  </a:rPr>
                  <a:t>Likun Fang</a:t>
                </a:r>
              </a:p>
            </p:txBody>
          </p:sp>
          <p:sp>
            <p:nvSpPr>
              <p:cNvPr id="13" name="TextBox 13"/>
              <p:cNvSpPr txBox="1"/>
              <p:nvPr/>
            </p:nvSpPr>
            <p:spPr>
              <a:xfrm>
                <a:off x="8830056" y="2872740"/>
                <a:ext cx="1243094" cy="352044"/>
              </a:xfrm>
              <a:prstGeom prst="rect">
                <a:avLst/>
              </a:prstGeom>
              <a:noFill/>
              <a:ln>
                <a:noFill/>
              </a:ln>
            </p:spPr>
            <p:txBody>
              <a:bodyPr wrap="none" lIns="0" tIns="0" rIns="0" bIns="0" anchor="t" anchorCtr="0">
                <a:spAutoFit/>
              </a:bodyPr>
              <a:lstStyle/>
              <a:p>
                <a:pPr algn="l"/>
                <a:r>
                  <a:rPr lang="en-IE" sz="1800">
                    <a:solidFill>
                      <a:srgbClr val="F8F6F0"/>
                    </a:solidFill>
                    <a:latin typeface="+mn-lt"/>
                    <a:ea typeface="+mn-ea"/>
                    <a:cs typeface="+mn-cs"/>
                  </a:rPr>
                  <a:t>Twila Habab</a:t>
                </a:r>
              </a:p>
            </p:txBody>
          </p:sp>
          <p:sp>
            <p:nvSpPr>
              <p:cNvPr id="14" name="TextBox 14"/>
              <p:cNvSpPr txBox="1"/>
              <p:nvPr/>
            </p:nvSpPr>
            <p:spPr>
              <a:xfrm>
                <a:off x="8830056" y="3558540"/>
                <a:ext cx="1467317" cy="352044"/>
              </a:xfrm>
              <a:prstGeom prst="rect">
                <a:avLst/>
              </a:prstGeom>
              <a:noFill/>
              <a:ln>
                <a:noFill/>
              </a:ln>
            </p:spPr>
            <p:txBody>
              <a:bodyPr wrap="none" lIns="0" tIns="0" rIns="0" bIns="0" anchor="t" anchorCtr="0">
                <a:spAutoFit/>
              </a:bodyPr>
              <a:lstStyle/>
              <a:p>
                <a:pPr algn="l"/>
                <a:r>
                  <a:rPr lang="en-IE" sz="1800">
                    <a:solidFill>
                      <a:srgbClr val="F8F6F0"/>
                    </a:solidFill>
                    <a:latin typeface="+mn-lt"/>
                    <a:ea typeface="+mn-ea"/>
                    <a:cs typeface="+mn-cs"/>
                  </a:rPr>
                  <a:t>Aswin Remesh</a:t>
                </a:r>
              </a:p>
            </p:txBody>
          </p:sp>
          <p:sp>
            <p:nvSpPr>
              <p:cNvPr id="15" name="TextBox 15"/>
              <p:cNvSpPr txBox="1"/>
              <p:nvPr/>
            </p:nvSpPr>
            <p:spPr>
              <a:xfrm>
                <a:off x="8830056" y="4244340"/>
                <a:ext cx="1606447" cy="352044"/>
              </a:xfrm>
              <a:prstGeom prst="rect">
                <a:avLst/>
              </a:prstGeom>
              <a:noFill/>
              <a:ln>
                <a:noFill/>
              </a:ln>
            </p:spPr>
            <p:txBody>
              <a:bodyPr wrap="none" lIns="0" tIns="0" rIns="0" bIns="0" anchor="t" anchorCtr="0">
                <a:spAutoFit/>
              </a:bodyPr>
              <a:lstStyle/>
              <a:p>
                <a:pPr algn="l"/>
                <a:r>
                  <a:rPr lang="en-IE" sz="1800">
                    <a:solidFill>
                      <a:srgbClr val="F8F6F0"/>
                    </a:solidFill>
                    <a:latin typeface="+mn-lt"/>
                    <a:ea typeface="+mn-ea"/>
                    <a:cs typeface="+mn-cs"/>
                  </a:rPr>
                  <a:t>Niwash Acharya</a:t>
                </a:r>
              </a:p>
            </p:txBody>
          </p:sp>
          <p:sp>
            <p:nvSpPr>
              <p:cNvPr id="16" name="TextBox 16"/>
              <p:cNvSpPr txBox="1"/>
              <p:nvPr/>
            </p:nvSpPr>
            <p:spPr>
              <a:xfrm>
                <a:off x="8830056" y="4930140"/>
                <a:ext cx="1522468" cy="352044"/>
              </a:xfrm>
              <a:prstGeom prst="rect">
                <a:avLst/>
              </a:prstGeom>
              <a:noFill/>
              <a:ln>
                <a:noFill/>
              </a:ln>
            </p:spPr>
            <p:txBody>
              <a:bodyPr wrap="none" lIns="0" tIns="0" rIns="0" bIns="0" anchor="t" anchorCtr="0">
                <a:spAutoFit/>
              </a:bodyPr>
              <a:lstStyle/>
              <a:p>
                <a:pPr algn="l"/>
                <a:r>
                  <a:rPr lang="en-IE" sz="1800">
                    <a:solidFill>
                      <a:srgbClr val="F8F6F0"/>
                    </a:solidFill>
                    <a:latin typeface="+mn-lt"/>
                    <a:ea typeface="+mn-ea"/>
                    <a:cs typeface="+mn-cs"/>
                  </a:rPr>
                  <a:t>Waseel Chopra</a:t>
                </a:r>
              </a:p>
            </p:txBody>
          </p:sp>
        </p:grpSp>
        <p:grpSp>
          <p:nvGrpSpPr>
            <p:cNvPr id="23" name="Group 23"/>
            <p:cNvGrpSpPr/>
            <p:nvPr/>
          </p:nvGrpSpPr>
          <p:grpSpPr>
            <a:xfrm>
              <a:off x="8832342" y="2483168"/>
              <a:ext cx="903363" cy="3007233"/>
              <a:chOff x="8832342" y="2483168"/>
              <a:chExt cx="903363" cy="3007233"/>
            </a:xfrm>
          </p:grpSpPr>
          <p:sp>
            <p:nvSpPr>
              <p:cNvPr id="18" name="TextBox 18"/>
              <p:cNvSpPr txBox="1"/>
              <p:nvPr/>
            </p:nvSpPr>
            <p:spPr>
              <a:xfrm>
                <a:off x="8832342" y="2483168"/>
                <a:ext cx="903363" cy="264033"/>
              </a:xfrm>
              <a:prstGeom prst="rect">
                <a:avLst/>
              </a:prstGeom>
              <a:noFill/>
              <a:ln>
                <a:noFill/>
              </a:ln>
            </p:spPr>
            <p:txBody>
              <a:bodyPr wrap="none" lIns="0" tIns="0" rIns="0" bIns="0" anchor="t" anchorCtr="0">
                <a:spAutoFit/>
              </a:bodyPr>
              <a:lstStyle/>
              <a:p>
                <a:pPr algn="l"/>
                <a:r>
                  <a:rPr lang="en-IE" sz="1350">
                    <a:solidFill>
                      <a:schemeClr val="accent6"/>
                    </a:solidFill>
                    <a:latin typeface="+mn-lt"/>
                    <a:ea typeface="+mn-ea"/>
                    <a:cs typeface="+mn-cs"/>
                  </a:rPr>
                  <a:t>A00049290</a:t>
                </a:r>
              </a:p>
            </p:txBody>
          </p:sp>
          <p:sp>
            <p:nvSpPr>
              <p:cNvPr id="19" name="TextBox 19"/>
              <p:cNvSpPr txBox="1"/>
              <p:nvPr/>
            </p:nvSpPr>
            <p:spPr>
              <a:xfrm>
                <a:off x="8832342" y="3168968"/>
                <a:ext cx="894645" cy="264033"/>
              </a:xfrm>
              <a:prstGeom prst="rect">
                <a:avLst/>
              </a:prstGeom>
              <a:noFill/>
              <a:ln>
                <a:noFill/>
              </a:ln>
            </p:spPr>
            <p:txBody>
              <a:bodyPr wrap="none" lIns="0" tIns="0" rIns="0" bIns="0" anchor="t" anchorCtr="0">
                <a:spAutoFit/>
              </a:bodyPr>
              <a:lstStyle/>
              <a:p>
                <a:pPr algn="l"/>
                <a:r>
                  <a:rPr lang="en-IE" sz="1350">
                    <a:solidFill>
                      <a:schemeClr val="accent6"/>
                    </a:solidFill>
                    <a:latin typeface="+mn-lt"/>
                    <a:ea typeface="+mn-ea"/>
                    <a:cs typeface="+mn-cs"/>
                  </a:rPr>
                  <a:t>C20361521</a:t>
                </a:r>
              </a:p>
            </p:txBody>
          </p:sp>
          <p:sp>
            <p:nvSpPr>
              <p:cNvPr id="20" name="TextBox 20"/>
              <p:cNvSpPr txBox="1"/>
              <p:nvPr/>
            </p:nvSpPr>
            <p:spPr>
              <a:xfrm>
                <a:off x="8832342" y="3854768"/>
                <a:ext cx="903363" cy="264033"/>
              </a:xfrm>
              <a:prstGeom prst="rect">
                <a:avLst/>
              </a:prstGeom>
              <a:noFill/>
              <a:ln>
                <a:noFill/>
              </a:ln>
            </p:spPr>
            <p:txBody>
              <a:bodyPr wrap="none" lIns="0" tIns="0" rIns="0" bIns="0" anchor="t" anchorCtr="0">
                <a:spAutoFit/>
              </a:bodyPr>
              <a:lstStyle/>
              <a:p>
                <a:pPr algn="l"/>
                <a:r>
                  <a:rPr lang="en-IE" sz="1350">
                    <a:solidFill>
                      <a:schemeClr val="accent6"/>
                    </a:solidFill>
                    <a:latin typeface="+mn-lt"/>
                    <a:ea typeface="+mn-ea"/>
                    <a:cs typeface="+mn-cs"/>
                  </a:rPr>
                  <a:t>A00047249</a:t>
                </a:r>
              </a:p>
            </p:txBody>
          </p:sp>
          <p:sp>
            <p:nvSpPr>
              <p:cNvPr id="21" name="TextBox 21"/>
              <p:cNvSpPr txBox="1"/>
              <p:nvPr/>
            </p:nvSpPr>
            <p:spPr>
              <a:xfrm>
                <a:off x="8832342" y="4540568"/>
                <a:ext cx="903363" cy="264033"/>
              </a:xfrm>
              <a:prstGeom prst="rect">
                <a:avLst/>
              </a:prstGeom>
              <a:noFill/>
              <a:ln>
                <a:noFill/>
              </a:ln>
            </p:spPr>
            <p:txBody>
              <a:bodyPr wrap="none" lIns="0" tIns="0" rIns="0" bIns="0" anchor="t" anchorCtr="0">
                <a:spAutoFit/>
              </a:bodyPr>
              <a:lstStyle/>
              <a:p>
                <a:pPr algn="l"/>
                <a:r>
                  <a:rPr lang="en-IE" sz="1350">
                    <a:solidFill>
                      <a:schemeClr val="accent6"/>
                    </a:solidFill>
                    <a:latin typeface="+mn-lt"/>
                    <a:ea typeface="+mn-ea"/>
                    <a:cs typeface="+mn-cs"/>
                  </a:rPr>
                  <a:t>A00046271</a:t>
                </a:r>
              </a:p>
            </p:txBody>
          </p:sp>
          <p:sp>
            <p:nvSpPr>
              <p:cNvPr id="22" name="TextBox 22"/>
              <p:cNvSpPr txBox="1"/>
              <p:nvPr/>
            </p:nvSpPr>
            <p:spPr>
              <a:xfrm>
                <a:off x="8832342" y="5226368"/>
                <a:ext cx="903363" cy="264033"/>
              </a:xfrm>
              <a:prstGeom prst="rect">
                <a:avLst/>
              </a:prstGeom>
              <a:noFill/>
              <a:ln>
                <a:noFill/>
              </a:ln>
            </p:spPr>
            <p:txBody>
              <a:bodyPr wrap="none" lIns="0" tIns="0" rIns="0" bIns="0" anchor="t" anchorCtr="0">
                <a:spAutoFit/>
              </a:bodyPr>
              <a:lstStyle/>
              <a:p>
                <a:pPr algn="l"/>
                <a:r>
                  <a:rPr lang="en-IE" sz="1350">
                    <a:solidFill>
                      <a:schemeClr val="accent6"/>
                    </a:solidFill>
                    <a:latin typeface="+mn-lt"/>
                    <a:ea typeface="+mn-ea"/>
                    <a:cs typeface="+mn-cs"/>
                  </a:rPr>
                  <a:t>A00046669</a:t>
                </a:r>
              </a:p>
            </p:txBody>
          </p:sp>
        </p:gr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696238" cy="264033"/>
            <a:chOff x="602742" y="587692"/>
            <a:chExt cx="696238" cy="264033"/>
          </a:xfrm>
        </p:grpSpPr>
        <p:sp>
          <p:nvSpPr>
            <p:cNvPr id="2" name="TextBox 2"/>
            <p:cNvSpPr txBox="1"/>
            <p:nvPr/>
          </p:nvSpPr>
          <p:spPr>
            <a:xfrm>
              <a:off x="602742" y="587692"/>
              <a:ext cx="696238"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8–15 Oct</a:t>
              </a:r>
            </a:p>
          </p:txBody>
        </p:sp>
      </p:grpSp>
      <p:grpSp>
        <p:nvGrpSpPr>
          <p:cNvPr id="7" name="page-title"/>
          <p:cNvGrpSpPr/>
          <p:nvPr/>
        </p:nvGrpSpPr>
        <p:grpSpPr>
          <a:xfrm>
            <a:off x="593598" y="879158"/>
            <a:ext cx="10988802" cy="616077"/>
            <a:chOff x="593598" y="879158"/>
            <a:chExt cx="10988802" cy="616077"/>
          </a:xfrm>
        </p:grpSpPr>
        <p:sp>
          <p:nvSpPr>
            <p:cNvPr id="4" name="TextBox 4"/>
            <p:cNvSpPr txBox="1"/>
            <p:nvPr/>
          </p:nvSpPr>
          <p:spPr>
            <a:xfrm>
              <a:off x="593598" y="879158"/>
              <a:ext cx="4242693"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This week in one line</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20" name="headline-figures"/>
          <p:cNvGrpSpPr/>
          <p:nvPr/>
        </p:nvGrpSpPr>
        <p:grpSpPr>
          <a:xfrm>
            <a:off x="609600" y="1714500"/>
            <a:ext cx="3048000" cy="4000500"/>
            <a:chOff x="609600" y="1714500"/>
            <a:chExt cx="3048000" cy="4000500"/>
          </a:xfrm>
        </p:grpSpPr>
        <p:sp>
          <p:nvSpPr>
            <p:cNvPr id="8" name="Rectangle 8"/>
            <p:cNvSpPr/>
            <p:nvPr/>
          </p:nvSpPr>
          <p:spPr>
            <a:xfrm>
              <a:off x="609600" y="1714500"/>
              <a:ext cx="3048000" cy="4000500"/>
            </a:xfrm>
            <a:prstGeom prst="rect">
              <a:avLst/>
            </a:prstGeom>
            <a:solidFill>
              <a:schemeClr val="lt2"/>
            </a:solidFill>
            <a:ln>
              <a:noFill/>
            </a:ln>
          </p:spPr>
        </p:sp>
        <p:grpSp>
          <p:nvGrpSpPr>
            <p:cNvPr id="11" name="Group 11"/>
            <p:cNvGrpSpPr/>
            <p:nvPr/>
          </p:nvGrpSpPr>
          <p:grpSpPr>
            <a:xfrm>
              <a:off x="914400" y="3052762"/>
              <a:ext cx="2438400" cy="1343025"/>
              <a:chOff x="914400" y="3052762"/>
              <a:chExt cx="2438400" cy="1343025"/>
            </a:xfrm>
          </p:grpSpPr>
          <p:sp>
            <p:nvSpPr>
              <p:cNvPr id="9" name="Line 9"/>
              <p:cNvSpPr/>
              <p:nvPr/>
            </p:nvSpPr>
            <p:spPr>
              <a:xfrm>
                <a:off x="914400" y="3052762"/>
                <a:ext cx="2438400" cy="9525"/>
              </a:xfrm>
              <a:custGeom>
                <a:avLst/>
                <a:gdLst/>
                <a:ahLst/>
                <a:cxnLst/>
                <a:rect l="l" t="t" r="r" b="b"/>
                <a:pathLst>
                  <a:path w="2438400" h="9525">
                    <a:moveTo>
                      <a:pt x="0" y="0"/>
                    </a:moveTo>
                    <a:lnTo>
                      <a:pt x="2438400" y="0"/>
                    </a:lnTo>
                  </a:path>
                </a:pathLst>
              </a:custGeom>
              <a:noFill/>
              <a:ln w="9525">
                <a:solidFill>
                  <a:schemeClr val="accent6"/>
                </a:solidFill>
              </a:ln>
            </p:spPr>
          </p:sp>
          <p:sp>
            <p:nvSpPr>
              <p:cNvPr id="10" name="Line 10"/>
              <p:cNvSpPr/>
              <p:nvPr/>
            </p:nvSpPr>
            <p:spPr>
              <a:xfrm>
                <a:off x="914400" y="4386262"/>
                <a:ext cx="2438400" cy="9525"/>
              </a:xfrm>
              <a:custGeom>
                <a:avLst/>
                <a:gdLst/>
                <a:ahLst/>
                <a:cxnLst/>
                <a:rect l="l" t="t" r="r" b="b"/>
                <a:pathLst>
                  <a:path w="2438400" h="9525">
                    <a:moveTo>
                      <a:pt x="0" y="0"/>
                    </a:moveTo>
                    <a:lnTo>
                      <a:pt x="2438400" y="0"/>
                    </a:lnTo>
                  </a:path>
                </a:pathLst>
              </a:custGeom>
              <a:noFill/>
              <a:ln w="9525">
                <a:solidFill>
                  <a:schemeClr val="accent6"/>
                </a:solidFill>
              </a:ln>
            </p:spPr>
          </p:sp>
        </p:grpSp>
        <p:grpSp>
          <p:nvGrpSpPr>
            <p:cNvPr id="15" name="Group 15"/>
            <p:cNvGrpSpPr/>
            <p:nvPr/>
          </p:nvGrpSpPr>
          <p:grpSpPr>
            <a:xfrm>
              <a:off x="895350" y="2023110"/>
              <a:ext cx="1330048" cy="3486150"/>
              <a:chOff x="895350" y="2023110"/>
              <a:chExt cx="1330048" cy="3486150"/>
            </a:xfrm>
          </p:grpSpPr>
          <p:sp>
            <p:nvSpPr>
              <p:cNvPr id="12" name="TextBox 12"/>
              <p:cNvSpPr txBox="1"/>
              <p:nvPr/>
            </p:nvSpPr>
            <p:spPr>
              <a:xfrm>
                <a:off x="895350" y="2023110"/>
                <a:ext cx="897740" cy="819150"/>
              </a:xfrm>
              <a:prstGeom prst="rect">
                <a:avLst/>
              </a:prstGeom>
              <a:noFill/>
              <a:ln>
                <a:noFill/>
              </a:ln>
            </p:spPr>
            <p:txBody>
              <a:bodyPr wrap="none" lIns="0" tIns="0" rIns="0" bIns="0" anchor="t" anchorCtr="0">
                <a:spAutoFit/>
              </a:bodyPr>
              <a:lstStyle/>
              <a:p>
                <a:pPr algn="l"/>
                <a:r>
                  <a:rPr lang="en-IE" sz="4200" b="1">
                    <a:solidFill>
                      <a:schemeClr val="accent1"/>
                    </a:solidFill>
                    <a:latin typeface="+mn-lt"/>
                    <a:ea typeface="+mn-ea"/>
                    <a:cs typeface="+mn-cs"/>
                  </a:rPr>
                  <a:t>545</a:t>
                </a:r>
              </a:p>
            </p:txBody>
          </p:sp>
          <p:sp>
            <p:nvSpPr>
              <p:cNvPr id="13" name="TextBox 13"/>
              <p:cNvSpPr txBox="1"/>
              <p:nvPr/>
            </p:nvSpPr>
            <p:spPr>
              <a:xfrm>
                <a:off x="895350" y="3356610"/>
                <a:ext cx="1330048" cy="819150"/>
              </a:xfrm>
              <a:prstGeom prst="rect">
                <a:avLst/>
              </a:prstGeom>
              <a:noFill/>
              <a:ln>
                <a:noFill/>
              </a:ln>
            </p:spPr>
            <p:txBody>
              <a:bodyPr wrap="none" lIns="0" tIns="0" rIns="0" bIns="0" anchor="t" anchorCtr="0">
                <a:spAutoFit/>
              </a:bodyPr>
              <a:lstStyle/>
              <a:p>
                <a:pPr algn="l"/>
                <a:r>
                  <a:rPr lang="en-IE" sz="4200" b="1">
                    <a:solidFill>
                      <a:schemeClr val="accent1"/>
                    </a:solidFill>
                    <a:latin typeface="+mn-lt"/>
                    <a:ea typeface="+mn-ea"/>
                    <a:cs typeface="+mn-cs"/>
                  </a:rPr>
                  <a:t>2,204</a:t>
                </a:r>
              </a:p>
            </p:txBody>
          </p:sp>
          <p:sp>
            <p:nvSpPr>
              <p:cNvPr id="14" name="TextBox 14"/>
              <p:cNvSpPr txBox="1"/>
              <p:nvPr/>
            </p:nvSpPr>
            <p:spPr>
              <a:xfrm>
                <a:off x="895350" y="4690110"/>
                <a:ext cx="1330048" cy="819150"/>
              </a:xfrm>
              <a:prstGeom prst="rect">
                <a:avLst/>
              </a:prstGeom>
              <a:noFill/>
              <a:ln>
                <a:noFill/>
              </a:ln>
            </p:spPr>
            <p:txBody>
              <a:bodyPr wrap="none" lIns="0" tIns="0" rIns="0" bIns="0" anchor="t" anchorCtr="0">
                <a:spAutoFit/>
              </a:bodyPr>
              <a:lstStyle/>
              <a:p>
                <a:pPr algn="l"/>
                <a:r>
                  <a:rPr lang="en-IE" sz="4200" b="1">
                    <a:solidFill>
                      <a:schemeClr val="accent2"/>
                    </a:solidFill>
                    <a:latin typeface="+mn-lt"/>
                    <a:ea typeface="+mn-ea"/>
                    <a:cs typeface="+mn-cs"/>
                  </a:rPr>
                  <a:t>1,969</a:t>
                </a:r>
              </a:p>
            </p:txBody>
          </p:sp>
        </p:grpSp>
        <p:grpSp>
          <p:nvGrpSpPr>
            <p:cNvPr id="19" name="Group 19"/>
            <p:cNvGrpSpPr/>
            <p:nvPr/>
          </p:nvGrpSpPr>
          <p:grpSpPr>
            <a:xfrm>
              <a:off x="906780" y="2619375"/>
              <a:ext cx="1223569" cy="2960370"/>
              <a:chOff x="906780" y="2619375"/>
              <a:chExt cx="1223569" cy="2960370"/>
            </a:xfrm>
          </p:grpSpPr>
          <p:sp>
            <p:nvSpPr>
              <p:cNvPr id="16" name="TextBox 16"/>
              <p:cNvSpPr txBox="1"/>
              <p:nvPr/>
            </p:nvSpPr>
            <p:spPr>
              <a:xfrm>
                <a:off x="906780" y="2619375"/>
                <a:ext cx="624705" cy="293370"/>
              </a:xfrm>
              <a:prstGeom prst="rect">
                <a:avLst/>
              </a:prstGeom>
              <a:noFill/>
              <a:ln>
                <a:noFill/>
              </a:ln>
            </p:spPr>
            <p:txBody>
              <a:bodyPr wrap="none" lIns="0" tIns="0" rIns="0" bIns="0" anchor="t" anchorCtr="0">
                <a:spAutoFit/>
              </a:bodyPr>
              <a:lstStyle/>
              <a:p>
                <a:pPr algn="l"/>
                <a:r>
                  <a:rPr lang="en-IE" sz="1500">
                    <a:solidFill>
                      <a:schemeClr val="accent5"/>
                    </a:solidFill>
                    <a:latin typeface="+mn-lt"/>
                    <a:ea typeface="+mn-ea"/>
                    <a:cs typeface="+mn-cs"/>
                  </a:rPr>
                  <a:t>centres</a:t>
                </a:r>
              </a:p>
            </p:txBody>
          </p:sp>
          <p:sp>
            <p:nvSpPr>
              <p:cNvPr id="17" name="TextBox 17"/>
              <p:cNvSpPr txBox="1"/>
              <p:nvPr/>
            </p:nvSpPr>
            <p:spPr>
              <a:xfrm>
                <a:off x="906780" y="3952875"/>
                <a:ext cx="432540" cy="293370"/>
              </a:xfrm>
              <a:prstGeom prst="rect">
                <a:avLst/>
              </a:prstGeom>
              <a:noFill/>
              <a:ln>
                <a:noFill/>
              </a:ln>
            </p:spPr>
            <p:txBody>
              <a:bodyPr wrap="none" lIns="0" tIns="0" rIns="0" bIns="0" anchor="t" anchorCtr="0">
                <a:spAutoFit/>
              </a:bodyPr>
              <a:lstStyle/>
              <a:p>
                <a:pPr algn="l"/>
                <a:r>
                  <a:rPr lang="en-IE" sz="1500">
                    <a:solidFill>
                      <a:schemeClr val="accent5"/>
                    </a:solidFill>
                    <a:latin typeface="+mn-lt"/>
                    <a:ea typeface="+mn-ea"/>
                    <a:cs typeface="+mn-cs"/>
                  </a:rPr>
                  <a:t>PDFs</a:t>
                </a:r>
              </a:p>
            </p:txBody>
          </p:sp>
          <p:sp>
            <p:nvSpPr>
              <p:cNvPr id="18" name="TextBox 18"/>
              <p:cNvSpPr txBox="1"/>
              <p:nvPr/>
            </p:nvSpPr>
            <p:spPr>
              <a:xfrm>
                <a:off x="906780" y="5286375"/>
                <a:ext cx="1223569" cy="293370"/>
              </a:xfrm>
              <a:prstGeom prst="rect">
                <a:avLst/>
              </a:prstGeom>
              <a:noFill/>
              <a:ln>
                <a:noFill/>
              </a:ln>
            </p:spPr>
            <p:txBody>
              <a:bodyPr wrap="none" lIns="0" tIns="0" rIns="0" bIns="0" anchor="t" anchorCtr="0">
                <a:spAutoFit/>
              </a:bodyPr>
              <a:lstStyle/>
              <a:p>
                <a:pPr algn="l"/>
                <a:r>
                  <a:rPr lang="en-IE" sz="1500">
                    <a:solidFill>
                      <a:schemeClr val="accent5"/>
                    </a:solidFill>
                    <a:latin typeface="+mn-lt"/>
                    <a:ea typeface="+mn-ea"/>
                    <a:cs typeface="+mn-cs"/>
                  </a:rPr>
                  <a:t>reports loaded</a:t>
                </a:r>
              </a:p>
            </p:txBody>
          </p:sp>
        </p:grpSp>
      </p:grpSp>
      <p:grpSp>
        <p:nvGrpSpPr>
          <p:cNvPr id="30" name="week-outcomes"/>
          <p:cNvGrpSpPr/>
          <p:nvPr/>
        </p:nvGrpSpPr>
        <p:grpSpPr>
          <a:xfrm>
            <a:off x="4029456" y="1844040"/>
            <a:ext cx="7552944" cy="3577456"/>
            <a:chOff x="4029456" y="1844040"/>
            <a:chExt cx="7552944" cy="3577456"/>
          </a:xfrm>
        </p:grpSpPr>
        <p:grpSp>
          <p:nvGrpSpPr>
            <p:cNvPr id="24" name="Group 24"/>
            <p:cNvGrpSpPr/>
            <p:nvPr/>
          </p:nvGrpSpPr>
          <p:grpSpPr>
            <a:xfrm>
              <a:off x="4038600" y="2719388"/>
              <a:ext cx="7543800" cy="2009775"/>
              <a:chOff x="4038600" y="2719388"/>
              <a:chExt cx="7543800" cy="2009775"/>
            </a:xfrm>
          </p:grpSpPr>
          <p:sp>
            <p:nvSpPr>
              <p:cNvPr id="21" name="Line 21"/>
              <p:cNvSpPr/>
              <p:nvPr/>
            </p:nvSpPr>
            <p:spPr>
              <a:xfrm>
                <a:off x="4038600" y="2719388"/>
                <a:ext cx="7543800" cy="9525"/>
              </a:xfrm>
              <a:custGeom>
                <a:avLst/>
                <a:gdLst/>
                <a:ahLst/>
                <a:cxnLst/>
                <a:rect l="l" t="t" r="r" b="b"/>
                <a:pathLst>
                  <a:path w="7543800" h="9525">
                    <a:moveTo>
                      <a:pt x="0" y="0"/>
                    </a:moveTo>
                    <a:lnTo>
                      <a:pt x="7543800" y="0"/>
                    </a:lnTo>
                  </a:path>
                </a:pathLst>
              </a:custGeom>
              <a:noFill/>
              <a:ln w="9525">
                <a:solidFill>
                  <a:schemeClr val="accent6"/>
                </a:solidFill>
              </a:ln>
            </p:spPr>
          </p:sp>
          <p:sp>
            <p:nvSpPr>
              <p:cNvPr id="22" name="Line 22"/>
              <p:cNvSpPr/>
              <p:nvPr/>
            </p:nvSpPr>
            <p:spPr>
              <a:xfrm>
                <a:off x="4038600" y="3719512"/>
                <a:ext cx="7543800" cy="9525"/>
              </a:xfrm>
              <a:custGeom>
                <a:avLst/>
                <a:gdLst/>
                <a:ahLst/>
                <a:cxnLst/>
                <a:rect l="l" t="t" r="r" b="b"/>
                <a:pathLst>
                  <a:path w="7543800" h="9525">
                    <a:moveTo>
                      <a:pt x="0" y="0"/>
                    </a:moveTo>
                    <a:lnTo>
                      <a:pt x="7543800" y="0"/>
                    </a:lnTo>
                  </a:path>
                </a:pathLst>
              </a:custGeom>
              <a:noFill/>
              <a:ln w="9525">
                <a:solidFill>
                  <a:schemeClr val="accent6"/>
                </a:solidFill>
              </a:ln>
            </p:spPr>
          </p:sp>
          <p:sp>
            <p:nvSpPr>
              <p:cNvPr id="23" name="Line 23"/>
              <p:cNvSpPr/>
              <p:nvPr/>
            </p:nvSpPr>
            <p:spPr>
              <a:xfrm>
                <a:off x="4038600" y="4719638"/>
                <a:ext cx="7543800" cy="9525"/>
              </a:xfrm>
              <a:custGeom>
                <a:avLst/>
                <a:gdLst/>
                <a:ahLst/>
                <a:cxnLst/>
                <a:rect l="l" t="t" r="r" b="b"/>
                <a:pathLst>
                  <a:path w="7543800" h="9525">
                    <a:moveTo>
                      <a:pt x="0" y="0"/>
                    </a:moveTo>
                    <a:lnTo>
                      <a:pt x="7543800" y="0"/>
                    </a:lnTo>
                  </a:path>
                </a:pathLst>
              </a:custGeom>
              <a:noFill/>
              <a:ln w="9525">
                <a:solidFill>
                  <a:schemeClr val="accent6"/>
                </a:solidFill>
              </a:ln>
            </p:spPr>
          </p:sp>
        </p:grpSp>
        <p:grpSp>
          <p:nvGrpSpPr>
            <p:cNvPr id="29" name="Group 29"/>
            <p:cNvGrpSpPr/>
            <p:nvPr/>
          </p:nvGrpSpPr>
          <p:grpSpPr>
            <a:xfrm>
              <a:off x="4029456" y="1844040"/>
              <a:ext cx="5817426" cy="3577456"/>
              <a:chOff x="4029456" y="1844040"/>
              <a:chExt cx="5817426" cy="3577456"/>
            </a:xfrm>
          </p:grpSpPr>
          <p:sp>
            <p:nvSpPr>
              <p:cNvPr id="25" name="TextBox 25"/>
              <p:cNvSpPr txBox="1"/>
              <p:nvPr/>
            </p:nvSpPr>
            <p:spPr>
              <a:xfrm>
                <a:off x="4029456" y="1844040"/>
                <a:ext cx="5706999" cy="637794"/>
              </a:xfrm>
              <a:prstGeom prst="rect">
                <a:avLst/>
              </a:prstGeom>
              <a:noFill/>
              <a:ln>
                <a:noFill/>
              </a:ln>
            </p:spPr>
            <p:txBody>
              <a:bodyPr wrap="none" lIns="0" tIns="0" rIns="0" bIns="0" anchor="t" anchorCtr="0">
                <a:spAutoFit/>
              </a:bodyPr>
              <a:lstStyle/>
              <a:p>
                <a:pPr algn="l">
                  <a:lnSpc>
                    <a:spcPts val="2250"/>
                  </a:lnSpc>
                </a:pPr>
                <a:r>
                  <a:rPr lang="en-IE" sz="1800" b="1">
                    <a:solidFill>
                      <a:schemeClr val="accent1"/>
                    </a:solidFill>
                    <a:latin typeface="+mn-lt"/>
                    <a:ea typeface="+mn-ea"/>
                    <a:cs typeface="+mn-cs"/>
                  </a:rPr>
                  <a:t>Every HIQA nursing-home inspection report</a:t>
                </a:r>
                <a:r>
                  <a:rPr lang="en-IE" sz="1800">
                    <a:solidFill>
                      <a:schemeClr val="dk1"/>
                    </a:solidFill>
                    <a:latin typeface="+mn-lt"/>
                    <a:ea typeface="+mn-ea"/>
                    <a:cs typeface="+mn-cs"/>
                  </a:rPr>
                  <a:t> in the country is</a:t>
                </a:r>
                <a:br/>
                <a:r>
                  <a:rPr lang="en-IE" sz="1800">
                    <a:solidFill>
                      <a:schemeClr val="dk1"/>
                    </a:solidFill>
                    <a:latin typeface="+mn-lt"/>
                    <a:ea typeface="+mn-ea"/>
                    <a:cs typeface="+mn-cs"/>
                  </a:rPr>
                  <a:t>downloaded, parsed and in the database.</a:t>
                </a:r>
              </a:p>
            </p:txBody>
          </p:sp>
          <p:sp>
            <p:nvSpPr>
              <p:cNvPr id="26" name="TextBox 26"/>
              <p:cNvSpPr txBox="1"/>
              <p:nvPr/>
            </p:nvSpPr>
            <p:spPr>
              <a:xfrm>
                <a:off x="4029456" y="2844165"/>
                <a:ext cx="5552831" cy="637794"/>
              </a:xfrm>
              <a:prstGeom prst="rect">
                <a:avLst/>
              </a:prstGeom>
              <a:noFill/>
              <a:ln>
                <a:noFill/>
              </a:ln>
            </p:spPr>
            <p:txBody>
              <a:bodyPr wrap="none" lIns="0" tIns="0" rIns="0" bIns="0" anchor="t" anchorCtr="0">
                <a:spAutoFit/>
              </a:bodyPr>
              <a:lstStyle/>
              <a:p>
                <a:pPr algn="l">
                  <a:lnSpc>
                    <a:spcPts val="2250"/>
                  </a:lnSpc>
                </a:pPr>
                <a:r>
                  <a:rPr lang="en-IE" sz="1800" b="1">
                    <a:solidFill>
                      <a:schemeClr val="accent1"/>
                    </a:solidFill>
                    <a:latin typeface="+mn-lt"/>
                    <a:ea typeface="+mn-ea"/>
                    <a:cs typeface="+mn-cs"/>
                  </a:rPr>
                  <a:t>The site shows them:</a:t>
                </a:r>
                <a:r>
                  <a:rPr lang="en-IE" sz="1800">
                    <a:solidFill>
                      <a:schemeClr val="dk1"/>
                    </a:solidFill>
                    <a:latin typeface="+mn-lt"/>
                    <a:ea typeface="+mn-ea"/>
                    <a:cs typeface="+mn-cs"/>
                  </a:rPr>
                  <a:t> each home’s page has its inspection</a:t>
                </a:r>
                <a:br/>
                <a:r>
                  <a:rPr lang="en-IE" sz="1800">
                    <a:solidFill>
                      <a:schemeClr val="dk1"/>
                    </a:solidFill>
                    <a:latin typeface="+mn-lt"/>
                    <a:ea typeface="+mn-ea"/>
                    <a:cs typeface="+mn-cs"/>
                  </a:rPr>
                  <a:t>history, one row per regulation, one column per inspection.</a:t>
                </a:r>
              </a:p>
            </p:txBody>
          </p:sp>
          <p:sp>
            <p:nvSpPr>
              <p:cNvPr id="27" name="TextBox 27"/>
              <p:cNvSpPr txBox="1"/>
              <p:nvPr/>
            </p:nvSpPr>
            <p:spPr>
              <a:xfrm>
                <a:off x="4029456" y="3844290"/>
                <a:ext cx="3808270" cy="637794"/>
              </a:xfrm>
              <a:prstGeom prst="rect">
                <a:avLst/>
              </a:prstGeom>
              <a:noFill/>
              <a:ln>
                <a:noFill/>
              </a:ln>
            </p:spPr>
            <p:txBody>
              <a:bodyPr wrap="none" lIns="0" tIns="0" rIns="0" bIns="0" anchor="t" anchorCtr="0">
                <a:spAutoFit/>
              </a:bodyPr>
              <a:lstStyle/>
              <a:p>
                <a:pPr algn="l">
                  <a:lnSpc>
                    <a:spcPts val="2250"/>
                  </a:lnSpc>
                </a:pPr>
                <a:r>
                  <a:rPr lang="en-IE" sz="1800" b="1">
                    <a:solidFill>
                      <a:schemeClr val="accent1"/>
                    </a:solidFill>
                    <a:latin typeface="+mn-lt"/>
                    <a:ea typeface="+mn-ea"/>
                    <a:cs typeface="+mn-cs"/>
                  </a:rPr>
                  <a:t>The pipeline runs by itself</a:t>
                </a:r>
                <a:r>
                  <a:rPr lang="en-IE" sz="1800">
                    <a:solidFill>
                      <a:schemeClr val="dk1"/>
                    </a:solidFill>
                    <a:latin typeface="+mn-lt"/>
                    <a:ea typeface="+mn-ea"/>
                    <a:cs typeface="+mn-cs"/>
                  </a:rPr>
                  <a:t> on the server:</a:t>
                </a:r>
                <a:br/>
                <a:r>
                  <a:rPr lang="en-IE" sz="1800">
                    <a:solidFill>
                      <a:schemeClr val="dk1"/>
                    </a:solidFill>
                    <a:latin typeface="+mn-lt"/>
                    <a:ea typeface="+mn-ea"/>
                    <a:cs typeface="+mn-cs"/>
                  </a:rPr>
                  <a:t>register daily, reports weekly.</a:t>
                </a:r>
              </a:p>
            </p:txBody>
          </p:sp>
          <p:sp>
            <p:nvSpPr>
              <p:cNvPr id="28" name="TextBox 28"/>
              <p:cNvSpPr txBox="1"/>
              <p:nvPr/>
            </p:nvSpPr>
            <p:spPr>
              <a:xfrm>
                <a:off x="4029456" y="4844415"/>
                <a:ext cx="5817426" cy="577081"/>
              </a:xfrm>
              <a:prstGeom prst="rect">
                <a:avLst/>
              </a:prstGeom>
              <a:noFill/>
              <a:ln>
                <a:noFill/>
              </a:ln>
            </p:spPr>
            <p:txBody>
              <a:bodyPr wrap="none" lIns="0" tIns="0" rIns="0" bIns="0" anchor="t" anchorCtr="0">
                <a:spAutoFit/>
              </a:bodyPr>
              <a:lstStyle/>
              <a:p>
                <a:pPr>
                  <a:lnSpc>
                    <a:spcPts val="2250"/>
                  </a:lnSpc>
                </a:pPr>
                <a:r>
                  <a:rPr lang="en-IE" sz="1800" b="1">
                    <a:solidFill>
                      <a:schemeClr val="accent1"/>
                    </a:solidFill>
                    <a:latin typeface="+mn-lt"/>
                    <a:ea typeface="+mn-ea"/>
                    <a:cs typeface="+mn-cs"/>
                  </a:rPr>
                  <a:t>The contacts </a:t>
                </a:r>
                <a:r>
                  <a:rPr lang="en-IE" b="1">
                    <a:solidFill>
                      <a:schemeClr val="accent1"/>
                    </a:solidFill>
                  </a:rPr>
                  <a:t>&amp; resources page are live</a:t>
                </a:r>
                <a:r>
                  <a:rPr lang="en-IE" sz="1800" b="1">
                    <a:solidFill>
                      <a:schemeClr val="accent1"/>
                    </a:solidFill>
                    <a:latin typeface="+mn-lt"/>
                    <a:ea typeface="+mn-ea"/>
                    <a:cs typeface="+mn-cs"/>
                  </a:rPr>
                  <a:t>,</a:t>
                </a:r>
                <a:r>
                  <a:rPr lang="en-IE" sz="1800">
                    <a:solidFill>
                      <a:schemeClr val="dk1"/>
                    </a:solidFill>
                    <a:latin typeface="+mn-lt"/>
                    <a:ea typeface="+mn-ea"/>
                    <a:cs typeface="+mn-cs"/>
                  </a:rPr>
                  <a:t> with draft guides and</a:t>
                </a:r>
                <a:br>
                  <a:rPr/>
                </a:br>
                <a:r>
                  <a:rPr lang="en-IE" sz="1800">
                    <a:solidFill>
                      <a:schemeClr val="dk1"/>
                    </a:solidFill>
                    <a:latin typeface="+mn-lt"/>
                    <a:ea typeface="+mn-ea"/>
                    <a:cs typeface="+mn-cs"/>
                  </a:rPr>
                  <a:t>a flowchart of how a family chooses a home.</a:t>
                </a:r>
              </a:p>
            </p:txBody>
          </p:sp>
        </p:grpSp>
      </p:grpSp>
      <p:sp>
        <p:nvSpPr>
          <p:cNvPr id="31" name="TextBox 31"/>
          <p:cNvSpPr txBox="1"/>
          <p:nvPr/>
        </p:nvSpPr>
        <p:spPr>
          <a:xfrm>
            <a:off x="10031163" y="6480810"/>
            <a:ext cx="15573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1221013" cy="264033"/>
            <a:chOff x="602742" y="587692"/>
            <a:chExt cx="1221013" cy="264033"/>
          </a:xfrm>
        </p:grpSpPr>
        <p:sp>
          <p:nvSpPr>
            <p:cNvPr id="2" name="TextBox 2"/>
            <p:cNvSpPr txBox="1"/>
            <p:nvPr/>
          </p:nvSpPr>
          <p:spPr>
            <a:xfrm>
              <a:off x="602742" y="587692"/>
              <a:ext cx="1221013"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Twila · frontend</a:t>
              </a:r>
            </a:p>
          </p:txBody>
        </p:sp>
      </p:grpSp>
      <p:grpSp>
        <p:nvGrpSpPr>
          <p:cNvPr id="7" name="page-title"/>
          <p:cNvGrpSpPr/>
          <p:nvPr/>
        </p:nvGrpSpPr>
        <p:grpSpPr>
          <a:xfrm>
            <a:off x="593598" y="879158"/>
            <a:ext cx="10988802" cy="568642"/>
            <a:chOff x="593598" y="879158"/>
            <a:chExt cx="10988802" cy="568642"/>
          </a:xfrm>
        </p:grpSpPr>
        <p:sp>
          <p:nvSpPr>
            <p:cNvPr id="4" name="TextBox 4"/>
            <p:cNvSpPr txBox="1"/>
            <p:nvPr/>
          </p:nvSpPr>
          <p:spPr>
            <a:xfrm>
              <a:off x="593598" y="879158"/>
              <a:ext cx="3451266" cy="484748"/>
            </a:xfrm>
            <a:prstGeom prst="rect">
              <a:avLst/>
            </a:prstGeom>
            <a:noFill/>
            <a:ln>
              <a:noFill/>
            </a:ln>
          </p:spPr>
          <p:txBody>
            <a:bodyPr wrap="none" lIns="0" tIns="0" rIns="0" bIns="0" anchor="t" anchorCtr="0">
              <a:spAutoFit/>
            </a:bodyPr>
            <a:lstStyle/>
            <a:p>
              <a:r>
                <a:rPr lang="en-IE" sz="3150">
                  <a:solidFill>
                    <a:schemeClr val="accent1"/>
                  </a:solidFill>
                  <a:latin typeface="+mj-lt"/>
                  <a:ea typeface="+mj-ea"/>
                  <a:cs typeface="+mj-cs"/>
                </a:rPr>
                <a:t>Twila: the prod site</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11" name="row-centre-page"/>
          <p:cNvGrpSpPr/>
          <p:nvPr/>
        </p:nvGrpSpPr>
        <p:grpSpPr>
          <a:xfrm>
            <a:off x="600456" y="1844040"/>
            <a:ext cx="9276908" cy="637794"/>
            <a:chOff x="600456" y="1844040"/>
            <a:chExt cx="9276908" cy="637794"/>
          </a:xfrm>
        </p:grpSpPr>
        <p:sp>
          <p:nvSpPr>
            <p:cNvPr id="8" name="TextBox 8"/>
            <p:cNvSpPr txBox="1"/>
            <p:nvPr/>
          </p:nvSpPr>
          <p:spPr>
            <a:xfrm>
              <a:off x="600456" y="1844040"/>
              <a:ext cx="1238870"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Centre page</a:t>
              </a:r>
            </a:p>
          </p:txBody>
        </p:sp>
        <p:sp>
          <p:nvSpPr>
            <p:cNvPr id="9" name="TextBox 9"/>
            <p:cNvSpPr txBox="1"/>
            <p:nvPr/>
          </p:nvSpPr>
          <p:spPr>
            <a:xfrm>
              <a:off x="602742" y="214026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CCARE-89</a:t>
              </a:r>
            </a:p>
          </p:txBody>
        </p:sp>
        <p:sp>
          <p:nvSpPr>
            <p:cNvPr id="10" name="TextBox 10"/>
            <p:cNvSpPr txBox="1"/>
            <p:nvPr/>
          </p:nvSpPr>
          <p:spPr>
            <a:xfrm>
              <a:off x="3457956" y="1844040"/>
              <a:ext cx="641940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Shows </a:t>
              </a:r>
              <a:r>
                <a:rPr lang="en-IE" sz="1800" b="1">
                  <a:solidFill>
                    <a:schemeClr val="accent2"/>
                  </a:solidFill>
                  <a:latin typeface="+mn-lt"/>
                  <a:ea typeface="+mn-ea"/>
                  <a:cs typeface="+mn-cs"/>
                </a:rPr>
                <a:t>real inspection reports</a:t>
              </a:r>
              <a:r>
                <a:rPr lang="en-IE" sz="1800">
                  <a:solidFill>
                    <a:schemeClr val="dk1"/>
                  </a:solidFill>
                  <a:latin typeface="+mn-lt"/>
                  <a:ea typeface="+mn-ea"/>
                  <a:cs typeface="+mn-cs"/>
                </a:rPr>
                <a:t> from the API: judgment per regulation</a:t>
              </a:r>
              <a:br/>
              <a:r>
                <a:rPr lang="en-IE" sz="1800">
                  <a:solidFill>
                    <a:schemeClr val="dk1"/>
                  </a:solidFill>
                  <a:latin typeface="+mn-lt"/>
                  <a:ea typeface="+mn-ea"/>
                  <a:cs typeface="+mn-cs"/>
                </a:rPr>
                <a:t>across inspections, newest inspection first, “not assessed” visible.</a:t>
              </a:r>
            </a:p>
          </p:txBody>
        </p:sp>
      </p:grpSp>
      <p:grpSp>
        <p:nvGrpSpPr>
          <p:cNvPr id="16" name="row-new-pages"/>
          <p:cNvGrpSpPr/>
          <p:nvPr/>
        </p:nvGrpSpPr>
        <p:grpSpPr>
          <a:xfrm>
            <a:off x="600456" y="2709862"/>
            <a:ext cx="10981944" cy="996812"/>
            <a:chOff x="600456" y="2709862"/>
            <a:chExt cx="10981944" cy="996812"/>
          </a:xfrm>
        </p:grpSpPr>
        <p:sp>
          <p:nvSpPr>
            <p:cNvPr id="12" name="Line 12"/>
            <p:cNvSpPr/>
            <p:nvPr/>
          </p:nvSpPr>
          <p:spPr>
            <a:xfrm>
              <a:off x="609600" y="27098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600456" y="2834640"/>
              <a:ext cx="1126186"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New pages</a:t>
              </a:r>
            </a:p>
          </p:txBody>
        </p:sp>
        <p:sp>
          <p:nvSpPr>
            <p:cNvPr id="14" name="TextBox 14"/>
            <p:cNvSpPr txBox="1"/>
            <p:nvPr/>
          </p:nvSpPr>
          <p:spPr>
            <a:xfrm>
              <a:off x="602742" y="3130868"/>
              <a:ext cx="1638950"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CCARE-53, 54, 60, 61</a:t>
              </a:r>
            </a:p>
          </p:txBody>
        </p:sp>
        <p:sp>
          <p:nvSpPr>
            <p:cNvPr id="15" name="TextBox 15"/>
            <p:cNvSpPr txBox="1"/>
            <p:nvPr/>
          </p:nvSpPr>
          <p:spPr>
            <a:xfrm>
              <a:off x="3457956" y="2834640"/>
              <a:ext cx="7633372" cy="872034"/>
            </a:xfrm>
            <a:prstGeom prst="rect">
              <a:avLst/>
            </a:prstGeom>
            <a:noFill/>
            <a:ln>
              <a:noFill/>
            </a:ln>
          </p:spPr>
          <p:txBody>
            <a:bodyPr wrap="none" lIns="0" tIns="0" rIns="0" bIns="0" anchor="t" anchorCtr="0">
              <a:spAutoFit/>
            </a:bodyPr>
            <a:lstStyle/>
            <a:p>
              <a:pPr>
                <a:lnSpc>
                  <a:spcPts val="2250"/>
                </a:lnSpc>
              </a:pPr>
              <a:r>
                <a:rPr lang="en-IE" sz="1800">
                  <a:solidFill>
                    <a:schemeClr val="dk1"/>
                  </a:solidFill>
                  <a:latin typeface="+mn-lt"/>
                  <a:ea typeface="+mn-ea"/>
                  <a:cs typeface="+mn-cs"/>
                </a:rPr>
                <a:t>Contacts (</a:t>
              </a:r>
              <a:r>
                <a:rPr lang="en-IE">
                  <a:solidFill>
                    <a:schemeClr val="dk1"/>
                  </a:solidFill>
                </a:rPr>
                <a:t>advocacies, Dementia Ireland, Fair Deal, HIQA, etc) and</a:t>
              </a:r>
              <a:r>
                <a:rPr lang="en-IE" sz="1800">
                  <a:solidFill>
                    <a:schemeClr val="dk1"/>
                  </a:solidFill>
                  <a:latin typeface="+mn-lt"/>
                  <a:ea typeface="+mn-ea"/>
                  <a:cs typeface="+mn-cs"/>
                </a:rPr>
                <a:t> </a:t>
              </a:r>
              <a:r>
                <a:rPr lang="en-IE" sz="1800" b="1">
                  <a:solidFill>
                    <a:schemeClr val="dk1"/>
                  </a:solidFill>
                  <a:latin typeface="+mn-lt"/>
                  <a:ea typeface="+mn-ea"/>
                  <a:cs typeface="+mn-cs"/>
                </a:rPr>
                <a:t>draft</a:t>
              </a:r>
              <a:r>
                <a:rPr lang="en-IE" sz="1800">
                  <a:solidFill>
                    <a:schemeClr val="dk1"/>
                  </a:solidFill>
                  <a:latin typeface="+mn-lt"/>
                  <a:ea typeface="+mn-ea"/>
                  <a:cs typeface="+mn-cs"/>
                </a:rPr>
                <a:t> guides on </a:t>
              </a:r>
              <a:endParaRPr lang="en-US">
                <a:solidFill>
                  <a:schemeClr val="dk1"/>
                </a:solidFill>
              </a:endParaRPr>
            </a:p>
            <a:p>
              <a:pPr>
                <a:lnSpc>
                  <a:spcPts val="2250"/>
                </a:lnSpc>
              </a:pPr>
              <a:r>
                <a:rPr lang="en-IE" sz="1800">
                  <a:solidFill>
                    <a:schemeClr val="dk1"/>
                  </a:solidFill>
                  <a:latin typeface="+mn-lt"/>
                  <a:ea typeface="+mn-ea"/>
                  <a:cs typeface="+mn-cs"/>
                </a:rPr>
                <a:t>choosing a home and reading an inspection report.</a:t>
              </a:r>
              <a:br>
                <a:rPr/>
              </a:br>
              <a:r>
                <a:rPr lang="en-IE" sz="1800" i="1">
                  <a:solidFill>
                    <a:schemeClr val="dk1"/>
                  </a:solidFill>
                  <a:latin typeface="+mn-lt"/>
                  <a:ea typeface="+mn-ea"/>
                  <a:cs typeface="+mn-cs"/>
                </a:rPr>
                <a:t>The Fair Deal guide is not live yet.</a:t>
              </a:r>
              <a:endParaRPr lang="en-IE" i="1">
                <a:solidFill>
                  <a:schemeClr val="dk1"/>
                </a:solidFill>
              </a:endParaRPr>
            </a:p>
          </p:txBody>
        </p:sp>
      </p:grpSp>
      <p:grpSp>
        <p:nvGrpSpPr>
          <p:cNvPr id="21" name="row-fixes"/>
          <p:cNvGrpSpPr/>
          <p:nvPr/>
        </p:nvGrpSpPr>
        <p:grpSpPr>
          <a:xfrm>
            <a:off x="600456" y="3986212"/>
            <a:ext cx="10981944" cy="685039"/>
            <a:chOff x="600456" y="3986212"/>
            <a:chExt cx="10981944" cy="685039"/>
          </a:xfrm>
        </p:grpSpPr>
        <p:sp>
          <p:nvSpPr>
            <p:cNvPr id="17" name="Line 17"/>
            <p:cNvSpPr/>
            <p:nvPr/>
          </p:nvSpPr>
          <p:spPr>
            <a:xfrm>
              <a:off x="609600" y="39862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4110990"/>
              <a:ext cx="524678"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Fixes</a:t>
              </a:r>
            </a:p>
          </p:txBody>
        </p:sp>
        <p:sp>
          <p:nvSpPr>
            <p:cNvPr id="19" name="TextBox 19"/>
            <p:cNvSpPr txBox="1"/>
            <p:nvPr/>
          </p:nvSpPr>
          <p:spPr>
            <a:xfrm>
              <a:off x="602742" y="4407218"/>
              <a:ext cx="1352987"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CCARE-78, 79, 80</a:t>
              </a:r>
            </a:p>
          </p:txBody>
        </p:sp>
        <p:sp>
          <p:nvSpPr>
            <p:cNvPr id="20" name="TextBox 20"/>
            <p:cNvSpPr txBox="1"/>
            <p:nvPr/>
          </p:nvSpPr>
          <p:spPr>
            <a:xfrm>
              <a:off x="3457956" y="4110990"/>
              <a:ext cx="6610720" cy="282129"/>
            </a:xfrm>
            <a:prstGeom prst="rect">
              <a:avLst/>
            </a:prstGeom>
            <a:noFill/>
            <a:ln>
              <a:noFill/>
            </a:ln>
          </p:spPr>
          <p:txBody>
            <a:bodyPr wrap="none" lIns="0" tIns="0" rIns="0" bIns="0" anchor="t" anchorCtr="0">
              <a:spAutoFit/>
            </a:bodyPr>
            <a:lstStyle/>
            <a:p>
              <a:pPr>
                <a:lnSpc>
                  <a:spcPts val="2250"/>
                </a:lnSpc>
              </a:pPr>
              <a:r>
                <a:rPr lang="en-IE" sz="1800">
                  <a:solidFill>
                    <a:schemeClr val="dk1"/>
                  </a:solidFill>
                  <a:latin typeface="+mn-lt"/>
                  <a:ea typeface="+mn-ea"/>
                  <a:cs typeface="+mn-cs"/>
                </a:rPr>
                <a:t>Double search bar, </a:t>
              </a:r>
              <a:r>
                <a:rPr lang="en-IE">
                  <a:solidFill>
                    <a:schemeClr val="dk1"/>
                  </a:solidFill>
                </a:rPr>
                <a:t>incomplete grid results when searching for a home.</a:t>
              </a:r>
              <a:endParaRPr lang="en-IE" sz="1800">
                <a:solidFill>
                  <a:schemeClr val="dk1"/>
                </a:solidFill>
                <a:latin typeface="+mn-lt"/>
                <a:ea typeface="+mn-ea"/>
                <a:cs typeface="+mn-cs"/>
              </a:endParaRPr>
            </a:p>
          </p:txBody>
        </p:sp>
      </p:grpSp>
      <p:grpSp>
        <p:nvGrpSpPr>
          <p:cNvPr id="25" name="row-adult-centred-design"/>
          <p:cNvGrpSpPr/>
          <p:nvPr/>
        </p:nvGrpSpPr>
        <p:grpSpPr>
          <a:xfrm>
            <a:off x="600456" y="4976812"/>
            <a:ext cx="10981944" cy="762572"/>
            <a:chOff x="600456" y="4976812"/>
            <a:chExt cx="10981944" cy="762572"/>
          </a:xfrm>
        </p:grpSpPr>
        <p:sp>
          <p:nvSpPr>
            <p:cNvPr id="22" name="Line 22"/>
            <p:cNvSpPr/>
            <p:nvPr/>
          </p:nvSpPr>
          <p:spPr>
            <a:xfrm>
              <a:off x="609600" y="49768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5101590"/>
              <a:ext cx="1339230" cy="637794"/>
            </a:xfrm>
            <a:prstGeom prst="rect">
              <a:avLst/>
            </a:prstGeom>
            <a:noFill/>
            <a:ln>
              <a:noFill/>
            </a:ln>
          </p:spPr>
          <p:txBody>
            <a:bodyPr wrap="none" lIns="0" tIns="0" rIns="0" bIns="0" anchor="t" anchorCtr="0">
              <a:spAutoFit/>
            </a:bodyPr>
            <a:lstStyle/>
            <a:p>
              <a:pPr algn="l">
                <a:lnSpc>
                  <a:spcPts val="2250"/>
                </a:lnSpc>
              </a:pPr>
              <a:r>
                <a:rPr lang="en-IE" sz="1800" b="1">
                  <a:solidFill>
                    <a:schemeClr val="accent1"/>
                  </a:solidFill>
                  <a:latin typeface="+mn-lt"/>
                  <a:ea typeface="+mn-ea"/>
                  <a:cs typeface="+mn-cs"/>
                </a:rPr>
                <a:t>Adult-centred</a:t>
              </a:r>
              <a:br/>
              <a:r>
                <a:rPr lang="en-IE" sz="1800" b="1">
                  <a:solidFill>
                    <a:schemeClr val="accent1"/>
                  </a:solidFill>
                  <a:latin typeface="+mn-lt"/>
                  <a:ea typeface="+mn-ea"/>
                  <a:cs typeface="+mn-cs"/>
                </a:rPr>
                <a:t>user design</a:t>
              </a:r>
            </a:p>
          </p:txBody>
        </p:sp>
        <p:sp>
          <p:nvSpPr>
            <p:cNvPr id="24" name="TextBox 24"/>
            <p:cNvSpPr txBox="1"/>
            <p:nvPr/>
          </p:nvSpPr>
          <p:spPr>
            <a:xfrm>
              <a:off x="3457956" y="5101590"/>
              <a:ext cx="5812595"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Currently reading WCAG 2.2, WAI and other public guides.</a:t>
              </a:r>
            </a:p>
          </p:txBody>
        </p:sp>
      </p:grpSp>
      <p:sp>
        <p:nvSpPr>
          <p:cNvPr id="26" name="TextBox 26"/>
          <p:cNvSpPr txBox="1"/>
          <p:nvPr/>
        </p:nvSpPr>
        <p:spPr>
          <a:xfrm>
            <a:off x="10031163" y="6480810"/>
            <a:ext cx="15573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03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2825831" cy="264033"/>
            <a:chOff x="602742" y="587692"/>
            <a:chExt cx="2825831" cy="264033"/>
          </a:xfrm>
        </p:grpSpPr>
        <p:sp>
          <p:nvSpPr>
            <p:cNvPr id="2" name="TextBox 2"/>
            <p:cNvSpPr txBox="1"/>
            <p:nvPr/>
          </p:nvSpPr>
          <p:spPr>
            <a:xfrm>
              <a:off x="602742" y="587692"/>
              <a:ext cx="2825831"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Likun · data pipeline and deployment</a:t>
              </a:r>
            </a:p>
          </p:txBody>
        </p:sp>
      </p:grpSp>
      <p:grpSp>
        <p:nvGrpSpPr>
          <p:cNvPr id="7" name="page-title"/>
          <p:cNvGrpSpPr/>
          <p:nvPr/>
        </p:nvGrpSpPr>
        <p:grpSpPr>
          <a:xfrm>
            <a:off x="593598" y="879158"/>
            <a:ext cx="10988802" cy="616077"/>
            <a:chOff x="593598" y="879158"/>
            <a:chExt cx="10988802" cy="616077"/>
          </a:xfrm>
        </p:grpSpPr>
        <p:sp>
          <p:nvSpPr>
            <p:cNvPr id="4" name="TextBox 4"/>
            <p:cNvSpPr txBox="1"/>
            <p:nvPr/>
          </p:nvSpPr>
          <p:spPr>
            <a:xfrm>
              <a:off x="593598" y="879158"/>
              <a:ext cx="5918787"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Likun: the pipeline runs itself</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11" name="row-deploys"/>
          <p:cNvGrpSpPr/>
          <p:nvPr/>
        </p:nvGrpSpPr>
        <p:grpSpPr>
          <a:xfrm>
            <a:off x="600456" y="1786890"/>
            <a:ext cx="7913972" cy="560261"/>
            <a:chOff x="600456" y="1786890"/>
            <a:chExt cx="7913972" cy="560261"/>
          </a:xfrm>
        </p:grpSpPr>
        <p:sp>
          <p:nvSpPr>
            <p:cNvPr id="8" name="TextBox 8"/>
            <p:cNvSpPr txBox="1"/>
            <p:nvPr/>
          </p:nvSpPr>
          <p:spPr>
            <a:xfrm>
              <a:off x="600456" y="1786890"/>
              <a:ext cx="830773"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Deploys</a:t>
              </a:r>
            </a:p>
          </p:txBody>
        </p:sp>
        <p:sp>
          <p:nvSpPr>
            <p:cNvPr id="9" name="TextBox 9"/>
            <p:cNvSpPr txBox="1"/>
            <p:nvPr/>
          </p:nvSpPr>
          <p:spPr>
            <a:xfrm>
              <a:off x="602742" y="208311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CCARE-19</a:t>
              </a:r>
            </a:p>
          </p:txBody>
        </p:sp>
        <p:sp>
          <p:nvSpPr>
            <p:cNvPr id="10" name="TextBox 10"/>
            <p:cNvSpPr txBox="1"/>
            <p:nvPr/>
          </p:nvSpPr>
          <p:spPr>
            <a:xfrm>
              <a:off x="3457956" y="1786890"/>
              <a:ext cx="5056472"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Every merge to main deploys to the server from CI.</a:t>
              </a:r>
            </a:p>
          </p:txBody>
        </p:sp>
      </p:grpSp>
      <p:grpSp>
        <p:nvGrpSpPr>
          <p:cNvPr id="16" name="row-download"/>
          <p:cNvGrpSpPr/>
          <p:nvPr/>
        </p:nvGrpSpPr>
        <p:grpSpPr>
          <a:xfrm>
            <a:off x="600456" y="2538412"/>
            <a:ext cx="10981944" cy="665989"/>
            <a:chOff x="600456" y="2538412"/>
            <a:chExt cx="10981944" cy="665989"/>
          </a:xfrm>
        </p:grpSpPr>
        <p:sp>
          <p:nvSpPr>
            <p:cNvPr id="12" name="Line 12"/>
            <p:cNvSpPr/>
            <p:nvPr/>
          </p:nvSpPr>
          <p:spPr>
            <a:xfrm>
              <a:off x="609600" y="25384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600456" y="2644140"/>
              <a:ext cx="1058639"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Download</a:t>
              </a:r>
            </a:p>
          </p:txBody>
        </p:sp>
        <p:sp>
          <p:nvSpPr>
            <p:cNvPr id="14" name="TextBox 14"/>
            <p:cNvSpPr txBox="1"/>
            <p:nvPr/>
          </p:nvSpPr>
          <p:spPr>
            <a:xfrm>
              <a:off x="602742" y="2940368"/>
              <a:ext cx="506202"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13 Oct</a:t>
              </a:r>
            </a:p>
          </p:txBody>
        </p:sp>
        <p:sp>
          <p:nvSpPr>
            <p:cNvPr id="15" name="TextBox 15"/>
            <p:cNvSpPr txBox="1"/>
            <p:nvPr/>
          </p:nvSpPr>
          <p:spPr>
            <a:xfrm>
              <a:off x="3457956" y="2644140"/>
              <a:ext cx="7630905"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Downloaded every inspection report in the country: 545 centres, 2,204 PDFs.</a:t>
              </a:r>
            </a:p>
          </p:txBody>
        </p:sp>
      </p:grpSp>
      <p:grpSp>
        <p:nvGrpSpPr>
          <p:cNvPr id="21" name="row-docker-compose"/>
          <p:cNvGrpSpPr/>
          <p:nvPr/>
        </p:nvGrpSpPr>
        <p:grpSpPr>
          <a:xfrm>
            <a:off x="600456" y="3395662"/>
            <a:ext cx="10981944" cy="1029272"/>
            <a:chOff x="600456" y="3395662"/>
            <a:chExt cx="10981944" cy="1029272"/>
          </a:xfrm>
        </p:grpSpPr>
        <p:sp>
          <p:nvSpPr>
            <p:cNvPr id="17" name="Line 17"/>
            <p:cNvSpPr/>
            <p:nvPr/>
          </p:nvSpPr>
          <p:spPr>
            <a:xfrm>
              <a:off x="609600" y="33956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3501390"/>
              <a:ext cx="1731324"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Docker Compose</a:t>
              </a:r>
            </a:p>
          </p:txBody>
        </p:sp>
        <p:sp>
          <p:nvSpPr>
            <p:cNvPr id="19" name="TextBox 19"/>
            <p:cNvSpPr txBox="1"/>
            <p:nvPr/>
          </p:nvSpPr>
          <p:spPr>
            <a:xfrm>
              <a:off x="602742" y="3797618"/>
              <a:ext cx="1067025"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CCARE-87, 88</a:t>
              </a:r>
            </a:p>
          </p:txBody>
        </p:sp>
        <p:sp>
          <p:nvSpPr>
            <p:cNvPr id="20" name="TextBox 20"/>
            <p:cNvSpPr txBox="1"/>
            <p:nvPr/>
          </p:nvSpPr>
          <p:spPr>
            <a:xfrm>
              <a:off x="3457956" y="3501390"/>
              <a:ext cx="6856651" cy="92354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One project with the database and the API: loads the register daily, looks</a:t>
              </a:r>
              <a:br/>
              <a:r>
                <a:rPr lang="en-IE" sz="1800">
                  <a:solidFill>
                    <a:schemeClr val="dk1"/>
                  </a:solidFill>
                  <a:latin typeface="+mn-lt"/>
                  <a:ea typeface="+mn-ea"/>
                  <a:cs typeface="+mn-cs"/>
                </a:rPr>
                <a:t>for new reports weekly, uploads every file to object storage and loads the</a:t>
              </a:r>
              <a:br/>
              <a:r>
                <a:rPr lang="en-IE" sz="1800">
                  <a:solidFill>
                    <a:schemeClr val="dk1"/>
                  </a:solidFill>
                  <a:latin typeface="+mn-lt"/>
                  <a:ea typeface="+mn-ea"/>
                  <a:cs typeface="+mn-cs"/>
                </a:rPr>
                <a:t>parsed reports into the database. The old systemd timers are gone.</a:t>
              </a:r>
            </a:p>
          </p:txBody>
        </p:sp>
      </p:grpSp>
      <p:grpSp>
        <p:nvGrpSpPr>
          <p:cNvPr id="26" name="row-cut-over"/>
          <p:cNvGrpSpPr/>
          <p:nvPr/>
        </p:nvGrpSpPr>
        <p:grpSpPr>
          <a:xfrm>
            <a:off x="600456" y="4538662"/>
            <a:ext cx="10981944" cy="743522"/>
            <a:chOff x="600456" y="4538662"/>
            <a:chExt cx="10981944" cy="743522"/>
          </a:xfrm>
        </p:grpSpPr>
        <p:sp>
          <p:nvSpPr>
            <p:cNvPr id="22" name="Line 22"/>
            <p:cNvSpPr/>
            <p:nvPr/>
          </p:nvSpPr>
          <p:spPr>
            <a:xfrm>
              <a:off x="609600" y="45386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4644390"/>
              <a:ext cx="894846"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Cut-over</a:t>
              </a:r>
            </a:p>
          </p:txBody>
        </p:sp>
        <p:sp>
          <p:nvSpPr>
            <p:cNvPr id="24" name="TextBox 24"/>
            <p:cNvSpPr txBox="1"/>
            <p:nvPr/>
          </p:nvSpPr>
          <p:spPr>
            <a:xfrm>
              <a:off x="602742" y="4940618"/>
              <a:ext cx="506202"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15 Oct</a:t>
              </a:r>
            </a:p>
          </p:txBody>
        </p:sp>
        <p:sp>
          <p:nvSpPr>
            <p:cNvPr id="25" name="TextBox 25"/>
            <p:cNvSpPr txBox="1"/>
            <p:nvPr/>
          </p:nvSpPr>
          <p:spPr>
            <a:xfrm>
              <a:off x="3457956" y="4644390"/>
              <a:ext cx="566694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The server ingested </a:t>
              </a:r>
              <a:r>
                <a:rPr lang="en-IE" sz="1800" b="1">
                  <a:solidFill>
                    <a:schemeClr val="accent2"/>
                  </a:solidFill>
                  <a:latin typeface="+mn-lt"/>
                  <a:ea typeface="+mn-ea"/>
                  <a:cs typeface="+mn-cs"/>
                </a:rPr>
                <a:t>all 1,969 standard reports in 1 h 43 min</a:t>
              </a:r>
              <a:r>
                <a:rPr lang="en-IE" sz="1800">
                  <a:solidFill>
                    <a:schemeClr val="dk1"/>
                  </a:solidFill>
                  <a:latin typeface="+mn-lt"/>
                  <a:ea typeface="+mn-ea"/>
                  <a:cs typeface="+mn-cs"/>
                </a:rPr>
                <a:t>:</a:t>
              </a:r>
              <a:br/>
              <a:r>
                <a:rPr lang="en-IE" sz="1800">
                  <a:solidFill>
                    <a:schemeClr val="dk1"/>
                  </a:solidFill>
                  <a:latin typeface="+mn-lt"/>
                  <a:ea typeface="+mn-ea"/>
                  <a:cs typeface="+mn-cs"/>
                </a:rPr>
                <a:t>26,876 regulation judgments, 15,049 compliance-plan items.</a:t>
              </a:r>
            </a:p>
          </p:txBody>
        </p:sp>
      </p:grpSp>
      <p:grpSp>
        <p:nvGrpSpPr>
          <p:cNvPr id="31" name="row-reviews"/>
          <p:cNvGrpSpPr/>
          <p:nvPr/>
        </p:nvGrpSpPr>
        <p:grpSpPr>
          <a:xfrm>
            <a:off x="600456" y="5395912"/>
            <a:ext cx="10981944" cy="743522"/>
            <a:chOff x="600456" y="5395912"/>
            <a:chExt cx="10981944" cy="743522"/>
          </a:xfrm>
        </p:grpSpPr>
        <p:sp>
          <p:nvSpPr>
            <p:cNvPr id="27" name="Line 27"/>
            <p:cNvSpPr/>
            <p:nvPr/>
          </p:nvSpPr>
          <p:spPr>
            <a:xfrm>
              <a:off x="609600" y="53959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8" name="TextBox 28"/>
            <p:cNvSpPr txBox="1"/>
            <p:nvPr/>
          </p:nvSpPr>
          <p:spPr>
            <a:xfrm>
              <a:off x="600456" y="5501640"/>
              <a:ext cx="856763"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Reviews</a:t>
              </a:r>
            </a:p>
          </p:txBody>
        </p:sp>
        <p:sp>
          <p:nvSpPr>
            <p:cNvPr id="29" name="TextBox 29"/>
            <p:cNvSpPr txBox="1"/>
            <p:nvPr/>
          </p:nvSpPr>
          <p:spPr>
            <a:xfrm>
              <a:off x="602742" y="579786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CCARE-34</a:t>
              </a:r>
            </a:p>
          </p:txBody>
        </p:sp>
        <p:sp>
          <p:nvSpPr>
            <p:cNvPr id="30" name="TextBox 30"/>
            <p:cNvSpPr txBox="1"/>
            <p:nvPr/>
          </p:nvSpPr>
          <p:spPr>
            <a:xfrm>
              <a:off x="3457956" y="5501640"/>
              <a:ext cx="608425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Six pull requests merged; reviewed the parser with a national run</a:t>
              </a:r>
              <a:br/>
              <a:r>
                <a:rPr lang="en-IE" sz="1800">
                  <a:solidFill>
                    <a:schemeClr val="dk1"/>
                  </a:solidFill>
                  <a:latin typeface="+mn-lt"/>
                  <a:ea typeface="+mn-ea"/>
                  <a:cs typeface="+mn-cs"/>
                </a:rPr>
                <a:t>before it merged.</a:t>
              </a:r>
            </a:p>
          </p:txBody>
        </p:sp>
      </p:grpSp>
      <p:sp>
        <p:nvSpPr>
          <p:cNvPr id="32" name="TextBox 32"/>
          <p:cNvSpPr txBox="1"/>
          <p:nvPr/>
        </p:nvSpPr>
        <p:spPr>
          <a:xfrm>
            <a:off x="10031163" y="6480810"/>
            <a:ext cx="15573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2728940" cy="264033"/>
            <a:chOff x="602742" y="587692"/>
            <a:chExt cx="2728940" cy="264033"/>
          </a:xfrm>
        </p:grpSpPr>
        <p:sp>
          <p:nvSpPr>
            <p:cNvPr id="2" name="TextBox 2"/>
            <p:cNvSpPr txBox="1"/>
            <p:nvPr/>
          </p:nvSpPr>
          <p:spPr>
            <a:xfrm>
              <a:off x="602742" y="587692"/>
              <a:ext cx="2728940"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Likun · what happens after a finding</a:t>
              </a:r>
            </a:p>
          </p:txBody>
        </p:sp>
      </p:grpSp>
      <p:grpSp>
        <p:nvGrpSpPr>
          <p:cNvPr id="7" name="page-title"/>
          <p:cNvGrpSpPr/>
          <p:nvPr/>
        </p:nvGrpSpPr>
        <p:grpSpPr>
          <a:xfrm>
            <a:off x="593598" y="879158"/>
            <a:ext cx="10988802" cy="616077"/>
            <a:chOff x="593598" y="879158"/>
            <a:chExt cx="10988802" cy="616077"/>
          </a:xfrm>
        </p:grpSpPr>
        <p:sp>
          <p:nvSpPr>
            <p:cNvPr id="4" name="TextBox 4"/>
            <p:cNvSpPr txBox="1"/>
            <p:nvPr/>
          </p:nvSpPr>
          <p:spPr>
            <a:xfrm>
              <a:off x="593598" y="879158"/>
              <a:ext cx="9202971"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Likun: first numbers for the research question</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9" name="data-scope"/>
          <p:cNvGrpSpPr/>
          <p:nvPr/>
        </p:nvGrpSpPr>
        <p:grpSpPr>
          <a:xfrm>
            <a:off x="598932" y="1678305"/>
            <a:ext cx="8706592" cy="410718"/>
            <a:chOff x="598932" y="1678305"/>
            <a:chExt cx="8706592" cy="410718"/>
          </a:xfrm>
        </p:grpSpPr>
        <p:sp>
          <p:nvSpPr>
            <p:cNvPr id="8" name="TextBox 8"/>
            <p:cNvSpPr txBox="1"/>
            <p:nvPr/>
          </p:nvSpPr>
          <p:spPr>
            <a:xfrm>
              <a:off x="598932" y="1678305"/>
              <a:ext cx="8706592" cy="410718"/>
            </a:xfrm>
            <a:prstGeom prst="rect">
              <a:avLst/>
            </a:prstGeom>
            <a:noFill/>
            <a:ln>
              <a:noFill/>
            </a:ln>
          </p:spPr>
          <p:txBody>
            <a:bodyPr wrap="none" lIns="0" tIns="0" rIns="0" bIns="0" anchor="t" anchorCtr="0">
              <a:spAutoFit/>
            </a:bodyPr>
            <a:lstStyle/>
            <a:p>
              <a:pPr algn="l"/>
              <a:r>
                <a:rPr lang="en-IE" sz="2100" b="1">
                  <a:solidFill>
                    <a:schemeClr val="accent1"/>
                  </a:solidFill>
                  <a:latin typeface="+mn-lt"/>
                  <a:ea typeface="+mn-ea"/>
                  <a:cs typeface="+mn-cs"/>
                </a:rPr>
                <a:t>Dublin,</a:t>
              </a:r>
              <a:r>
                <a:rPr lang="en-IE" sz="2100">
                  <a:solidFill>
                    <a:schemeClr val="dk1"/>
                  </a:solidFill>
                  <a:latin typeface="+mn-lt"/>
                  <a:ea typeface="+mn-ea"/>
                  <a:cs typeface="+mn-cs"/>
                </a:rPr>
                <a:t> 399 standard reports, 103 centres, 296 consecutive inspection pairs</a:t>
              </a:r>
            </a:p>
          </p:txBody>
        </p:sp>
      </p:grpSp>
      <p:grpSp>
        <p:nvGrpSpPr>
          <p:cNvPr id="28" name="transition-table"/>
          <p:cNvGrpSpPr/>
          <p:nvPr/>
        </p:nvGrpSpPr>
        <p:grpSpPr>
          <a:xfrm>
            <a:off x="609600" y="2133600"/>
            <a:ext cx="10972800" cy="1728787"/>
            <a:chOff x="609600" y="2133600"/>
            <a:chExt cx="10972800" cy="1728787"/>
          </a:xfrm>
        </p:grpSpPr>
        <p:sp>
          <p:nvSpPr>
            <p:cNvPr id="10" name="Rectangle 10"/>
            <p:cNvSpPr/>
            <p:nvPr/>
          </p:nvSpPr>
          <p:spPr>
            <a:xfrm>
              <a:off x="609600" y="2133600"/>
              <a:ext cx="10972800" cy="495300"/>
            </a:xfrm>
            <a:prstGeom prst="rect">
              <a:avLst/>
            </a:prstGeom>
            <a:solidFill>
              <a:schemeClr val="lt2"/>
            </a:solidFill>
            <a:ln>
              <a:noFill/>
            </a:ln>
          </p:spPr>
        </p:sp>
        <p:grpSp>
          <p:nvGrpSpPr>
            <p:cNvPr id="13" name="Group 13"/>
            <p:cNvGrpSpPr/>
            <p:nvPr/>
          </p:nvGrpSpPr>
          <p:grpSpPr>
            <a:xfrm>
              <a:off x="609600" y="3243262"/>
              <a:ext cx="10972800" cy="619125"/>
              <a:chOff x="609600" y="3243262"/>
              <a:chExt cx="10972800" cy="619125"/>
            </a:xfrm>
          </p:grpSpPr>
          <p:sp>
            <p:nvSpPr>
              <p:cNvPr id="11" name="Line 11"/>
              <p:cNvSpPr/>
              <p:nvPr/>
            </p:nvSpPr>
            <p:spPr>
              <a:xfrm>
                <a:off x="609600" y="32432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3852862"/>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8" name="Group 18"/>
            <p:cNvGrpSpPr/>
            <p:nvPr/>
          </p:nvGrpSpPr>
          <p:grpSpPr>
            <a:xfrm>
              <a:off x="754380" y="2286000"/>
              <a:ext cx="10683240" cy="293370"/>
              <a:chOff x="754380" y="2286000"/>
              <a:chExt cx="10683240" cy="293370"/>
            </a:xfrm>
          </p:grpSpPr>
          <p:sp>
            <p:nvSpPr>
              <p:cNvPr id="14" name="TextBox 14"/>
              <p:cNvSpPr txBox="1"/>
              <p:nvPr/>
            </p:nvSpPr>
            <p:spPr>
              <a:xfrm>
                <a:off x="754380" y="2286000"/>
                <a:ext cx="3742520" cy="293370"/>
              </a:xfrm>
              <a:prstGeom prst="rect">
                <a:avLst/>
              </a:prstGeom>
              <a:noFill/>
              <a:ln>
                <a:noFill/>
              </a:ln>
            </p:spPr>
            <p:txBody>
              <a:bodyPr wrap="none" lIns="0" tIns="0" rIns="0" bIns="0" anchor="t" anchorCtr="0">
                <a:spAutoFit/>
              </a:bodyPr>
              <a:lstStyle/>
              <a:p>
                <a:pPr algn="l"/>
                <a:r>
                  <a:rPr lang="en-IE" sz="1500" b="1">
                    <a:solidFill>
                      <a:schemeClr val="accent1"/>
                    </a:solidFill>
                    <a:latin typeface="+mn-lt"/>
                    <a:ea typeface="+mn-ea"/>
                    <a:cs typeface="+mn-cs"/>
                  </a:rPr>
                  <a:t>At the next inspection, a regulation judged…</a:t>
                </a:r>
              </a:p>
            </p:txBody>
          </p:sp>
          <p:sp>
            <p:nvSpPr>
              <p:cNvPr id="15" name="TextBox 15"/>
              <p:cNvSpPr txBox="1"/>
              <p:nvPr/>
            </p:nvSpPr>
            <p:spPr>
              <a:xfrm>
                <a:off x="6208227" y="2286000"/>
                <a:ext cx="885993" cy="293370"/>
              </a:xfrm>
              <a:prstGeom prst="rect">
                <a:avLst/>
              </a:prstGeom>
              <a:noFill/>
              <a:ln>
                <a:noFill/>
              </a:ln>
            </p:spPr>
            <p:txBody>
              <a:bodyPr wrap="none" lIns="0" tIns="0" rIns="0" bIns="0" anchor="t" anchorCtr="0">
                <a:spAutoFit/>
              </a:bodyPr>
              <a:lstStyle/>
              <a:p>
                <a:pPr algn="r"/>
                <a:r>
                  <a:rPr lang="en-IE" sz="1500" b="1">
                    <a:solidFill>
                      <a:schemeClr val="accent1"/>
                    </a:solidFill>
                    <a:latin typeface="+mn-lt"/>
                    <a:ea typeface="+mn-ea"/>
                    <a:cs typeface="+mn-cs"/>
                  </a:rPr>
                  <a:t>Compliant</a:t>
                </a:r>
              </a:p>
            </p:txBody>
          </p:sp>
          <p:sp>
            <p:nvSpPr>
              <p:cNvPr id="16" name="TextBox 16"/>
              <p:cNvSpPr txBox="1"/>
              <p:nvPr/>
            </p:nvSpPr>
            <p:spPr>
              <a:xfrm>
                <a:off x="8516389" y="2286000"/>
                <a:ext cx="482831" cy="293370"/>
              </a:xfrm>
              <a:prstGeom prst="rect">
                <a:avLst/>
              </a:prstGeom>
              <a:noFill/>
              <a:ln>
                <a:noFill/>
              </a:ln>
            </p:spPr>
            <p:txBody>
              <a:bodyPr wrap="none" lIns="0" tIns="0" rIns="0" bIns="0" anchor="t" anchorCtr="0">
                <a:spAutoFit/>
              </a:bodyPr>
              <a:lstStyle/>
              <a:p>
                <a:pPr algn="r"/>
                <a:r>
                  <a:rPr lang="en-IE" sz="1500" b="1">
                    <a:solidFill>
                      <a:schemeClr val="accent1"/>
                    </a:solidFill>
                    <a:latin typeface="+mn-lt"/>
                    <a:ea typeface="+mn-ea"/>
                    <a:cs typeface="+mn-cs"/>
                  </a:rPr>
                  <a:t>Same</a:t>
                </a:r>
              </a:p>
            </p:txBody>
          </p:sp>
          <p:sp>
            <p:nvSpPr>
              <p:cNvPr id="17" name="TextBox 17"/>
              <p:cNvSpPr txBox="1"/>
              <p:nvPr/>
            </p:nvSpPr>
            <p:spPr>
              <a:xfrm>
                <a:off x="10168883" y="2286000"/>
                <a:ext cx="1268737" cy="293370"/>
              </a:xfrm>
              <a:prstGeom prst="rect">
                <a:avLst/>
              </a:prstGeom>
              <a:noFill/>
              <a:ln>
                <a:noFill/>
              </a:ln>
            </p:spPr>
            <p:txBody>
              <a:bodyPr wrap="none" lIns="0" tIns="0" rIns="0" bIns="0" anchor="t" anchorCtr="0">
                <a:spAutoFit/>
              </a:bodyPr>
              <a:lstStyle/>
              <a:p>
                <a:pPr algn="r"/>
                <a:r>
                  <a:rPr lang="en-IE" sz="1500" b="1">
                    <a:solidFill>
                      <a:schemeClr val="accent1"/>
                    </a:solidFill>
                    <a:latin typeface="+mn-lt"/>
                    <a:ea typeface="+mn-ea"/>
                    <a:cs typeface="+mn-cs"/>
                  </a:rPr>
                  <a:t>Worse / better</a:t>
                </a:r>
              </a:p>
            </p:txBody>
          </p:sp>
        </p:grpSp>
        <p:grpSp>
          <p:nvGrpSpPr>
            <p:cNvPr id="27" name="Group 27"/>
            <p:cNvGrpSpPr/>
            <p:nvPr/>
          </p:nvGrpSpPr>
          <p:grpSpPr>
            <a:xfrm>
              <a:off x="752856" y="2815590"/>
              <a:ext cx="10686288" cy="961644"/>
              <a:chOff x="752856" y="2815590"/>
              <a:chExt cx="10686288" cy="961644"/>
            </a:xfrm>
          </p:grpSpPr>
          <p:sp>
            <p:nvSpPr>
              <p:cNvPr id="19" name="TextBox 19"/>
              <p:cNvSpPr txBox="1"/>
              <p:nvPr/>
            </p:nvSpPr>
            <p:spPr>
              <a:xfrm>
                <a:off x="752856" y="2815590"/>
                <a:ext cx="2392560" cy="352044"/>
              </a:xfrm>
              <a:prstGeom prst="rect">
                <a:avLst/>
              </a:prstGeom>
              <a:noFill/>
              <a:ln>
                <a:noFill/>
              </a:ln>
            </p:spPr>
            <p:txBody>
              <a:bodyPr wrap="none" lIns="0" tIns="0" rIns="0" bIns="0" anchor="t" anchorCtr="0">
                <a:spAutoFit/>
              </a:bodyPr>
              <a:lstStyle/>
              <a:p>
                <a:pPr algn="l"/>
                <a:r>
                  <a:rPr lang="en-IE" sz="1800" b="1">
                    <a:solidFill>
                      <a:schemeClr val="dk1"/>
                    </a:solidFill>
                    <a:latin typeface="+mn-lt"/>
                    <a:ea typeface="+mn-ea"/>
                    <a:cs typeface="+mn-cs"/>
                  </a:rPr>
                  <a:t>Substantially compliant</a:t>
                </a:r>
              </a:p>
            </p:txBody>
          </p:sp>
          <p:sp>
            <p:nvSpPr>
              <p:cNvPr id="20" name="TextBox 20"/>
              <p:cNvSpPr txBox="1"/>
              <p:nvPr/>
            </p:nvSpPr>
            <p:spPr>
              <a:xfrm>
                <a:off x="6658637" y="2815590"/>
                <a:ext cx="437107" cy="352044"/>
              </a:xfrm>
              <a:prstGeom prst="rect">
                <a:avLst/>
              </a:prstGeom>
              <a:noFill/>
              <a:ln>
                <a:noFill/>
              </a:ln>
            </p:spPr>
            <p:txBody>
              <a:bodyPr wrap="none" lIns="0" tIns="0" rIns="0" bIns="0" anchor="t" anchorCtr="0">
                <a:spAutoFit/>
              </a:bodyPr>
              <a:lstStyle/>
              <a:p>
                <a:pPr algn="r"/>
                <a:r>
                  <a:rPr lang="en-IE" sz="1800">
                    <a:solidFill>
                      <a:schemeClr val="dk1"/>
                    </a:solidFill>
                    <a:latin typeface="+mn-lt"/>
                    <a:ea typeface="+mn-ea"/>
                    <a:cs typeface="+mn-cs"/>
                  </a:rPr>
                  <a:t>46%</a:t>
                </a:r>
              </a:p>
            </p:txBody>
          </p:sp>
          <p:sp>
            <p:nvSpPr>
              <p:cNvPr id="21" name="TextBox 21"/>
              <p:cNvSpPr txBox="1"/>
              <p:nvPr/>
            </p:nvSpPr>
            <p:spPr>
              <a:xfrm>
                <a:off x="8563637" y="2815590"/>
                <a:ext cx="437107" cy="352044"/>
              </a:xfrm>
              <a:prstGeom prst="rect">
                <a:avLst/>
              </a:prstGeom>
              <a:noFill/>
              <a:ln>
                <a:noFill/>
              </a:ln>
            </p:spPr>
            <p:txBody>
              <a:bodyPr wrap="none" lIns="0" tIns="0" rIns="0" bIns="0" anchor="t" anchorCtr="0">
                <a:spAutoFit/>
              </a:bodyPr>
              <a:lstStyle/>
              <a:p>
                <a:pPr algn="r"/>
                <a:r>
                  <a:rPr lang="en-IE" sz="1800">
                    <a:solidFill>
                      <a:schemeClr val="dk1"/>
                    </a:solidFill>
                    <a:latin typeface="+mn-lt"/>
                    <a:ea typeface="+mn-ea"/>
                    <a:cs typeface="+mn-cs"/>
                  </a:rPr>
                  <a:t>39%</a:t>
                </a:r>
              </a:p>
            </p:txBody>
          </p:sp>
          <p:sp>
            <p:nvSpPr>
              <p:cNvPr id="22" name="TextBox 22"/>
              <p:cNvSpPr txBox="1"/>
              <p:nvPr/>
            </p:nvSpPr>
            <p:spPr>
              <a:xfrm>
                <a:off x="10346451" y="2815590"/>
                <a:ext cx="1092693" cy="352044"/>
              </a:xfrm>
              <a:prstGeom prst="rect">
                <a:avLst/>
              </a:prstGeom>
              <a:noFill/>
              <a:ln>
                <a:noFill/>
              </a:ln>
            </p:spPr>
            <p:txBody>
              <a:bodyPr wrap="none" lIns="0" tIns="0" rIns="0" bIns="0" anchor="t" anchorCtr="0">
                <a:spAutoFit/>
              </a:bodyPr>
              <a:lstStyle/>
              <a:p>
                <a:pPr algn="r"/>
                <a:r>
                  <a:rPr lang="en-IE" sz="1800">
                    <a:solidFill>
                      <a:schemeClr val="dk1"/>
                    </a:solidFill>
                    <a:latin typeface="+mn-lt"/>
                    <a:ea typeface="+mn-ea"/>
                    <a:cs typeface="+mn-cs"/>
                  </a:rPr>
                  <a:t>15% worse</a:t>
                </a:r>
              </a:p>
            </p:txBody>
          </p:sp>
          <p:sp>
            <p:nvSpPr>
              <p:cNvPr id="23" name="TextBox 23"/>
              <p:cNvSpPr txBox="1"/>
              <p:nvPr/>
            </p:nvSpPr>
            <p:spPr>
              <a:xfrm>
                <a:off x="752856" y="3425190"/>
                <a:ext cx="1465287" cy="352044"/>
              </a:xfrm>
              <a:prstGeom prst="rect">
                <a:avLst/>
              </a:prstGeom>
              <a:noFill/>
              <a:ln>
                <a:noFill/>
              </a:ln>
            </p:spPr>
            <p:txBody>
              <a:bodyPr wrap="none" lIns="0" tIns="0" rIns="0" bIns="0" anchor="t" anchorCtr="0">
                <a:spAutoFit/>
              </a:bodyPr>
              <a:lstStyle/>
              <a:p>
                <a:pPr algn="l"/>
                <a:r>
                  <a:rPr lang="en-IE" sz="1800" b="1">
                    <a:solidFill>
                      <a:schemeClr val="dk1"/>
                    </a:solidFill>
                    <a:latin typeface="+mn-lt"/>
                    <a:ea typeface="+mn-ea"/>
                    <a:cs typeface="+mn-cs"/>
                  </a:rPr>
                  <a:t>Not compliant</a:t>
                </a:r>
              </a:p>
            </p:txBody>
          </p:sp>
          <p:sp>
            <p:nvSpPr>
              <p:cNvPr id="24" name="TextBox 24"/>
              <p:cNvSpPr txBox="1"/>
              <p:nvPr/>
            </p:nvSpPr>
            <p:spPr>
              <a:xfrm>
                <a:off x="6658637" y="3425190"/>
                <a:ext cx="437107" cy="352044"/>
              </a:xfrm>
              <a:prstGeom prst="rect">
                <a:avLst/>
              </a:prstGeom>
              <a:noFill/>
              <a:ln>
                <a:noFill/>
              </a:ln>
            </p:spPr>
            <p:txBody>
              <a:bodyPr wrap="none" lIns="0" tIns="0" rIns="0" bIns="0" anchor="t" anchorCtr="0">
                <a:spAutoFit/>
              </a:bodyPr>
              <a:lstStyle/>
              <a:p>
                <a:pPr algn="r"/>
                <a:r>
                  <a:rPr lang="en-IE" sz="1800">
                    <a:solidFill>
                      <a:schemeClr val="dk1"/>
                    </a:solidFill>
                    <a:latin typeface="+mn-lt"/>
                    <a:ea typeface="+mn-ea"/>
                    <a:cs typeface="+mn-cs"/>
                  </a:rPr>
                  <a:t>33%</a:t>
                </a:r>
              </a:p>
            </p:txBody>
          </p:sp>
          <p:sp>
            <p:nvSpPr>
              <p:cNvPr id="25" name="TextBox 25"/>
              <p:cNvSpPr txBox="1"/>
              <p:nvPr/>
            </p:nvSpPr>
            <p:spPr>
              <a:xfrm>
                <a:off x="8560196" y="3425190"/>
                <a:ext cx="440548" cy="352044"/>
              </a:xfrm>
              <a:prstGeom prst="rect">
                <a:avLst/>
              </a:prstGeom>
              <a:noFill/>
              <a:ln>
                <a:noFill/>
              </a:ln>
            </p:spPr>
            <p:txBody>
              <a:bodyPr wrap="none" lIns="0" tIns="0" rIns="0" bIns="0" anchor="t" anchorCtr="0">
                <a:spAutoFit/>
              </a:bodyPr>
              <a:lstStyle/>
              <a:p>
                <a:pPr algn="r"/>
                <a:r>
                  <a:rPr lang="en-IE" sz="1800" b="1">
                    <a:solidFill>
                      <a:schemeClr val="accent2"/>
                    </a:solidFill>
                    <a:latin typeface="+mn-lt"/>
                    <a:ea typeface="+mn-ea"/>
                    <a:cs typeface="+mn-cs"/>
                  </a:rPr>
                  <a:t>36%</a:t>
                </a:r>
              </a:p>
            </p:txBody>
          </p:sp>
          <p:sp>
            <p:nvSpPr>
              <p:cNvPr id="26" name="TextBox 26"/>
              <p:cNvSpPr txBox="1"/>
              <p:nvPr/>
            </p:nvSpPr>
            <p:spPr>
              <a:xfrm>
                <a:off x="10331961" y="3425190"/>
                <a:ext cx="1107183" cy="352044"/>
              </a:xfrm>
              <a:prstGeom prst="rect">
                <a:avLst/>
              </a:prstGeom>
              <a:noFill/>
              <a:ln>
                <a:noFill/>
              </a:ln>
            </p:spPr>
            <p:txBody>
              <a:bodyPr wrap="none" lIns="0" tIns="0" rIns="0" bIns="0" anchor="t" anchorCtr="0">
                <a:spAutoFit/>
              </a:bodyPr>
              <a:lstStyle/>
              <a:p>
                <a:pPr algn="r"/>
                <a:r>
                  <a:rPr lang="en-IE" sz="1800">
                    <a:solidFill>
                      <a:schemeClr val="dk1"/>
                    </a:solidFill>
                    <a:latin typeface="+mn-lt"/>
                    <a:ea typeface="+mn-ea"/>
                    <a:cs typeface="+mn-cs"/>
                  </a:rPr>
                  <a:t>32% better</a:t>
                </a:r>
              </a:p>
            </p:txBody>
          </p:sp>
        </p:grpSp>
      </p:grpSp>
      <p:grpSp>
        <p:nvGrpSpPr>
          <p:cNvPr id="31" name="row-repeat-rates"/>
          <p:cNvGrpSpPr/>
          <p:nvPr/>
        </p:nvGrpSpPr>
        <p:grpSpPr>
          <a:xfrm>
            <a:off x="600456" y="4149090"/>
            <a:ext cx="7465710" cy="923544"/>
            <a:chOff x="600456" y="4149090"/>
            <a:chExt cx="7465710" cy="923544"/>
          </a:xfrm>
        </p:grpSpPr>
        <p:sp>
          <p:nvSpPr>
            <p:cNvPr id="29" name="TextBox 29"/>
            <p:cNvSpPr txBox="1"/>
            <p:nvPr/>
          </p:nvSpPr>
          <p:spPr>
            <a:xfrm>
              <a:off x="600456" y="4149090"/>
              <a:ext cx="2066439"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Highest repeat rates</a:t>
              </a:r>
            </a:p>
          </p:txBody>
        </p:sp>
        <p:sp>
          <p:nvSpPr>
            <p:cNvPr id="30" name="TextBox 30"/>
            <p:cNvSpPr txBox="1"/>
            <p:nvPr/>
          </p:nvSpPr>
          <p:spPr>
            <a:xfrm>
              <a:off x="3457956" y="4149090"/>
              <a:ext cx="4608210" cy="92354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Regulation 17 Premises 84%</a:t>
              </a:r>
              <a:br/>
              <a:r>
                <a:rPr lang="en-IE" sz="1800">
                  <a:solidFill>
                    <a:schemeClr val="dk1"/>
                  </a:solidFill>
                  <a:latin typeface="+mn-lt"/>
                  <a:ea typeface="+mn-ea"/>
                  <a:cs typeface="+mn-cs"/>
                </a:rPr>
                <a:t>Regulation 23 Governance and management 81%</a:t>
              </a:r>
              <a:br/>
              <a:r>
                <a:rPr lang="en-IE" sz="1800">
                  <a:solidFill>
                    <a:schemeClr val="dk1"/>
                  </a:solidFill>
                  <a:latin typeface="+mn-lt"/>
                  <a:ea typeface="+mn-ea"/>
                  <a:cs typeface="+mn-cs"/>
                </a:rPr>
                <a:t>Regulation 28 Fire precautions 77%</a:t>
              </a:r>
            </a:p>
          </p:txBody>
        </p:sp>
      </p:grpSp>
      <p:grpSp>
        <p:nvGrpSpPr>
          <p:cNvPr id="35" name="row-median-gap"/>
          <p:cNvGrpSpPr/>
          <p:nvPr/>
        </p:nvGrpSpPr>
        <p:grpSpPr>
          <a:xfrm>
            <a:off x="600456" y="5148262"/>
            <a:ext cx="10981944" cy="457772"/>
            <a:chOff x="600456" y="5148262"/>
            <a:chExt cx="10981944" cy="457772"/>
          </a:xfrm>
        </p:grpSpPr>
        <p:sp>
          <p:nvSpPr>
            <p:cNvPr id="32" name="Line 32"/>
            <p:cNvSpPr/>
            <p:nvPr/>
          </p:nvSpPr>
          <p:spPr>
            <a:xfrm>
              <a:off x="609600" y="51482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3" name="TextBox 33"/>
            <p:cNvSpPr txBox="1"/>
            <p:nvPr/>
          </p:nvSpPr>
          <p:spPr>
            <a:xfrm>
              <a:off x="600456" y="5253990"/>
              <a:ext cx="1218078"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Median gap</a:t>
              </a:r>
            </a:p>
          </p:txBody>
        </p:sp>
        <p:sp>
          <p:nvSpPr>
            <p:cNvPr id="34" name="TextBox 34"/>
            <p:cNvSpPr txBox="1"/>
            <p:nvPr/>
          </p:nvSpPr>
          <p:spPr>
            <a:xfrm>
              <a:off x="3457956" y="5253990"/>
              <a:ext cx="3045493"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268 days between inspections.</a:t>
              </a:r>
            </a:p>
          </p:txBody>
        </p:sp>
      </p:grpSp>
      <p:grpSp>
        <p:nvGrpSpPr>
          <p:cNvPr id="39" name="row-next"/>
          <p:cNvGrpSpPr/>
          <p:nvPr/>
        </p:nvGrpSpPr>
        <p:grpSpPr>
          <a:xfrm>
            <a:off x="600456" y="5681662"/>
            <a:ext cx="10981944" cy="457772"/>
            <a:chOff x="600456" y="5681662"/>
            <a:chExt cx="10981944" cy="457772"/>
          </a:xfrm>
        </p:grpSpPr>
        <p:sp>
          <p:nvSpPr>
            <p:cNvPr id="36" name="Line 36"/>
            <p:cNvSpPr/>
            <p:nvPr/>
          </p:nvSpPr>
          <p:spPr>
            <a:xfrm>
              <a:off x="609600" y="56816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600456" y="5787390"/>
              <a:ext cx="501988"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Next</a:t>
              </a:r>
            </a:p>
          </p:txBody>
        </p:sp>
        <p:sp>
          <p:nvSpPr>
            <p:cNvPr id="38" name="TextBox 38"/>
            <p:cNvSpPr txBox="1"/>
            <p:nvPr/>
          </p:nvSpPr>
          <p:spPr>
            <a:xfrm>
              <a:off x="3457956" y="5787390"/>
              <a:ext cx="5742426"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National numbers, now that everything is in the database.</a:t>
              </a:r>
            </a:p>
          </p:txBody>
        </p:sp>
      </p:grpSp>
      <p:sp>
        <p:nvSpPr>
          <p:cNvPr id="40" name="TextBox 40"/>
          <p:cNvSpPr txBox="1"/>
          <p:nvPr/>
        </p:nvSpPr>
        <p:spPr>
          <a:xfrm>
            <a:off x="10031163" y="6480810"/>
            <a:ext cx="15573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05</a:t>
            </a:r>
          </a:p>
        </p:txBody>
      </p:sp>
      <p:pic>
        <p:nvPicPr>
          <p:cNvPr id="41" name="Picture 40">
            <a:extLst>
              <a:ext uri="{FF2B5EF4-FFF2-40B4-BE49-F238E27FC236}">
                <a16:creationId xmlns:a16="http://schemas.microsoft.com/office/drawing/2014/main" id="{25B13B6B-1604-3869-D104-704D20D36894}"/>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2329429" cy="264033"/>
            <a:chOff x="602742" y="587692"/>
            <a:chExt cx="2329429" cy="264033"/>
          </a:xfrm>
        </p:grpSpPr>
        <p:sp>
          <p:nvSpPr>
            <p:cNvPr id="2" name="TextBox 2"/>
            <p:cNvSpPr txBox="1"/>
            <p:nvPr/>
          </p:nvSpPr>
          <p:spPr>
            <a:xfrm>
              <a:off x="602742" y="587692"/>
              <a:ext cx="2329429"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Niwash · parser, database, API</a:t>
              </a:r>
            </a:p>
          </p:txBody>
        </p:sp>
      </p:grpSp>
      <p:grpSp>
        <p:nvGrpSpPr>
          <p:cNvPr id="7" name="page-title"/>
          <p:cNvGrpSpPr/>
          <p:nvPr/>
        </p:nvGrpSpPr>
        <p:grpSpPr>
          <a:xfrm>
            <a:off x="593598" y="879158"/>
            <a:ext cx="10988802" cy="568642"/>
            <a:chOff x="593598" y="879158"/>
            <a:chExt cx="10988802" cy="568642"/>
          </a:xfrm>
        </p:grpSpPr>
        <p:sp>
          <p:nvSpPr>
            <p:cNvPr id="4" name="TextBox 4"/>
            <p:cNvSpPr txBox="1"/>
            <p:nvPr/>
          </p:nvSpPr>
          <p:spPr>
            <a:xfrm>
              <a:off x="593598" y="879158"/>
              <a:ext cx="6957033" cy="484748"/>
            </a:xfrm>
            <a:prstGeom prst="rect">
              <a:avLst/>
            </a:prstGeom>
            <a:noFill/>
            <a:ln>
              <a:noFill/>
            </a:ln>
          </p:spPr>
          <p:txBody>
            <a:bodyPr wrap="none" lIns="0" tIns="0" rIns="0" bIns="0" anchor="t" anchorCtr="0">
              <a:spAutoFit/>
            </a:bodyPr>
            <a:lstStyle/>
            <a:p>
              <a:pPr algn="l"/>
              <a:r>
                <a:rPr lang="en-IE" sz="3150" err="1">
                  <a:solidFill>
                    <a:schemeClr val="accent1"/>
                  </a:solidFill>
                  <a:latin typeface="+mj-lt"/>
                  <a:ea typeface="+mj-ea"/>
                  <a:cs typeface="+mj-cs"/>
                </a:rPr>
                <a:t>Niwash</a:t>
              </a:r>
              <a:r>
                <a:rPr lang="en-IE" sz="3150">
                  <a:solidFill>
                    <a:schemeClr val="accent1"/>
                  </a:solidFill>
                  <a:latin typeface="+mj-lt"/>
                  <a:ea typeface="+mj-ea"/>
                  <a:cs typeface="+mj-cs"/>
                </a:rPr>
                <a:t>: Parsing the reports end to end</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10" name="row-parser"/>
          <p:cNvGrpSpPr/>
          <p:nvPr/>
        </p:nvGrpSpPr>
        <p:grpSpPr>
          <a:xfrm>
            <a:off x="600456" y="1786890"/>
            <a:ext cx="9685531" cy="923544"/>
            <a:chOff x="600456" y="1786890"/>
            <a:chExt cx="9685531" cy="923544"/>
          </a:xfrm>
        </p:grpSpPr>
        <p:sp>
          <p:nvSpPr>
            <p:cNvPr id="8" name="TextBox 8"/>
            <p:cNvSpPr txBox="1"/>
            <p:nvPr/>
          </p:nvSpPr>
          <p:spPr>
            <a:xfrm>
              <a:off x="600456" y="1786890"/>
              <a:ext cx="663842"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Parser</a:t>
              </a:r>
            </a:p>
          </p:txBody>
        </p:sp>
        <p:sp>
          <p:nvSpPr>
            <p:cNvPr id="9" name="TextBox 9"/>
            <p:cNvSpPr txBox="1"/>
            <p:nvPr/>
          </p:nvSpPr>
          <p:spPr>
            <a:xfrm>
              <a:off x="3457956" y="1786890"/>
              <a:ext cx="6828031" cy="92354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Section-aware: cover fields, inspectors, each regulation with its judgment</a:t>
              </a:r>
              <a:br/>
              <a:r>
                <a:rPr lang="en-IE" sz="1800">
                  <a:solidFill>
                    <a:schemeClr val="dk1"/>
                  </a:solidFill>
                  <a:latin typeface="+mn-lt"/>
                  <a:ea typeface="+mn-ea"/>
                  <a:cs typeface="+mn-cs"/>
                </a:rPr>
                <a:t>(Appendix 1), the compliance plan (Section 2). Handles page breaks and</a:t>
              </a:r>
              <a:br/>
              <a:r>
                <a:rPr lang="en-IE" sz="1800">
                  <a:solidFill>
                    <a:schemeClr val="dk1"/>
                  </a:solidFill>
                  <a:latin typeface="+mn-lt"/>
                  <a:ea typeface="+mn-ea"/>
                  <a:cs typeface="+mn-cs"/>
                </a:rPr>
                <a:t>tables that run over pages.</a:t>
              </a:r>
            </a:p>
          </p:txBody>
        </p:sp>
      </p:grpSp>
      <p:grpSp>
        <p:nvGrpSpPr>
          <p:cNvPr id="14" name="row-batch-ingestion"/>
          <p:cNvGrpSpPr/>
          <p:nvPr/>
        </p:nvGrpSpPr>
        <p:grpSpPr>
          <a:xfrm>
            <a:off x="600456" y="2824162"/>
            <a:ext cx="10981944" cy="457772"/>
            <a:chOff x="600456" y="2824162"/>
            <a:chExt cx="10981944" cy="457772"/>
          </a:xfrm>
        </p:grpSpPr>
        <p:sp>
          <p:nvSpPr>
            <p:cNvPr id="11" name="Line 11"/>
            <p:cNvSpPr/>
            <p:nvPr/>
          </p:nvSpPr>
          <p:spPr>
            <a:xfrm>
              <a:off x="609600" y="28241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TextBox 12"/>
            <p:cNvSpPr txBox="1"/>
            <p:nvPr/>
          </p:nvSpPr>
          <p:spPr>
            <a:xfrm>
              <a:off x="600456" y="2929890"/>
              <a:ext cx="1577132"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Batch ingestion</a:t>
              </a:r>
            </a:p>
          </p:txBody>
        </p:sp>
        <p:sp>
          <p:nvSpPr>
            <p:cNvPr id="13" name="TextBox 13"/>
            <p:cNvSpPr txBox="1"/>
            <p:nvPr/>
          </p:nvSpPr>
          <p:spPr>
            <a:xfrm>
              <a:off x="3457956" y="2929890"/>
              <a:ext cx="5623605"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Parsed reports transformed and loaded into PostgreSQL.</a:t>
              </a:r>
            </a:p>
          </p:txBody>
        </p:sp>
      </p:grpSp>
      <p:grpSp>
        <p:nvGrpSpPr>
          <p:cNvPr id="18" name="row-migrations"/>
          <p:cNvGrpSpPr/>
          <p:nvPr/>
        </p:nvGrpSpPr>
        <p:grpSpPr>
          <a:xfrm>
            <a:off x="600456" y="3395662"/>
            <a:ext cx="10981944" cy="457772"/>
            <a:chOff x="600456" y="3395662"/>
            <a:chExt cx="10981944" cy="457772"/>
          </a:xfrm>
        </p:grpSpPr>
        <p:sp>
          <p:nvSpPr>
            <p:cNvPr id="15" name="Line 15"/>
            <p:cNvSpPr/>
            <p:nvPr/>
          </p:nvSpPr>
          <p:spPr>
            <a:xfrm>
              <a:off x="609600" y="33956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600456" y="3501390"/>
              <a:ext cx="1116905"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Migrations</a:t>
              </a:r>
            </a:p>
          </p:txBody>
        </p:sp>
        <p:sp>
          <p:nvSpPr>
            <p:cNvPr id="17" name="TextBox 17"/>
            <p:cNvSpPr txBox="1"/>
            <p:nvPr/>
          </p:nvSpPr>
          <p:spPr>
            <a:xfrm>
              <a:off x="3457956" y="3501390"/>
              <a:ext cx="4584884"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The report tables and the views the API reads.</a:t>
              </a:r>
            </a:p>
          </p:txBody>
        </p:sp>
      </p:grpSp>
      <p:grpSp>
        <p:nvGrpSpPr>
          <p:cNvPr id="23" name="row-endpoints"/>
          <p:cNvGrpSpPr/>
          <p:nvPr/>
        </p:nvGrpSpPr>
        <p:grpSpPr>
          <a:xfrm>
            <a:off x="600456" y="3967162"/>
            <a:ext cx="10981944" cy="743522"/>
            <a:chOff x="600456" y="3967162"/>
            <a:chExt cx="10981944" cy="743522"/>
          </a:xfrm>
        </p:grpSpPr>
        <p:sp>
          <p:nvSpPr>
            <p:cNvPr id="19" name="Line 19"/>
            <p:cNvSpPr/>
            <p:nvPr/>
          </p:nvSpPr>
          <p:spPr>
            <a:xfrm>
              <a:off x="609600" y="39671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600456" y="4072890"/>
              <a:ext cx="1033394"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Endpoints</a:t>
              </a:r>
            </a:p>
          </p:txBody>
        </p:sp>
        <p:sp>
          <p:nvSpPr>
            <p:cNvPr id="21" name="TextBox 21"/>
            <p:cNvSpPr txBox="1"/>
            <p:nvPr/>
          </p:nvSpPr>
          <p:spPr>
            <a:xfrm>
              <a:off x="602742" y="4369118"/>
              <a:ext cx="65" cy="207749"/>
            </a:xfrm>
            <a:prstGeom prst="rect">
              <a:avLst/>
            </a:prstGeom>
            <a:noFill/>
            <a:ln>
              <a:noFill/>
            </a:ln>
          </p:spPr>
          <p:txBody>
            <a:bodyPr wrap="none" lIns="0" tIns="0" rIns="0" bIns="0" anchor="t" anchorCtr="0">
              <a:spAutoFit/>
            </a:bodyPr>
            <a:lstStyle/>
            <a:p>
              <a:pPr algn="l"/>
              <a:endParaRPr lang="en-IE" sz="1350">
                <a:solidFill>
                  <a:schemeClr val="accent5"/>
                </a:solidFill>
                <a:latin typeface="+mn-lt"/>
                <a:ea typeface="+mn-ea"/>
                <a:cs typeface="+mn-cs"/>
              </a:endParaRPr>
            </a:p>
          </p:txBody>
        </p:sp>
        <p:sp>
          <p:nvSpPr>
            <p:cNvPr id="22" name="TextBox 22"/>
            <p:cNvSpPr txBox="1"/>
            <p:nvPr/>
          </p:nvSpPr>
          <p:spPr>
            <a:xfrm>
              <a:off x="3457956" y="4072890"/>
              <a:ext cx="6383586"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A centre’s reports, and one report in full with inspectors, regulations</a:t>
              </a:r>
              <a:br/>
              <a:r>
                <a:rPr lang="en-IE" sz="1800">
                  <a:solidFill>
                    <a:schemeClr val="dk1"/>
                  </a:solidFill>
                  <a:latin typeface="+mn-lt"/>
                  <a:ea typeface="+mn-ea"/>
                  <a:cs typeface="+mn-cs"/>
                </a:rPr>
                <a:t>and compliance items.</a:t>
              </a:r>
            </a:p>
          </p:txBody>
        </p:sp>
      </p:grpSp>
      <p:grpSp>
        <p:nvGrpSpPr>
          <p:cNvPr id="27" name="row-coverage"/>
          <p:cNvGrpSpPr/>
          <p:nvPr/>
        </p:nvGrpSpPr>
        <p:grpSpPr>
          <a:xfrm>
            <a:off x="600456" y="4824412"/>
            <a:ext cx="10981944" cy="743522"/>
            <a:chOff x="600456" y="4824412"/>
            <a:chExt cx="10981944" cy="743522"/>
          </a:xfrm>
        </p:grpSpPr>
        <p:sp>
          <p:nvSpPr>
            <p:cNvPr id="24" name="Line 24"/>
            <p:cNvSpPr/>
            <p:nvPr/>
          </p:nvSpPr>
          <p:spPr>
            <a:xfrm>
              <a:off x="609600" y="48244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0456" y="4930140"/>
              <a:ext cx="962710"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Coverage</a:t>
              </a:r>
            </a:p>
          </p:txBody>
        </p:sp>
        <p:sp>
          <p:nvSpPr>
            <p:cNvPr id="26" name="TextBox 26"/>
            <p:cNvSpPr txBox="1"/>
            <p:nvPr/>
          </p:nvSpPr>
          <p:spPr>
            <a:xfrm>
              <a:off x="3457956" y="4930140"/>
              <a:ext cx="632380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Reads </a:t>
              </a:r>
              <a:r>
                <a:rPr lang="en-IE" sz="1800" b="1">
                  <a:solidFill>
                    <a:schemeClr val="accent2"/>
                  </a:solidFill>
                  <a:latin typeface="+mn-lt"/>
                  <a:ea typeface="+mn-ea"/>
                  <a:cs typeface="+mn-cs"/>
                </a:rPr>
                <a:t>1,969 of 2,204 reports</a:t>
              </a:r>
              <a:r>
                <a:rPr lang="en-IE" sz="1800">
                  <a:solidFill>
                    <a:schemeClr val="dk1"/>
                  </a:solidFill>
                  <a:latin typeface="+mn-lt"/>
                  <a:ea typeface="+mn-ea"/>
                  <a:cs typeface="+mn-cs"/>
                </a:rPr>
                <a:t>. The 235 it does not read are thematic</a:t>
              </a:r>
              <a:br/>
              <a:r>
                <a:rPr lang="en-IE" sz="1800">
                  <a:solidFill>
                    <a:schemeClr val="dk1"/>
                  </a:solidFill>
                  <a:latin typeface="+mn-lt"/>
                  <a:ea typeface="+mn-ea"/>
                  <a:cs typeface="+mn-cs"/>
                </a:rPr>
                <a:t>and National Standards reports, which have a different layout.</a:t>
              </a:r>
            </a:p>
          </p:txBody>
        </p:sp>
      </p:grpSp>
      <p:sp>
        <p:nvSpPr>
          <p:cNvPr id="28" name="TextBox 28"/>
          <p:cNvSpPr txBox="1"/>
          <p:nvPr/>
        </p:nvSpPr>
        <p:spPr>
          <a:xfrm>
            <a:off x="10031163" y="6480810"/>
            <a:ext cx="15573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B0247E-9D18-FA0B-49B5-8DB7F92D3729}"/>
              </a:ext>
            </a:extLst>
          </p:cNvPr>
          <p:cNvPicPr>
            <a:picLocks noChangeAspect="1"/>
          </p:cNvPicPr>
          <p:nvPr/>
        </p:nvPicPr>
        <p:blipFill>
          <a:blip r:embed="rId2"/>
          <a:stretch>
            <a:fillRect/>
          </a:stretch>
        </p:blipFill>
        <p:spPr>
          <a:xfrm>
            <a:off x="231913" y="1628936"/>
            <a:ext cx="11728174" cy="4163346"/>
          </a:xfrm>
          <a:prstGeom prst="rect">
            <a:avLst/>
          </a:prstGeom>
        </p:spPr>
      </p:pic>
      <p:grpSp>
        <p:nvGrpSpPr>
          <p:cNvPr id="8" name="kicker">
            <a:extLst>
              <a:ext uri="{FF2B5EF4-FFF2-40B4-BE49-F238E27FC236}">
                <a16:creationId xmlns:a16="http://schemas.microsoft.com/office/drawing/2014/main" id="{E312B3AC-1757-5CDB-56D4-B75A3EA5A981}"/>
              </a:ext>
            </a:extLst>
          </p:cNvPr>
          <p:cNvGrpSpPr/>
          <p:nvPr/>
        </p:nvGrpSpPr>
        <p:grpSpPr>
          <a:xfrm>
            <a:off x="569611" y="587692"/>
            <a:ext cx="2329429" cy="264033"/>
            <a:chOff x="602742" y="587692"/>
            <a:chExt cx="2329429" cy="264033"/>
          </a:xfrm>
        </p:grpSpPr>
        <p:sp>
          <p:nvSpPr>
            <p:cNvPr id="9" name="TextBox 8">
              <a:extLst>
                <a:ext uri="{FF2B5EF4-FFF2-40B4-BE49-F238E27FC236}">
                  <a16:creationId xmlns:a16="http://schemas.microsoft.com/office/drawing/2014/main" id="{E2E4BFC6-3F13-456A-864D-1E40654C405A}"/>
                </a:ext>
              </a:extLst>
            </p:cNvPr>
            <p:cNvSpPr txBox="1"/>
            <p:nvPr/>
          </p:nvSpPr>
          <p:spPr>
            <a:xfrm>
              <a:off x="602742" y="587692"/>
              <a:ext cx="2329429" cy="264033"/>
            </a:xfrm>
            <a:prstGeom prst="rect">
              <a:avLst/>
            </a:prstGeom>
            <a:noFill/>
            <a:ln>
              <a:noFill/>
            </a:ln>
          </p:spPr>
          <p:txBody>
            <a:bodyPr wrap="none" lIns="0" tIns="0" rIns="0" bIns="0" anchor="t" anchorCtr="0">
              <a:spAutoFit/>
            </a:bodyPr>
            <a:lstStyle>
              <a:defPPr>
                <a:defRPr lang="en-IE"/>
              </a:defPPr>
              <a:lvl1pPr marL="0" algn="l" defTabSz="457200" rtl="0" eaLnBrk="1" latinLnBrk="0" hangingPunct="1">
                <a:defRPr lang="en-IE" sz="1800" kern="1200">
                  <a:solidFill>
                    <a:schemeClr val="tx1"/>
                  </a:solidFill>
                  <a:latin typeface="+mn-lt"/>
                  <a:ea typeface="+mn-ea"/>
                  <a:cs typeface="+mn-cs"/>
                </a:defRPr>
              </a:lvl1pPr>
              <a:lvl2pPr marL="457200" algn="l" defTabSz="457200" rtl="0" eaLnBrk="1" latinLnBrk="0" hangingPunct="1">
                <a:defRPr lang="en-IE" sz="1800" kern="1200">
                  <a:solidFill>
                    <a:schemeClr val="tx1"/>
                  </a:solidFill>
                  <a:latin typeface="+mn-lt"/>
                  <a:ea typeface="+mn-ea"/>
                  <a:cs typeface="+mn-cs"/>
                </a:defRPr>
              </a:lvl2pPr>
              <a:lvl3pPr marL="914400" algn="l" defTabSz="457200" rtl="0" eaLnBrk="1" latinLnBrk="0" hangingPunct="1">
                <a:defRPr lang="en-IE" sz="1800" kern="1200">
                  <a:solidFill>
                    <a:schemeClr val="tx1"/>
                  </a:solidFill>
                  <a:latin typeface="+mn-lt"/>
                  <a:ea typeface="+mn-ea"/>
                  <a:cs typeface="+mn-cs"/>
                </a:defRPr>
              </a:lvl3pPr>
              <a:lvl4pPr marL="1371600" algn="l" defTabSz="457200" rtl="0" eaLnBrk="1" latinLnBrk="0" hangingPunct="1">
                <a:defRPr lang="en-IE" sz="1800" kern="1200">
                  <a:solidFill>
                    <a:schemeClr val="tx1"/>
                  </a:solidFill>
                  <a:latin typeface="+mn-lt"/>
                  <a:ea typeface="+mn-ea"/>
                  <a:cs typeface="+mn-cs"/>
                </a:defRPr>
              </a:lvl4pPr>
              <a:lvl5pPr marL="1828800" algn="l" defTabSz="457200" rtl="0" eaLnBrk="1" latinLnBrk="0" hangingPunct="1">
                <a:defRPr lang="en-IE" sz="1800" kern="1200">
                  <a:solidFill>
                    <a:schemeClr val="tx1"/>
                  </a:solidFill>
                  <a:latin typeface="+mn-lt"/>
                  <a:ea typeface="+mn-ea"/>
                  <a:cs typeface="+mn-cs"/>
                </a:defRPr>
              </a:lvl5pPr>
              <a:lvl6pPr marL="2286000" algn="l" defTabSz="457200" rtl="0" eaLnBrk="1" latinLnBrk="0" hangingPunct="1">
                <a:defRPr lang="en-IE" sz="1800" kern="1200">
                  <a:solidFill>
                    <a:schemeClr val="tx1"/>
                  </a:solidFill>
                  <a:latin typeface="+mn-lt"/>
                  <a:ea typeface="+mn-ea"/>
                  <a:cs typeface="+mn-cs"/>
                </a:defRPr>
              </a:lvl6pPr>
              <a:lvl7pPr marL="2743200" algn="l" defTabSz="457200" rtl="0" eaLnBrk="1" latinLnBrk="0" hangingPunct="1">
                <a:defRPr lang="en-IE" sz="1800" kern="1200">
                  <a:solidFill>
                    <a:schemeClr val="tx1"/>
                  </a:solidFill>
                  <a:latin typeface="+mn-lt"/>
                  <a:ea typeface="+mn-ea"/>
                  <a:cs typeface="+mn-cs"/>
                </a:defRPr>
              </a:lvl7pPr>
              <a:lvl8pPr marL="3200400" algn="l" defTabSz="457200" rtl="0" eaLnBrk="1" latinLnBrk="0" hangingPunct="1">
                <a:defRPr lang="en-IE" sz="1800" kern="1200">
                  <a:solidFill>
                    <a:schemeClr val="tx1"/>
                  </a:solidFill>
                  <a:latin typeface="+mn-lt"/>
                  <a:ea typeface="+mn-ea"/>
                  <a:cs typeface="+mn-cs"/>
                </a:defRPr>
              </a:lvl8pPr>
              <a:lvl9pPr marL="3657600" algn="l" defTabSz="457200" rtl="0" eaLnBrk="1" latinLnBrk="0" hangingPunct="1">
                <a:defRPr lang="en-IE" sz="1800" kern="1200">
                  <a:solidFill>
                    <a:schemeClr val="tx1"/>
                  </a:solidFill>
                  <a:latin typeface="+mn-lt"/>
                  <a:ea typeface="+mn-ea"/>
                  <a:cs typeface="+mn-cs"/>
                </a:defRPr>
              </a:lvl9pPr>
            </a:lstStyle>
            <a:p>
              <a:pPr algn="l"/>
              <a:r>
                <a:rPr lang="en-IE" sz="1350" b="1">
                  <a:solidFill>
                    <a:schemeClr val="accent3"/>
                  </a:solidFill>
                  <a:latin typeface="+mn-lt"/>
                  <a:ea typeface="+mn-ea"/>
                  <a:cs typeface="+mn-cs"/>
                </a:rPr>
                <a:t>Niwash · parser, database, API</a:t>
              </a:r>
            </a:p>
          </p:txBody>
        </p:sp>
      </p:grpSp>
      <p:grpSp>
        <p:nvGrpSpPr>
          <p:cNvPr id="10" name="page-title">
            <a:extLst>
              <a:ext uri="{FF2B5EF4-FFF2-40B4-BE49-F238E27FC236}">
                <a16:creationId xmlns:a16="http://schemas.microsoft.com/office/drawing/2014/main" id="{224FFD2C-4991-8C4B-9C14-778AEDB21795}"/>
              </a:ext>
            </a:extLst>
          </p:cNvPr>
          <p:cNvGrpSpPr/>
          <p:nvPr/>
        </p:nvGrpSpPr>
        <p:grpSpPr>
          <a:xfrm>
            <a:off x="560467" y="879158"/>
            <a:ext cx="10988802" cy="568642"/>
            <a:chOff x="593598" y="879158"/>
            <a:chExt cx="10988802" cy="568642"/>
          </a:xfrm>
        </p:grpSpPr>
        <p:sp>
          <p:nvSpPr>
            <p:cNvPr id="11" name="TextBox 10">
              <a:extLst>
                <a:ext uri="{FF2B5EF4-FFF2-40B4-BE49-F238E27FC236}">
                  <a16:creationId xmlns:a16="http://schemas.microsoft.com/office/drawing/2014/main" id="{F4892A21-5228-44DD-1BD9-EA0A5F4E94AE}"/>
                </a:ext>
              </a:extLst>
            </p:cNvPr>
            <p:cNvSpPr txBox="1"/>
            <p:nvPr/>
          </p:nvSpPr>
          <p:spPr>
            <a:xfrm>
              <a:off x="593598" y="879158"/>
              <a:ext cx="7428316" cy="484748"/>
            </a:xfrm>
            <a:prstGeom prst="rect">
              <a:avLst/>
            </a:prstGeom>
            <a:noFill/>
            <a:ln>
              <a:noFill/>
            </a:ln>
          </p:spPr>
          <p:txBody>
            <a:bodyPr wrap="none" lIns="0" tIns="0" rIns="0" bIns="0" anchor="t" anchorCtr="0">
              <a:spAutoFit/>
            </a:bodyPr>
            <a:lstStyle>
              <a:defPPr>
                <a:defRPr lang="en-IE"/>
              </a:defPPr>
              <a:lvl1pPr marL="0" algn="l" defTabSz="457200" rtl="0" eaLnBrk="1" latinLnBrk="0" hangingPunct="1">
                <a:defRPr lang="en-IE" sz="1800" kern="1200">
                  <a:solidFill>
                    <a:schemeClr val="tx1"/>
                  </a:solidFill>
                  <a:latin typeface="+mn-lt"/>
                  <a:ea typeface="+mn-ea"/>
                  <a:cs typeface="+mn-cs"/>
                </a:defRPr>
              </a:lvl1pPr>
              <a:lvl2pPr marL="457200" algn="l" defTabSz="457200" rtl="0" eaLnBrk="1" latinLnBrk="0" hangingPunct="1">
                <a:defRPr lang="en-IE" sz="1800" kern="1200">
                  <a:solidFill>
                    <a:schemeClr val="tx1"/>
                  </a:solidFill>
                  <a:latin typeface="+mn-lt"/>
                  <a:ea typeface="+mn-ea"/>
                  <a:cs typeface="+mn-cs"/>
                </a:defRPr>
              </a:lvl2pPr>
              <a:lvl3pPr marL="914400" algn="l" defTabSz="457200" rtl="0" eaLnBrk="1" latinLnBrk="0" hangingPunct="1">
                <a:defRPr lang="en-IE" sz="1800" kern="1200">
                  <a:solidFill>
                    <a:schemeClr val="tx1"/>
                  </a:solidFill>
                  <a:latin typeface="+mn-lt"/>
                  <a:ea typeface="+mn-ea"/>
                  <a:cs typeface="+mn-cs"/>
                </a:defRPr>
              </a:lvl3pPr>
              <a:lvl4pPr marL="1371600" algn="l" defTabSz="457200" rtl="0" eaLnBrk="1" latinLnBrk="0" hangingPunct="1">
                <a:defRPr lang="en-IE" sz="1800" kern="1200">
                  <a:solidFill>
                    <a:schemeClr val="tx1"/>
                  </a:solidFill>
                  <a:latin typeface="+mn-lt"/>
                  <a:ea typeface="+mn-ea"/>
                  <a:cs typeface="+mn-cs"/>
                </a:defRPr>
              </a:lvl4pPr>
              <a:lvl5pPr marL="1828800" algn="l" defTabSz="457200" rtl="0" eaLnBrk="1" latinLnBrk="0" hangingPunct="1">
                <a:defRPr lang="en-IE" sz="1800" kern="1200">
                  <a:solidFill>
                    <a:schemeClr val="tx1"/>
                  </a:solidFill>
                  <a:latin typeface="+mn-lt"/>
                  <a:ea typeface="+mn-ea"/>
                  <a:cs typeface="+mn-cs"/>
                </a:defRPr>
              </a:lvl5pPr>
              <a:lvl6pPr marL="2286000" algn="l" defTabSz="457200" rtl="0" eaLnBrk="1" latinLnBrk="0" hangingPunct="1">
                <a:defRPr lang="en-IE" sz="1800" kern="1200">
                  <a:solidFill>
                    <a:schemeClr val="tx1"/>
                  </a:solidFill>
                  <a:latin typeface="+mn-lt"/>
                  <a:ea typeface="+mn-ea"/>
                  <a:cs typeface="+mn-cs"/>
                </a:defRPr>
              </a:lvl6pPr>
              <a:lvl7pPr marL="2743200" algn="l" defTabSz="457200" rtl="0" eaLnBrk="1" latinLnBrk="0" hangingPunct="1">
                <a:defRPr lang="en-IE" sz="1800" kern="1200">
                  <a:solidFill>
                    <a:schemeClr val="tx1"/>
                  </a:solidFill>
                  <a:latin typeface="+mn-lt"/>
                  <a:ea typeface="+mn-ea"/>
                  <a:cs typeface="+mn-cs"/>
                </a:defRPr>
              </a:lvl7pPr>
              <a:lvl8pPr marL="3200400" algn="l" defTabSz="457200" rtl="0" eaLnBrk="1" latinLnBrk="0" hangingPunct="1">
                <a:defRPr lang="en-IE" sz="1800" kern="1200">
                  <a:solidFill>
                    <a:schemeClr val="tx1"/>
                  </a:solidFill>
                  <a:latin typeface="+mn-lt"/>
                  <a:ea typeface="+mn-ea"/>
                  <a:cs typeface="+mn-cs"/>
                </a:defRPr>
              </a:lvl8pPr>
              <a:lvl9pPr marL="3657600" algn="l" defTabSz="457200" rtl="0" eaLnBrk="1" latinLnBrk="0" hangingPunct="1">
                <a:defRPr lang="en-IE" sz="1800" kern="1200">
                  <a:solidFill>
                    <a:schemeClr val="tx1"/>
                  </a:solidFill>
                  <a:latin typeface="+mn-lt"/>
                  <a:ea typeface="+mn-ea"/>
                  <a:cs typeface="+mn-cs"/>
                </a:defRPr>
              </a:lvl9pPr>
            </a:lstStyle>
            <a:p>
              <a:r>
                <a:rPr lang="en-IE" sz="3150" err="1">
                  <a:solidFill>
                    <a:schemeClr val="accent1"/>
                  </a:solidFill>
                  <a:latin typeface="+mj-lt"/>
                  <a:ea typeface="+mj-ea"/>
                  <a:cs typeface="+mj-cs"/>
                </a:rPr>
                <a:t>Niwash</a:t>
              </a:r>
              <a:r>
                <a:rPr lang="en-IE" sz="3150">
                  <a:solidFill>
                    <a:schemeClr val="accent1"/>
                  </a:solidFill>
                  <a:latin typeface="+mj-lt"/>
                  <a:ea typeface="+mj-ea"/>
                  <a:cs typeface="+mj-cs"/>
                </a:rPr>
                <a:t>: Process flow diagram for parsing</a:t>
              </a:r>
            </a:p>
          </p:txBody>
        </p:sp>
        <p:sp>
          <p:nvSpPr>
            <p:cNvPr id="12" name="Line 5">
              <a:extLst>
                <a:ext uri="{FF2B5EF4-FFF2-40B4-BE49-F238E27FC236}">
                  <a16:creationId xmlns:a16="http://schemas.microsoft.com/office/drawing/2014/main" id="{5C55320D-BCB2-FC94-0C79-69DC87D88B03}"/>
                </a:ext>
              </a:extLst>
            </p:cNvPr>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en-US"/>
            </a:p>
          </p:txBody>
        </p:sp>
        <p:sp>
          <p:nvSpPr>
            <p:cNvPr id="13" name="Rectangle 12">
              <a:extLst>
                <a:ext uri="{FF2B5EF4-FFF2-40B4-BE49-F238E27FC236}">
                  <a16:creationId xmlns:a16="http://schemas.microsoft.com/office/drawing/2014/main" id="{BE538DBF-2464-8E73-471D-10F7443DB868}"/>
                </a:ext>
              </a:extLst>
            </p:cNvPr>
            <p:cNvSpPr/>
            <p:nvPr/>
          </p:nvSpPr>
          <p:spPr>
            <a:xfrm>
              <a:off x="609600" y="1419225"/>
              <a:ext cx="609600" cy="28575"/>
            </a:xfrm>
            <a:prstGeom prst="rect">
              <a:avLst/>
            </a:prstGeom>
            <a:solidFill>
              <a:schemeClr val="accent1"/>
            </a:solidFill>
            <a:ln>
              <a:noFill/>
            </a:ln>
          </p:spPr>
          <p:txBody>
            <a:bodyPr/>
            <a:lstStyle/>
            <a:p>
              <a:endParaRPr lang="en-US"/>
            </a:p>
          </p:txBody>
        </p:sp>
      </p:grpSp>
      <p:sp>
        <p:nvSpPr>
          <p:cNvPr id="15" name="TextBox 28">
            <a:extLst>
              <a:ext uri="{FF2B5EF4-FFF2-40B4-BE49-F238E27FC236}">
                <a16:creationId xmlns:a16="http://schemas.microsoft.com/office/drawing/2014/main" id="{646FAC5F-4A64-C629-0BD8-749E8F8E8E44}"/>
              </a:ext>
            </a:extLst>
          </p:cNvPr>
          <p:cNvSpPr txBox="1"/>
          <p:nvPr/>
        </p:nvSpPr>
        <p:spPr>
          <a:xfrm>
            <a:off x="10140664" y="6480810"/>
            <a:ext cx="1447832" cy="18466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a:t>
            </a:r>
            <a:r>
              <a:rPr lang="en-IE" sz="1200">
                <a:solidFill>
                  <a:schemeClr val="accent5"/>
                </a:solidFill>
              </a:rPr>
              <a:t>07</a:t>
            </a:r>
            <a:endParaRPr lang="en-IE" sz="1200">
              <a:solidFill>
                <a:schemeClr val="accent5"/>
              </a:solidFill>
              <a:latin typeface="+mn-lt"/>
              <a:ea typeface="+mn-ea"/>
              <a:cs typeface="+mn-cs"/>
            </a:endParaRPr>
          </a:p>
        </p:txBody>
      </p:sp>
    </p:spTree>
    <p:extLst>
      <p:ext uri="{BB962C8B-B14F-4D97-AF65-F5344CB8AC3E}">
        <p14:creationId xmlns:p14="http://schemas.microsoft.com/office/powerpoint/2010/main" val="2693632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1352420" cy="264033"/>
            <a:chOff x="602742" y="587692"/>
            <a:chExt cx="1352420" cy="264033"/>
          </a:xfrm>
        </p:grpSpPr>
        <p:sp>
          <p:nvSpPr>
            <p:cNvPr id="2" name="TextBox 2"/>
            <p:cNvSpPr txBox="1"/>
            <p:nvPr/>
          </p:nvSpPr>
          <p:spPr>
            <a:xfrm>
              <a:off x="602742" y="587692"/>
              <a:ext cx="1352420"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Waseel · research</a:t>
              </a:r>
            </a:p>
          </p:txBody>
        </p:sp>
      </p:grpSp>
      <p:grpSp>
        <p:nvGrpSpPr>
          <p:cNvPr id="7" name="page-title"/>
          <p:cNvGrpSpPr/>
          <p:nvPr/>
        </p:nvGrpSpPr>
        <p:grpSpPr>
          <a:xfrm>
            <a:off x="593598" y="879158"/>
            <a:ext cx="10988802" cy="616077"/>
            <a:chOff x="593598" y="879158"/>
            <a:chExt cx="10988802" cy="616077"/>
          </a:xfrm>
        </p:grpSpPr>
        <p:sp>
          <p:nvSpPr>
            <p:cNvPr id="4" name="TextBox 4"/>
            <p:cNvSpPr txBox="1"/>
            <p:nvPr/>
          </p:nvSpPr>
          <p:spPr>
            <a:xfrm>
              <a:off x="593598" y="879158"/>
              <a:ext cx="7272392"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Waseel: how to read a HIQA report</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11" name="row-reading-guide"/>
          <p:cNvGrpSpPr/>
          <p:nvPr/>
        </p:nvGrpSpPr>
        <p:grpSpPr>
          <a:xfrm>
            <a:off x="600456" y="1786890"/>
            <a:ext cx="10048730" cy="637794"/>
            <a:chOff x="600456" y="1786890"/>
            <a:chExt cx="10048730" cy="637794"/>
          </a:xfrm>
        </p:grpSpPr>
        <p:sp>
          <p:nvSpPr>
            <p:cNvPr id="8" name="TextBox 8"/>
            <p:cNvSpPr txBox="1"/>
            <p:nvPr/>
          </p:nvSpPr>
          <p:spPr>
            <a:xfrm>
              <a:off x="600456" y="1786890"/>
              <a:ext cx="1448707"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Reading guide</a:t>
              </a:r>
            </a:p>
          </p:txBody>
        </p:sp>
        <p:sp>
          <p:nvSpPr>
            <p:cNvPr id="9" name="TextBox 9"/>
            <p:cNvSpPr txBox="1"/>
            <p:nvPr/>
          </p:nvSpPr>
          <p:spPr>
            <a:xfrm>
              <a:off x="602742" y="208311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CCARE-56</a:t>
              </a:r>
            </a:p>
          </p:txBody>
        </p:sp>
        <p:sp>
          <p:nvSpPr>
            <p:cNvPr id="10" name="TextBox 10"/>
            <p:cNvSpPr txBox="1"/>
            <p:nvPr/>
          </p:nvSpPr>
          <p:spPr>
            <a:xfrm>
              <a:off x="3457956" y="1786890"/>
              <a:ext cx="7191230"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A guide on how to read a HIQA inspection report, from 16 hand-read reports.</a:t>
              </a:r>
              <a:br/>
              <a:r>
                <a:rPr lang="en-IE" sz="1800">
                  <a:solidFill>
                    <a:schemeClr val="dk1"/>
                  </a:solidFill>
                  <a:latin typeface="+mn-lt"/>
                  <a:ea typeface="+mn-ea"/>
                  <a:cs typeface="+mn-cs"/>
                </a:rPr>
                <a:t>Merged 15 Oct, </a:t>
              </a:r>
              <a:r>
                <a:rPr lang="en-IE" sz="1800" b="1">
                  <a:solidFill>
                    <a:schemeClr val="accent2"/>
                  </a:solidFill>
                  <a:latin typeface="+mn-lt"/>
                  <a:ea typeface="+mn-ea"/>
                  <a:cs typeface="+mn-cs"/>
                </a:rPr>
                <a:t>now the text of the site’s guide</a:t>
              </a:r>
              <a:r>
                <a:rPr lang="en-IE" sz="1800">
                  <a:solidFill>
                    <a:schemeClr val="dk1"/>
                  </a:solidFill>
                  <a:latin typeface="+mn-lt"/>
                  <a:ea typeface="+mn-ea"/>
                  <a:cs typeface="+mn-cs"/>
                </a:rPr>
                <a:t>.</a:t>
              </a:r>
            </a:p>
          </p:txBody>
        </p:sp>
      </p:grpSp>
      <p:grpSp>
        <p:nvGrpSpPr>
          <p:cNvPr id="30" name="reading-steps"/>
          <p:cNvGrpSpPr/>
          <p:nvPr/>
        </p:nvGrpSpPr>
        <p:grpSpPr>
          <a:xfrm>
            <a:off x="609600" y="2686050"/>
            <a:ext cx="10972800" cy="1752600"/>
            <a:chOff x="609600" y="2686050"/>
            <a:chExt cx="10972800" cy="1752600"/>
          </a:xfrm>
        </p:grpSpPr>
        <p:sp>
          <p:nvSpPr>
            <p:cNvPr id="12" name="Rectangle 12"/>
            <p:cNvSpPr/>
            <p:nvPr/>
          </p:nvSpPr>
          <p:spPr>
            <a:xfrm>
              <a:off x="609600" y="2686050"/>
              <a:ext cx="10972800" cy="1752600"/>
            </a:xfrm>
            <a:prstGeom prst="rect">
              <a:avLst/>
            </a:prstGeom>
            <a:solidFill>
              <a:schemeClr val="lt2"/>
            </a:solidFill>
            <a:ln>
              <a:noFill/>
            </a:ln>
          </p:spPr>
        </p:sp>
        <p:sp>
          <p:nvSpPr>
            <p:cNvPr id="13" name="Line 13"/>
            <p:cNvSpPr/>
            <p:nvPr/>
          </p:nvSpPr>
          <p:spPr>
            <a:xfrm>
              <a:off x="1143000" y="3143250"/>
              <a:ext cx="7772400" cy="9525"/>
            </a:xfrm>
            <a:custGeom>
              <a:avLst/>
              <a:gdLst/>
              <a:ahLst/>
              <a:cxnLst/>
              <a:rect l="l" t="t" r="r" b="b"/>
              <a:pathLst>
                <a:path w="7772400" h="9525">
                  <a:moveTo>
                    <a:pt x="0" y="0"/>
                  </a:moveTo>
                  <a:lnTo>
                    <a:pt x="7772400" y="0"/>
                  </a:lnTo>
                </a:path>
              </a:pathLst>
            </a:custGeom>
            <a:noFill/>
            <a:ln w="19050">
              <a:solidFill>
                <a:schemeClr val="accent1"/>
              </a:solidFill>
            </a:ln>
          </p:spPr>
        </p:sp>
        <p:grpSp>
          <p:nvGrpSpPr>
            <p:cNvPr id="17" name="step-1"/>
            <p:cNvGrpSpPr/>
            <p:nvPr/>
          </p:nvGrpSpPr>
          <p:grpSpPr>
            <a:xfrm>
              <a:off x="905256" y="2952750"/>
              <a:ext cx="2020546" cy="881634"/>
              <a:chOff x="905256" y="2952750"/>
              <a:chExt cx="2020546" cy="881634"/>
            </a:xfrm>
          </p:grpSpPr>
          <p:sp>
            <p:nvSpPr>
              <p:cNvPr id="14" name="Ellipse 14"/>
              <p:cNvSpPr/>
              <p:nvPr/>
            </p:nvSpPr>
            <p:spPr>
              <a:xfrm>
                <a:off x="952500" y="2952750"/>
                <a:ext cx="381000" cy="381000"/>
              </a:xfrm>
              <a:prstGeom prst="ellipse">
                <a:avLst/>
              </a:prstGeom>
              <a:solidFill>
                <a:schemeClr val="accent1"/>
              </a:solidFill>
              <a:ln>
                <a:noFill/>
              </a:ln>
            </p:spPr>
          </p:sp>
          <p:sp>
            <p:nvSpPr>
              <p:cNvPr id="15" name="TextBox 15"/>
              <p:cNvSpPr txBox="1"/>
              <p:nvPr/>
            </p:nvSpPr>
            <p:spPr>
              <a:xfrm>
                <a:off x="1084211" y="3048000"/>
                <a:ext cx="117578"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1</a:t>
                </a:r>
              </a:p>
            </p:txBody>
          </p:sp>
          <p:sp>
            <p:nvSpPr>
              <p:cNvPr id="16" name="TextBox 16"/>
              <p:cNvSpPr txBox="1"/>
              <p:nvPr/>
            </p:nvSpPr>
            <p:spPr>
              <a:xfrm>
                <a:off x="905256" y="3482340"/>
                <a:ext cx="2020546"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Start with the basics</a:t>
                </a:r>
              </a:p>
            </p:txBody>
          </p:sp>
        </p:grpSp>
        <p:grpSp>
          <p:nvGrpSpPr>
            <p:cNvPr id="21" name="step-2"/>
            <p:cNvGrpSpPr/>
            <p:nvPr/>
          </p:nvGrpSpPr>
          <p:grpSpPr>
            <a:xfrm>
              <a:off x="3496056" y="2952750"/>
              <a:ext cx="2103897" cy="1167384"/>
              <a:chOff x="3496056" y="2952750"/>
              <a:chExt cx="2103897" cy="1167384"/>
            </a:xfrm>
          </p:grpSpPr>
          <p:sp>
            <p:nvSpPr>
              <p:cNvPr id="18" name="Ellipse 18"/>
              <p:cNvSpPr/>
              <p:nvPr/>
            </p:nvSpPr>
            <p:spPr>
              <a:xfrm>
                <a:off x="3543300" y="2952750"/>
                <a:ext cx="381000" cy="381000"/>
              </a:xfrm>
              <a:prstGeom prst="ellipse">
                <a:avLst/>
              </a:prstGeom>
              <a:solidFill>
                <a:schemeClr val="accent1"/>
              </a:solidFill>
              <a:ln>
                <a:noFill/>
              </a:ln>
            </p:spPr>
          </p:sp>
          <p:sp>
            <p:nvSpPr>
              <p:cNvPr id="19" name="TextBox 19"/>
              <p:cNvSpPr txBox="1"/>
              <p:nvPr/>
            </p:nvSpPr>
            <p:spPr>
              <a:xfrm>
                <a:off x="3675011" y="3048000"/>
                <a:ext cx="117578"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2</a:t>
                </a:r>
              </a:p>
            </p:txBody>
          </p:sp>
          <p:sp>
            <p:nvSpPr>
              <p:cNvPr id="20" name="TextBox 20"/>
              <p:cNvSpPr txBox="1"/>
              <p:nvPr/>
            </p:nvSpPr>
            <p:spPr>
              <a:xfrm>
                <a:off x="3496056" y="3482340"/>
                <a:ext cx="2103897"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Read the evidence</a:t>
                </a:r>
                <a:br/>
                <a:r>
                  <a:rPr lang="en-IE" sz="1800">
                    <a:solidFill>
                      <a:schemeClr val="dk1"/>
                    </a:solidFill>
                    <a:latin typeface="+mn-lt"/>
                    <a:ea typeface="+mn-ea"/>
                    <a:cs typeface="+mn-cs"/>
                  </a:rPr>
                  <a:t>behind each judgment</a:t>
                </a:r>
              </a:p>
            </p:txBody>
          </p:sp>
        </p:grpSp>
        <p:grpSp>
          <p:nvGrpSpPr>
            <p:cNvPr id="25" name="step-3"/>
            <p:cNvGrpSpPr/>
            <p:nvPr/>
          </p:nvGrpSpPr>
          <p:grpSpPr>
            <a:xfrm>
              <a:off x="6086856" y="2952750"/>
              <a:ext cx="1446146" cy="1167384"/>
              <a:chOff x="6086856" y="2952750"/>
              <a:chExt cx="1446146" cy="1167384"/>
            </a:xfrm>
          </p:grpSpPr>
          <p:sp>
            <p:nvSpPr>
              <p:cNvPr id="22" name="Ellipse 22"/>
              <p:cNvSpPr/>
              <p:nvPr/>
            </p:nvSpPr>
            <p:spPr>
              <a:xfrm>
                <a:off x="6134100" y="2952750"/>
                <a:ext cx="381000" cy="381000"/>
              </a:xfrm>
              <a:prstGeom prst="ellipse">
                <a:avLst/>
              </a:prstGeom>
              <a:solidFill>
                <a:schemeClr val="accent1"/>
              </a:solidFill>
              <a:ln>
                <a:noFill/>
              </a:ln>
            </p:spPr>
          </p:sp>
          <p:sp>
            <p:nvSpPr>
              <p:cNvPr id="23" name="TextBox 23"/>
              <p:cNvSpPr txBox="1"/>
              <p:nvPr/>
            </p:nvSpPr>
            <p:spPr>
              <a:xfrm>
                <a:off x="6265811" y="3048000"/>
                <a:ext cx="117578"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3</a:t>
                </a:r>
              </a:p>
            </p:txBody>
          </p:sp>
          <p:sp>
            <p:nvSpPr>
              <p:cNvPr id="24" name="TextBox 24"/>
              <p:cNvSpPr txBox="1"/>
              <p:nvPr/>
            </p:nvSpPr>
            <p:spPr>
              <a:xfrm>
                <a:off x="6086856" y="3482340"/>
                <a:ext cx="1446146"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Look for repeat</a:t>
                </a:r>
                <a:br/>
                <a:r>
                  <a:rPr lang="en-IE" sz="1800">
                    <a:solidFill>
                      <a:schemeClr val="dk1"/>
                    </a:solidFill>
                    <a:latin typeface="+mn-lt"/>
                    <a:ea typeface="+mn-ea"/>
                    <a:cs typeface="+mn-cs"/>
                  </a:rPr>
                  <a:t>findings</a:t>
                </a:r>
              </a:p>
            </p:txBody>
          </p:sp>
        </p:grpSp>
        <p:grpSp>
          <p:nvGrpSpPr>
            <p:cNvPr id="29" name="step-4"/>
            <p:cNvGrpSpPr/>
            <p:nvPr/>
          </p:nvGrpSpPr>
          <p:grpSpPr>
            <a:xfrm>
              <a:off x="8677656" y="2952750"/>
              <a:ext cx="2288377" cy="1453134"/>
              <a:chOff x="8677656" y="2952750"/>
              <a:chExt cx="2288377" cy="1453134"/>
            </a:xfrm>
          </p:grpSpPr>
          <p:sp>
            <p:nvSpPr>
              <p:cNvPr id="26" name="Ellipse 26"/>
              <p:cNvSpPr/>
              <p:nvPr/>
            </p:nvSpPr>
            <p:spPr>
              <a:xfrm>
                <a:off x="8724900" y="2952750"/>
                <a:ext cx="381000" cy="381000"/>
              </a:xfrm>
              <a:prstGeom prst="ellipse">
                <a:avLst/>
              </a:prstGeom>
              <a:solidFill>
                <a:schemeClr val="accent1"/>
              </a:solidFill>
              <a:ln>
                <a:noFill/>
              </a:ln>
            </p:spPr>
          </p:sp>
          <p:sp>
            <p:nvSpPr>
              <p:cNvPr id="27" name="TextBox 27"/>
              <p:cNvSpPr txBox="1"/>
              <p:nvPr/>
            </p:nvSpPr>
            <p:spPr>
              <a:xfrm>
                <a:off x="8856611" y="3048000"/>
                <a:ext cx="117578"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4</a:t>
                </a:r>
              </a:p>
            </p:txBody>
          </p:sp>
          <p:sp>
            <p:nvSpPr>
              <p:cNvPr id="28" name="TextBox 28"/>
              <p:cNvSpPr txBox="1"/>
              <p:nvPr/>
            </p:nvSpPr>
            <p:spPr>
              <a:xfrm>
                <a:off x="8677656" y="3482340"/>
                <a:ext cx="2288377" cy="92354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Keep the provider’s plan</a:t>
                </a:r>
                <a:br/>
                <a:r>
                  <a:rPr lang="en-IE" sz="1800">
                    <a:solidFill>
                      <a:schemeClr val="dk1"/>
                    </a:solidFill>
                    <a:latin typeface="+mn-lt"/>
                    <a:ea typeface="+mn-ea"/>
                    <a:cs typeface="+mn-cs"/>
                  </a:rPr>
                  <a:t>separate from the</a:t>
                </a:r>
                <a:br/>
                <a:r>
                  <a:rPr lang="en-IE" sz="1800">
                    <a:solidFill>
                      <a:schemeClr val="dk1"/>
                    </a:solidFill>
                    <a:latin typeface="+mn-lt"/>
                    <a:ea typeface="+mn-ea"/>
                    <a:cs typeface="+mn-cs"/>
                  </a:rPr>
                  <a:t>inspector’s findings</a:t>
                </a:r>
              </a:p>
            </p:txBody>
          </p:sp>
        </p:grpSp>
      </p:grpSp>
      <p:grpSp>
        <p:nvGrpSpPr>
          <p:cNvPr id="34" name="row-personas-retros"/>
          <p:cNvGrpSpPr/>
          <p:nvPr/>
        </p:nvGrpSpPr>
        <p:grpSpPr>
          <a:xfrm>
            <a:off x="600456" y="4701540"/>
            <a:ext cx="9162837" cy="560261"/>
            <a:chOff x="600456" y="4701540"/>
            <a:chExt cx="9162837" cy="560261"/>
          </a:xfrm>
        </p:grpSpPr>
        <p:sp>
          <p:nvSpPr>
            <p:cNvPr id="31" name="TextBox 31"/>
            <p:cNvSpPr txBox="1"/>
            <p:nvPr/>
          </p:nvSpPr>
          <p:spPr>
            <a:xfrm>
              <a:off x="600456" y="4701540"/>
              <a:ext cx="2029765"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Personas and retros</a:t>
              </a:r>
            </a:p>
          </p:txBody>
        </p:sp>
        <p:sp>
          <p:nvSpPr>
            <p:cNvPr id="32" name="TextBox 32"/>
            <p:cNvSpPr txBox="1"/>
            <p:nvPr/>
          </p:nvSpPr>
          <p:spPr>
            <a:xfrm>
              <a:off x="602742" y="4997768"/>
              <a:ext cx="1352987"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CCARE-52, 41, 42</a:t>
              </a:r>
            </a:p>
          </p:txBody>
        </p:sp>
        <p:sp>
          <p:nvSpPr>
            <p:cNvPr id="33" name="TextBox 33"/>
            <p:cNvSpPr txBox="1"/>
            <p:nvPr/>
          </p:nvSpPr>
          <p:spPr>
            <a:xfrm>
              <a:off x="3457956" y="4701540"/>
              <a:ext cx="6305337"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Second set of user personas; week 3 and week 4 retrospectives.</a:t>
              </a:r>
            </a:p>
          </p:txBody>
        </p:sp>
      </p:grpSp>
      <p:grpSp>
        <p:nvGrpSpPr>
          <p:cNvPr id="39" name="row-audit"/>
          <p:cNvGrpSpPr/>
          <p:nvPr/>
        </p:nvGrpSpPr>
        <p:grpSpPr>
          <a:xfrm>
            <a:off x="600456" y="5453062"/>
            <a:ext cx="10981944" cy="665989"/>
            <a:chOff x="600456" y="5453062"/>
            <a:chExt cx="10981944" cy="665989"/>
          </a:xfrm>
        </p:grpSpPr>
        <p:sp>
          <p:nvSpPr>
            <p:cNvPr id="35" name="Line 35"/>
            <p:cNvSpPr/>
            <p:nvPr/>
          </p:nvSpPr>
          <p:spPr>
            <a:xfrm>
              <a:off x="609600" y="54530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6" name="TextBox 36"/>
            <p:cNvSpPr txBox="1"/>
            <p:nvPr/>
          </p:nvSpPr>
          <p:spPr>
            <a:xfrm>
              <a:off x="600456" y="5558790"/>
              <a:ext cx="574940"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Audit</a:t>
              </a:r>
            </a:p>
          </p:txBody>
        </p:sp>
        <p:sp>
          <p:nvSpPr>
            <p:cNvPr id="37" name="TextBox 37"/>
            <p:cNvSpPr txBox="1"/>
            <p:nvPr/>
          </p:nvSpPr>
          <p:spPr>
            <a:xfrm>
              <a:off x="602742" y="585501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CCARE-48</a:t>
              </a:r>
            </a:p>
          </p:txBody>
        </p:sp>
        <p:sp>
          <p:nvSpPr>
            <p:cNvPr id="38" name="TextBox 38"/>
            <p:cNvSpPr txBox="1"/>
            <p:nvPr/>
          </p:nvSpPr>
          <p:spPr>
            <a:xfrm>
              <a:off x="3457956" y="5558790"/>
              <a:ext cx="4126084"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Audit of the hand-read reports, in review.</a:t>
              </a:r>
            </a:p>
          </p:txBody>
        </p:sp>
      </p:grpSp>
      <p:sp>
        <p:nvSpPr>
          <p:cNvPr id="40" name="TextBox 40"/>
          <p:cNvSpPr txBox="1"/>
          <p:nvPr/>
        </p:nvSpPr>
        <p:spPr>
          <a:xfrm>
            <a:off x="10140664" y="6480810"/>
            <a:ext cx="1447832" cy="18466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a:t>
            </a:r>
            <a:r>
              <a:rPr lang="en-IE" sz="1200">
                <a:solidFill>
                  <a:schemeClr val="accent5"/>
                </a:solidFill>
              </a:rPr>
              <a:t>08</a:t>
            </a:r>
            <a:endParaRPr lang="en-IE" sz="1200">
              <a:solidFill>
                <a:schemeClr val="accent5"/>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2742" y="587692"/>
            <a:ext cx="1965136" cy="264033"/>
            <a:chOff x="602742" y="587692"/>
            <a:chExt cx="1965136" cy="264033"/>
          </a:xfrm>
        </p:grpSpPr>
        <p:sp>
          <p:nvSpPr>
            <p:cNvPr id="2" name="TextBox 2"/>
            <p:cNvSpPr txBox="1"/>
            <p:nvPr/>
          </p:nvSpPr>
          <p:spPr>
            <a:xfrm>
              <a:off x="602742" y="587692"/>
              <a:ext cx="1965136" cy="264033"/>
            </a:xfrm>
            <a:prstGeom prst="rect">
              <a:avLst/>
            </a:prstGeom>
            <a:noFill/>
            <a:ln>
              <a:noFill/>
            </a:ln>
          </p:spPr>
          <p:txBody>
            <a:bodyPr wrap="none" lIns="0" tIns="0" rIns="0" bIns="0" anchor="t" anchorCtr="0">
              <a:spAutoFit/>
            </a:bodyPr>
            <a:lstStyle/>
            <a:p>
              <a:pPr algn="l"/>
              <a:r>
                <a:rPr lang="en-IE" sz="1350" b="1">
                  <a:solidFill>
                    <a:schemeClr val="accent3"/>
                  </a:solidFill>
                  <a:latin typeface="+mn-lt"/>
                  <a:ea typeface="+mn-ea"/>
                  <a:cs typeface="+mn-cs"/>
                </a:rPr>
                <a:t>Aswin · research and data</a:t>
              </a:r>
            </a:p>
          </p:txBody>
        </p:sp>
      </p:grpSp>
      <p:grpSp>
        <p:nvGrpSpPr>
          <p:cNvPr id="7" name="page-title"/>
          <p:cNvGrpSpPr/>
          <p:nvPr/>
        </p:nvGrpSpPr>
        <p:grpSpPr>
          <a:xfrm>
            <a:off x="593598" y="879158"/>
            <a:ext cx="10988802" cy="616077"/>
            <a:chOff x="593598" y="879158"/>
            <a:chExt cx="10988802" cy="616077"/>
          </a:xfrm>
        </p:grpSpPr>
        <p:sp>
          <p:nvSpPr>
            <p:cNvPr id="4" name="TextBox 4"/>
            <p:cNvSpPr txBox="1"/>
            <p:nvPr/>
          </p:nvSpPr>
          <p:spPr>
            <a:xfrm>
              <a:off x="593598" y="879158"/>
              <a:ext cx="6832768"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Aswin: amenities from the reports</a:t>
              </a:r>
            </a:p>
          </p:txBody>
        </p:sp>
        <p:sp>
          <p:nvSpPr>
            <p:cNvPr id="5" name="Line 5"/>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Rectangle 6"/>
            <p:cNvSpPr/>
            <p:nvPr/>
          </p:nvSpPr>
          <p:spPr>
            <a:xfrm>
              <a:off x="609600" y="1419225"/>
              <a:ext cx="609600" cy="28575"/>
            </a:xfrm>
            <a:prstGeom prst="rect">
              <a:avLst/>
            </a:prstGeom>
            <a:solidFill>
              <a:schemeClr val="accent1"/>
            </a:solidFill>
            <a:ln>
              <a:noFill/>
            </a:ln>
          </p:spPr>
        </p:sp>
      </p:grpSp>
      <p:grpSp>
        <p:nvGrpSpPr>
          <p:cNvPr id="11" name="row-personas-checklist"/>
          <p:cNvGrpSpPr/>
          <p:nvPr/>
        </p:nvGrpSpPr>
        <p:grpSpPr>
          <a:xfrm>
            <a:off x="600456" y="1767840"/>
            <a:ext cx="10579357" cy="503977"/>
            <a:chOff x="600456" y="1767840"/>
            <a:chExt cx="10579357" cy="503977"/>
          </a:xfrm>
        </p:grpSpPr>
        <p:sp>
          <p:nvSpPr>
            <p:cNvPr id="8" name="TextBox 8"/>
            <p:cNvSpPr txBox="1"/>
            <p:nvPr/>
          </p:nvSpPr>
          <p:spPr>
            <a:xfrm>
              <a:off x="600456" y="1767840"/>
              <a:ext cx="1315104" cy="276999"/>
            </a:xfrm>
            <a:prstGeom prst="rect">
              <a:avLst/>
            </a:prstGeom>
            <a:noFill/>
            <a:ln>
              <a:noFill/>
            </a:ln>
          </p:spPr>
          <p:txBody>
            <a:bodyPr wrap="none" lIns="0" tIns="0" rIns="0" bIns="0" anchor="t" anchorCtr="0">
              <a:spAutoFit/>
            </a:bodyPr>
            <a:lstStyle/>
            <a:p>
              <a:r>
                <a:rPr lang="en-IE" b="1">
                  <a:solidFill>
                    <a:schemeClr val="accent1"/>
                  </a:solidFill>
                </a:rPr>
                <a:t>User checklist</a:t>
              </a:r>
              <a:endParaRPr lang="en-IE" sz="1800" b="1">
                <a:solidFill>
                  <a:schemeClr val="accent1"/>
                </a:solidFill>
                <a:latin typeface="+mn-lt"/>
                <a:ea typeface="+mn-ea"/>
                <a:cs typeface="+mn-cs"/>
              </a:endParaRPr>
            </a:p>
          </p:txBody>
        </p:sp>
        <p:sp>
          <p:nvSpPr>
            <p:cNvPr id="9" name="TextBox 9"/>
            <p:cNvSpPr txBox="1"/>
            <p:nvPr/>
          </p:nvSpPr>
          <p:spPr>
            <a:xfrm>
              <a:off x="602742" y="2064068"/>
              <a:ext cx="694101" cy="207749"/>
            </a:xfrm>
            <a:prstGeom prst="rect">
              <a:avLst/>
            </a:prstGeom>
            <a:noFill/>
            <a:ln>
              <a:noFill/>
            </a:ln>
          </p:spPr>
          <p:txBody>
            <a:bodyPr wrap="none" lIns="0" tIns="0" rIns="0" bIns="0" anchor="t" anchorCtr="0">
              <a:spAutoFit/>
            </a:bodyPr>
            <a:lstStyle/>
            <a:p>
              <a:pPr algn="l"/>
              <a:r>
                <a:rPr lang="en-IE" sz="1350">
                  <a:solidFill>
                    <a:schemeClr val="accent5"/>
                  </a:solidFill>
                </a:rPr>
                <a:t>CCARE-55</a:t>
              </a:r>
              <a:endParaRPr lang="en-IE" sz="1350">
                <a:solidFill>
                  <a:schemeClr val="accent5"/>
                </a:solidFill>
                <a:latin typeface="+mn-lt"/>
                <a:ea typeface="+mn-ea"/>
                <a:cs typeface="+mn-cs"/>
              </a:endParaRPr>
            </a:p>
          </p:txBody>
        </p:sp>
        <p:sp>
          <p:nvSpPr>
            <p:cNvPr id="10" name="TextBox 10"/>
            <p:cNvSpPr txBox="1"/>
            <p:nvPr/>
          </p:nvSpPr>
          <p:spPr>
            <a:xfrm>
              <a:off x="3457956" y="1767840"/>
              <a:ext cx="7721857" cy="282129"/>
            </a:xfrm>
            <a:prstGeom prst="rect">
              <a:avLst/>
            </a:prstGeom>
            <a:noFill/>
            <a:ln>
              <a:noFill/>
            </a:ln>
          </p:spPr>
          <p:txBody>
            <a:bodyPr wrap="none" lIns="0" tIns="0" rIns="0" bIns="0" anchor="t" anchorCtr="0">
              <a:spAutoFit/>
            </a:bodyPr>
            <a:lstStyle/>
            <a:p>
              <a:pPr>
                <a:lnSpc>
                  <a:spcPts val="2250"/>
                </a:lnSpc>
              </a:pPr>
              <a:r>
                <a:rPr lang="en-IE" sz="1800">
                  <a:solidFill>
                    <a:schemeClr val="dk1"/>
                  </a:solidFill>
                  <a:latin typeface="+mn-lt"/>
                  <a:ea typeface="+mn-ea"/>
                  <a:cs typeface="+mn-cs"/>
                </a:rPr>
                <a:t>User</a:t>
              </a:r>
              <a:r>
                <a:rPr lang="en-IE">
                  <a:solidFill>
                    <a:schemeClr val="dk1"/>
                  </a:solidFill>
                </a:rPr>
                <a:t> </a:t>
              </a:r>
              <a:r>
                <a:rPr lang="en-IE" sz="1800">
                  <a:solidFill>
                    <a:schemeClr val="dk1"/>
                  </a:solidFill>
                  <a:latin typeface="+mn-lt"/>
                  <a:ea typeface="+mn-ea"/>
                  <a:cs typeface="+mn-cs"/>
                </a:rPr>
                <a:t>“questions to ask yourself” checklist that </a:t>
              </a:r>
              <a:r>
                <a:rPr lang="en-IE">
                  <a:solidFill>
                    <a:schemeClr val="dk1"/>
                  </a:solidFill>
                </a:rPr>
                <a:t>became the</a:t>
              </a:r>
              <a:r>
                <a:rPr lang="en-IE" sz="1800">
                  <a:solidFill>
                    <a:schemeClr val="dk1"/>
                  </a:solidFill>
                  <a:latin typeface="+mn-lt"/>
                  <a:ea typeface="+mn-ea"/>
                  <a:cs typeface="+mn-cs"/>
                </a:rPr>
                <a:t> choosing-a-home guide.</a:t>
              </a:r>
            </a:p>
          </p:txBody>
        </p:sp>
      </p:grpSp>
      <p:grpSp>
        <p:nvGrpSpPr>
          <p:cNvPr id="16" name="row-fair-deal-guide"/>
          <p:cNvGrpSpPr/>
          <p:nvPr/>
        </p:nvGrpSpPr>
        <p:grpSpPr>
          <a:xfrm>
            <a:off x="600456" y="2500312"/>
            <a:ext cx="10981944" cy="665989"/>
            <a:chOff x="600456" y="2500312"/>
            <a:chExt cx="10981944" cy="665989"/>
          </a:xfrm>
        </p:grpSpPr>
        <p:sp>
          <p:nvSpPr>
            <p:cNvPr id="12" name="Line 12"/>
            <p:cNvSpPr/>
            <p:nvPr/>
          </p:nvSpPr>
          <p:spPr>
            <a:xfrm>
              <a:off x="609600" y="25003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600456" y="2606040"/>
              <a:ext cx="1527717"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Fair Deal guide</a:t>
              </a:r>
            </a:p>
          </p:txBody>
        </p:sp>
        <p:sp>
          <p:nvSpPr>
            <p:cNvPr id="14" name="TextBox 14"/>
            <p:cNvSpPr txBox="1"/>
            <p:nvPr/>
          </p:nvSpPr>
          <p:spPr>
            <a:xfrm>
              <a:off x="602742" y="2902268"/>
              <a:ext cx="781063" cy="264033"/>
            </a:xfrm>
            <a:prstGeom prst="rect">
              <a:avLst/>
            </a:prstGeom>
            <a:noFill/>
            <a:ln>
              <a:noFill/>
            </a:ln>
          </p:spPr>
          <p:txBody>
            <a:bodyPr wrap="none" lIns="0" tIns="0" rIns="0" bIns="0" anchor="t" anchorCtr="0">
              <a:spAutoFit/>
            </a:bodyPr>
            <a:lstStyle/>
            <a:p>
              <a:pPr algn="l"/>
              <a:r>
                <a:rPr lang="en-IE" sz="1350">
                  <a:solidFill>
                    <a:schemeClr val="accent5"/>
                  </a:solidFill>
                  <a:latin typeface="+mn-lt"/>
                  <a:ea typeface="+mn-ea"/>
                  <a:cs typeface="+mn-cs"/>
                </a:rPr>
                <a:t>CCARE-86</a:t>
              </a:r>
            </a:p>
          </p:txBody>
        </p:sp>
        <p:sp>
          <p:nvSpPr>
            <p:cNvPr id="15" name="TextBox 15"/>
            <p:cNvSpPr txBox="1"/>
            <p:nvPr/>
          </p:nvSpPr>
          <p:spPr>
            <a:xfrm>
              <a:off x="3457956" y="2606040"/>
              <a:ext cx="993361"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In review.</a:t>
              </a:r>
            </a:p>
          </p:txBody>
        </p:sp>
      </p:grpSp>
      <p:grpSp>
        <p:nvGrpSpPr>
          <p:cNvPr id="30" name="amenities-extraction"/>
          <p:cNvGrpSpPr/>
          <p:nvPr/>
        </p:nvGrpSpPr>
        <p:grpSpPr>
          <a:xfrm>
            <a:off x="600456" y="3148012"/>
            <a:ext cx="10981944" cy="2324672"/>
            <a:chOff x="600456" y="3148012"/>
            <a:chExt cx="10981944" cy="2324672"/>
          </a:xfrm>
        </p:grpSpPr>
        <p:sp>
          <p:nvSpPr>
            <p:cNvPr id="17" name="Line 17"/>
            <p:cNvSpPr/>
            <p:nvPr/>
          </p:nvSpPr>
          <p:spPr>
            <a:xfrm>
              <a:off x="609600" y="31480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3348990"/>
              <a:ext cx="2125329"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Amenities extraction</a:t>
              </a:r>
            </a:p>
          </p:txBody>
        </p:sp>
        <p:sp>
          <p:nvSpPr>
            <p:cNvPr id="19" name="Freeform 19"/>
            <p:cNvSpPr/>
            <p:nvPr/>
          </p:nvSpPr>
          <p:spPr>
            <a:xfrm>
              <a:off x="3467100" y="3238500"/>
              <a:ext cx="2000250" cy="457200"/>
            </a:xfrm>
            <a:prstGeom prst="homePlate">
              <a:avLst/>
            </a:prstGeom>
            <a:solidFill>
              <a:schemeClr val="accent1"/>
            </a:solidFill>
            <a:ln>
              <a:noFill/>
            </a:ln>
          </p:spPr>
        </p:sp>
        <p:sp>
          <p:nvSpPr>
            <p:cNvPr id="20" name="Freeform 20"/>
            <p:cNvSpPr/>
            <p:nvPr/>
          </p:nvSpPr>
          <p:spPr>
            <a:xfrm>
              <a:off x="5314950" y="3238500"/>
              <a:ext cx="2000250" cy="457200"/>
            </a:xfrm>
            <a:prstGeom prst="chevron">
              <a:avLst/>
            </a:prstGeom>
            <a:solidFill>
              <a:schemeClr val="accent1"/>
            </a:solidFill>
            <a:ln>
              <a:noFill/>
            </a:ln>
          </p:spPr>
        </p:sp>
        <p:sp>
          <p:nvSpPr>
            <p:cNvPr id="21" name="Freeform 21"/>
            <p:cNvSpPr/>
            <p:nvPr/>
          </p:nvSpPr>
          <p:spPr>
            <a:xfrm>
              <a:off x="7162800" y="3238500"/>
              <a:ext cx="2000250" cy="457200"/>
            </a:xfrm>
            <a:prstGeom prst="chevron">
              <a:avLst/>
            </a:prstGeom>
            <a:solidFill>
              <a:schemeClr val="accent5"/>
            </a:solidFill>
            <a:ln>
              <a:noFill/>
            </a:ln>
          </p:spPr>
        </p:sp>
        <p:grpSp>
          <p:nvGrpSpPr>
            <p:cNvPr id="25" name="Group 25"/>
            <p:cNvGrpSpPr/>
            <p:nvPr/>
          </p:nvGrpSpPr>
          <p:grpSpPr>
            <a:xfrm>
              <a:off x="3959450" y="3371850"/>
              <a:ext cx="4414941" cy="293370"/>
              <a:chOff x="3959450" y="3371850"/>
              <a:chExt cx="4414941" cy="293370"/>
            </a:xfrm>
          </p:grpSpPr>
          <p:sp>
            <p:nvSpPr>
              <p:cNvPr id="22" name="TextBox 22"/>
              <p:cNvSpPr txBox="1"/>
              <p:nvPr/>
            </p:nvSpPr>
            <p:spPr>
              <a:xfrm>
                <a:off x="3959450" y="3371850"/>
                <a:ext cx="882199"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Download</a:t>
                </a:r>
              </a:p>
            </p:txBody>
          </p:sp>
          <p:sp>
            <p:nvSpPr>
              <p:cNvPr id="23" name="TextBox 23"/>
              <p:cNvSpPr txBox="1"/>
              <p:nvPr/>
            </p:nvSpPr>
            <p:spPr>
              <a:xfrm>
                <a:off x="6011434" y="3371850"/>
                <a:ext cx="607282"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Extract</a:t>
                </a:r>
              </a:p>
            </p:txBody>
          </p:sp>
          <p:sp>
            <p:nvSpPr>
              <p:cNvPr id="24" name="TextBox 24"/>
              <p:cNvSpPr txBox="1"/>
              <p:nvPr/>
            </p:nvSpPr>
            <p:spPr>
              <a:xfrm>
                <a:off x="7951460" y="3371850"/>
                <a:ext cx="422931" cy="293370"/>
              </a:xfrm>
              <a:prstGeom prst="rect">
                <a:avLst/>
              </a:prstGeom>
              <a:noFill/>
              <a:ln>
                <a:noFill/>
              </a:ln>
            </p:spPr>
            <p:txBody>
              <a:bodyPr wrap="none" lIns="0" tIns="0" rIns="0" bIns="0" anchor="t" anchorCtr="0">
                <a:spAutoFit/>
              </a:bodyPr>
              <a:lstStyle/>
              <a:p>
                <a:pPr algn="ctr"/>
                <a:r>
                  <a:rPr lang="en-IE" sz="1500" b="1">
                    <a:solidFill>
                      <a:srgbClr val="F8F6F0"/>
                    </a:solidFill>
                    <a:latin typeface="+mn-lt"/>
                    <a:ea typeface="+mn-ea"/>
                    <a:cs typeface="+mn-cs"/>
                  </a:rPr>
                  <a:t>Load</a:t>
                </a:r>
              </a:p>
            </p:txBody>
          </p:sp>
        </p:grpSp>
        <p:grpSp>
          <p:nvGrpSpPr>
            <p:cNvPr id="29" name="Group 29"/>
            <p:cNvGrpSpPr/>
            <p:nvPr/>
          </p:nvGrpSpPr>
          <p:grpSpPr>
            <a:xfrm>
              <a:off x="3457956" y="3863340"/>
              <a:ext cx="6977809" cy="1609344"/>
              <a:chOff x="3457956" y="3863340"/>
              <a:chExt cx="6977809" cy="1609344"/>
            </a:xfrm>
          </p:grpSpPr>
          <p:sp>
            <p:nvSpPr>
              <p:cNvPr id="26" name="TextBox 26"/>
              <p:cNvSpPr txBox="1"/>
              <p:nvPr/>
            </p:nvSpPr>
            <p:spPr>
              <a:xfrm>
                <a:off x="3457956" y="3863340"/>
                <a:ext cx="6977809"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A three-stage Python pipeline. Each report’s text goes once to GPT-4o-mini</a:t>
                </a:r>
                <a:br/>
                <a:r>
                  <a:rPr lang="en-IE" sz="1800">
                    <a:solidFill>
                      <a:schemeClr val="dk1"/>
                    </a:solidFill>
                    <a:latin typeface="+mn-lt"/>
                    <a:ea typeface="+mn-ea"/>
                    <a:cs typeface="+mn-cs"/>
                  </a:rPr>
                  <a:t>with a fixed schema, so every home gets the same fields:</a:t>
                </a:r>
              </a:p>
            </p:txBody>
          </p:sp>
          <p:sp>
            <p:nvSpPr>
              <p:cNvPr id="27" name="TextBox 27"/>
              <p:cNvSpPr txBox="1"/>
              <p:nvPr/>
            </p:nvSpPr>
            <p:spPr>
              <a:xfrm>
                <a:off x="3457956" y="4491990"/>
                <a:ext cx="5065367" cy="352044"/>
              </a:xfrm>
              <a:prstGeom prst="rect">
                <a:avLst/>
              </a:prstGeom>
              <a:noFill/>
              <a:ln>
                <a:noFill/>
              </a:ln>
            </p:spPr>
            <p:txBody>
              <a:bodyPr wrap="none" lIns="0" tIns="0" rIns="0" bIns="0" anchor="t" anchorCtr="0">
                <a:spAutoFit/>
              </a:bodyPr>
              <a:lstStyle/>
              <a:p>
                <a:pPr algn="l"/>
                <a:r>
                  <a:rPr lang="en-IE" sz="1800" b="1">
                    <a:solidFill>
                      <a:schemeClr val="accent2"/>
                    </a:solidFill>
                    <a:latin typeface="+mn-lt"/>
                    <a:ea typeface="+mn-ea"/>
                    <a:cs typeface="+mn-cs"/>
                  </a:rPr>
                  <a:t>care types · room types · outdoor space · activities</a:t>
                </a:r>
              </a:p>
            </p:txBody>
          </p:sp>
          <p:sp>
            <p:nvSpPr>
              <p:cNvPr id="28" name="TextBox 28"/>
              <p:cNvSpPr txBox="1"/>
              <p:nvPr/>
            </p:nvSpPr>
            <p:spPr>
              <a:xfrm>
                <a:off x="3457956" y="4834890"/>
                <a:ext cx="6101677"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Dublin first; a full run costs under €1; re-runnable and extendable</a:t>
                </a:r>
                <a:br/>
                <a:r>
                  <a:rPr lang="en-IE" sz="1800">
                    <a:solidFill>
                      <a:schemeClr val="dk1"/>
                    </a:solidFill>
                    <a:latin typeface="+mn-lt"/>
                    <a:ea typeface="+mn-ea"/>
                    <a:cs typeface="+mn-cs"/>
                  </a:rPr>
                  <a:t>to other counties.</a:t>
                </a:r>
              </a:p>
            </p:txBody>
          </p:sp>
        </p:grpSp>
      </p:grpSp>
      <p:grpSp>
        <p:nvGrpSpPr>
          <p:cNvPr id="34" name="row-validation"/>
          <p:cNvGrpSpPr/>
          <p:nvPr/>
        </p:nvGrpSpPr>
        <p:grpSpPr>
          <a:xfrm>
            <a:off x="600456" y="5510212"/>
            <a:ext cx="10981944" cy="457772"/>
            <a:chOff x="600456" y="5510212"/>
            <a:chExt cx="10981944" cy="457772"/>
          </a:xfrm>
        </p:grpSpPr>
        <p:sp>
          <p:nvSpPr>
            <p:cNvPr id="31" name="Line 31"/>
            <p:cNvSpPr/>
            <p:nvPr/>
          </p:nvSpPr>
          <p:spPr>
            <a:xfrm>
              <a:off x="609600" y="55102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2" name="TextBox 32"/>
            <p:cNvSpPr txBox="1"/>
            <p:nvPr/>
          </p:nvSpPr>
          <p:spPr>
            <a:xfrm>
              <a:off x="600456" y="5615940"/>
              <a:ext cx="1059565"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Validation</a:t>
              </a:r>
            </a:p>
          </p:txBody>
        </p:sp>
        <p:sp>
          <p:nvSpPr>
            <p:cNvPr id="33" name="TextBox 33"/>
            <p:cNvSpPr txBox="1"/>
            <p:nvPr/>
          </p:nvSpPr>
          <p:spPr>
            <a:xfrm>
              <a:off x="3457956" y="5615940"/>
              <a:ext cx="4350885" cy="352044"/>
            </a:xfrm>
            <a:prstGeom prst="rect">
              <a:avLst/>
            </a:prstGeom>
            <a:noFill/>
            <a:ln>
              <a:noFill/>
            </a:ln>
          </p:spPr>
          <p:txBody>
            <a:bodyPr wrap="none" lIns="0" tIns="0" rIns="0" bIns="0" anchor="t" anchorCtr="0">
              <a:spAutoFit/>
            </a:bodyPr>
            <a:lstStyle/>
            <a:p>
              <a:pPr algn="l"/>
              <a:r>
                <a:rPr lang="en-IE" sz="1800">
                  <a:solidFill>
                    <a:schemeClr val="dk1"/>
                  </a:solidFill>
                  <a:latin typeface="+mn-lt"/>
                  <a:ea typeface="+mn-ea"/>
                  <a:cs typeface="+mn-cs"/>
                </a:rPr>
                <a:t>Spot-check extracted fields against the PDF.</a:t>
              </a:r>
            </a:p>
          </p:txBody>
        </p:sp>
      </p:grpSp>
      <p:sp>
        <p:nvSpPr>
          <p:cNvPr id="35" name="TextBox 35"/>
          <p:cNvSpPr txBox="1"/>
          <p:nvPr/>
        </p:nvSpPr>
        <p:spPr>
          <a:xfrm>
            <a:off x="10140664" y="6480810"/>
            <a:ext cx="1447832" cy="18466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a:t>
            </a:r>
            <a:r>
              <a:rPr lang="en-IE" sz="1200">
                <a:solidFill>
                  <a:schemeClr val="accent5"/>
                </a:solidFill>
              </a:rPr>
              <a:t>09</a:t>
            </a:r>
            <a:endParaRPr lang="en-IE" sz="1200">
              <a:solidFill>
                <a:schemeClr val="accent5"/>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CDC5B5E5-27A9-DD2B-B26E-CA13A51EA07F}"/>
              </a:ext>
            </a:extLst>
          </p:cNvPr>
          <p:cNvPicPr>
            <a:picLocks noChangeAspect="1"/>
          </p:cNvPicPr>
          <p:nvPr/>
        </p:nvPicPr>
        <p:blipFill>
          <a:blip r:embed="rId2"/>
          <a:stretch>
            <a:fillRect/>
          </a:stretch>
        </p:blipFill>
        <p:spPr>
          <a:xfrm>
            <a:off x="5084006" y="1158657"/>
            <a:ext cx="7107468" cy="472857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E99E8DE2-06C4-ADBD-02EA-490D6F846397}"/>
              </a:ext>
            </a:extLst>
          </p:cNvPr>
          <p:cNvPicPr>
            <a:picLocks noChangeAspect="1"/>
          </p:cNvPicPr>
          <p:nvPr/>
        </p:nvPicPr>
        <p:blipFill>
          <a:blip r:embed="rId3"/>
          <a:stretch>
            <a:fillRect/>
          </a:stretch>
        </p:blipFill>
        <p:spPr>
          <a:xfrm>
            <a:off x="5322" y="2115390"/>
            <a:ext cx="5076825" cy="3086660"/>
          </a:xfrm>
          <a:prstGeom prst="rect">
            <a:avLst/>
          </a:prstGeom>
        </p:spPr>
      </p:pic>
      <p:sp>
        <p:nvSpPr>
          <p:cNvPr id="6" name="TextBox 5">
            <a:extLst>
              <a:ext uri="{FF2B5EF4-FFF2-40B4-BE49-F238E27FC236}">
                <a16:creationId xmlns:a16="http://schemas.microsoft.com/office/drawing/2014/main" id="{683FCCD7-756F-E048-D4CF-12A5AC8A1723}"/>
              </a:ext>
            </a:extLst>
          </p:cNvPr>
          <p:cNvSpPr txBox="1"/>
          <p:nvPr/>
        </p:nvSpPr>
        <p:spPr>
          <a:xfrm>
            <a:off x="10268607" y="6450724"/>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E" sz="1200" b="0" i="0" u="none" strike="noStrike" baseline="0">
                <a:solidFill>
                  <a:srgbClr val="58655F"/>
                </a:solidFill>
                <a:latin typeface="Calibri"/>
              </a:rPr>
              <a:t>ClearCare · Week 5 · </a:t>
            </a:r>
            <a:r>
              <a:rPr lang="en-IE" sz="1200">
                <a:solidFill>
                  <a:srgbClr val="58655F"/>
                </a:solidFill>
                <a:latin typeface="Calibri"/>
              </a:rPr>
              <a:t>10</a:t>
            </a:r>
            <a:endParaRPr lang="en-IE" sz="1200">
              <a:solidFill>
                <a:srgbClr val="000000"/>
              </a:solidFill>
              <a:ea typeface="Calibri"/>
            </a:endParaRPr>
          </a:p>
          <a:p>
            <a:pPr algn="ctr"/>
            <a:endParaRPr lang="en-US"/>
          </a:p>
        </p:txBody>
      </p:sp>
    </p:spTree>
    <p:extLst>
      <p:ext uri="{BB962C8B-B14F-4D97-AF65-F5344CB8AC3E}">
        <p14:creationId xmlns:p14="http://schemas.microsoft.com/office/powerpoint/2010/main" val="1969894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age-title"/>
          <p:cNvGrpSpPr/>
          <p:nvPr/>
        </p:nvGrpSpPr>
        <p:grpSpPr>
          <a:xfrm>
            <a:off x="593598" y="879158"/>
            <a:ext cx="10988802" cy="616077"/>
            <a:chOff x="593598" y="879158"/>
            <a:chExt cx="10988802" cy="616077"/>
          </a:xfrm>
        </p:grpSpPr>
        <p:sp>
          <p:nvSpPr>
            <p:cNvPr id="2" name="TextBox 2"/>
            <p:cNvSpPr txBox="1"/>
            <p:nvPr/>
          </p:nvSpPr>
          <p:spPr>
            <a:xfrm>
              <a:off x="593598" y="879158"/>
              <a:ext cx="2139757" cy="616077"/>
            </a:xfrm>
            <a:prstGeom prst="rect">
              <a:avLst/>
            </a:prstGeom>
            <a:noFill/>
            <a:ln>
              <a:noFill/>
            </a:ln>
          </p:spPr>
          <p:txBody>
            <a:bodyPr wrap="none" lIns="0" tIns="0" rIns="0" bIns="0" anchor="t" anchorCtr="0">
              <a:spAutoFit/>
            </a:bodyPr>
            <a:lstStyle/>
            <a:p>
              <a:pPr algn="l"/>
              <a:r>
                <a:rPr lang="en-IE" sz="3150">
                  <a:solidFill>
                    <a:schemeClr val="accent1"/>
                  </a:solidFill>
                  <a:latin typeface="+mj-lt"/>
                  <a:ea typeface="+mj-ea"/>
                  <a:cs typeface="+mj-cs"/>
                </a:rPr>
                <a:t>Next week</a:t>
              </a:r>
            </a:p>
          </p:txBody>
        </p:sp>
        <p:sp>
          <p:nvSpPr>
            <p:cNvPr id="3" name="Line 3"/>
            <p:cNvSpPr/>
            <p:nvPr/>
          </p:nvSpPr>
          <p:spPr>
            <a:xfrm>
              <a:off x="609600" y="14335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 name="Rectangle 4"/>
            <p:cNvSpPr/>
            <p:nvPr/>
          </p:nvSpPr>
          <p:spPr>
            <a:xfrm>
              <a:off x="609600" y="1419225"/>
              <a:ext cx="609600" cy="28575"/>
            </a:xfrm>
            <a:prstGeom prst="rect">
              <a:avLst/>
            </a:prstGeom>
            <a:solidFill>
              <a:schemeClr val="accent1"/>
            </a:solidFill>
            <a:ln>
              <a:noFill/>
            </a:ln>
          </p:spPr>
        </p:sp>
      </p:grpSp>
      <p:grpSp>
        <p:nvGrpSpPr>
          <p:cNvPr id="8" name="next-twila"/>
          <p:cNvGrpSpPr/>
          <p:nvPr/>
        </p:nvGrpSpPr>
        <p:grpSpPr>
          <a:xfrm>
            <a:off x="600456" y="1786890"/>
            <a:ext cx="9759848" cy="637794"/>
            <a:chOff x="600456" y="1786890"/>
            <a:chExt cx="9759848" cy="637794"/>
          </a:xfrm>
        </p:grpSpPr>
        <p:sp>
          <p:nvSpPr>
            <p:cNvPr id="6" name="TextBox 6"/>
            <p:cNvSpPr txBox="1"/>
            <p:nvPr/>
          </p:nvSpPr>
          <p:spPr>
            <a:xfrm>
              <a:off x="600456" y="1786890"/>
              <a:ext cx="563569"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Twila</a:t>
              </a:r>
            </a:p>
          </p:txBody>
        </p:sp>
        <p:sp>
          <p:nvSpPr>
            <p:cNvPr id="7" name="TextBox 7"/>
            <p:cNvSpPr txBox="1"/>
            <p:nvPr/>
          </p:nvSpPr>
          <p:spPr>
            <a:xfrm>
              <a:off x="3457956" y="1786890"/>
              <a:ext cx="690234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Continued research on Adult-centred User Design · initial user evaluation ·</a:t>
              </a:r>
              <a:br/>
              <a:r>
                <a:rPr lang="en-IE" sz="1800">
                  <a:solidFill>
                    <a:schemeClr val="dk1"/>
                  </a:solidFill>
                  <a:latin typeface="+mn-lt"/>
                  <a:ea typeface="+mn-ea"/>
                  <a:cs typeface="+mn-cs"/>
                </a:rPr>
                <a:t>continuous front-end development</a:t>
              </a:r>
            </a:p>
          </p:txBody>
        </p:sp>
      </p:grpSp>
      <p:grpSp>
        <p:nvGrpSpPr>
          <p:cNvPr id="12" name="next-likun"/>
          <p:cNvGrpSpPr/>
          <p:nvPr/>
        </p:nvGrpSpPr>
        <p:grpSpPr>
          <a:xfrm>
            <a:off x="600456" y="2538412"/>
            <a:ext cx="10981944" cy="1029272"/>
            <a:chOff x="600456" y="2538412"/>
            <a:chExt cx="10981944" cy="1029272"/>
          </a:xfrm>
        </p:grpSpPr>
        <p:sp>
          <p:nvSpPr>
            <p:cNvPr id="9" name="Line 9"/>
            <p:cNvSpPr/>
            <p:nvPr/>
          </p:nvSpPr>
          <p:spPr>
            <a:xfrm>
              <a:off x="609600" y="25384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600456" y="2644140"/>
              <a:ext cx="562736"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Likun</a:t>
              </a:r>
            </a:p>
          </p:txBody>
        </p:sp>
        <p:sp>
          <p:nvSpPr>
            <p:cNvPr id="11" name="TextBox 11"/>
            <p:cNvSpPr txBox="1"/>
            <p:nvPr/>
          </p:nvSpPr>
          <p:spPr>
            <a:xfrm>
              <a:off x="3457956" y="2644140"/>
              <a:ext cx="7076610" cy="92354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National numbers for the research question ·</a:t>
              </a:r>
              <a:br/>
              <a:r>
                <a:rPr lang="en-IE" sz="1800">
                  <a:solidFill>
                    <a:schemeClr val="dk1"/>
                  </a:solidFill>
                  <a:latin typeface="+mn-lt"/>
                  <a:ea typeface="+mn-ea"/>
                  <a:cs typeface="+mn-cs"/>
                </a:rPr>
                <a:t>store the “About the designated centre” paragraph the parser already finds,</a:t>
              </a:r>
              <a:br/>
              <a:r>
                <a:rPr lang="en-IE" sz="1800">
                  <a:solidFill>
                    <a:schemeClr val="dk1"/>
                  </a:solidFill>
                  <a:latin typeface="+mn-lt"/>
                  <a:ea typeface="+mn-ea"/>
                  <a:cs typeface="+mn-cs"/>
                </a:rPr>
                <a:t>as the source for amenities</a:t>
              </a:r>
            </a:p>
          </p:txBody>
        </p:sp>
      </p:grpSp>
      <p:grpSp>
        <p:nvGrpSpPr>
          <p:cNvPr id="16" name="next-niwash"/>
          <p:cNvGrpSpPr/>
          <p:nvPr/>
        </p:nvGrpSpPr>
        <p:grpSpPr>
          <a:xfrm>
            <a:off x="600456" y="3681412"/>
            <a:ext cx="10981944" cy="743522"/>
            <a:chOff x="600456" y="3681412"/>
            <a:chExt cx="10981944" cy="743522"/>
          </a:xfrm>
        </p:grpSpPr>
        <p:sp>
          <p:nvSpPr>
            <p:cNvPr id="13" name="Line 13"/>
            <p:cNvSpPr/>
            <p:nvPr/>
          </p:nvSpPr>
          <p:spPr>
            <a:xfrm>
              <a:off x="609600" y="36814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600456" y="3787140"/>
              <a:ext cx="771320"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Niwash</a:t>
              </a:r>
            </a:p>
          </p:txBody>
        </p:sp>
        <p:sp>
          <p:nvSpPr>
            <p:cNvPr id="15" name="TextBox 15"/>
            <p:cNvSpPr txBox="1"/>
            <p:nvPr/>
          </p:nvSpPr>
          <p:spPr>
            <a:xfrm>
              <a:off x="3457956" y="3787140"/>
              <a:ext cx="4447596"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Parser hardening · thematic inspection reports ·</a:t>
              </a:r>
              <a:br/>
              <a:r>
                <a:rPr lang="en-IE" sz="1800">
                  <a:solidFill>
                    <a:schemeClr val="dk1"/>
                  </a:solidFill>
                  <a:latin typeface="+mn-lt"/>
                  <a:ea typeface="+mn-ea"/>
                  <a:cs typeface="+mn-cs"/>
                </a:rPr>
                <a:t>maximum contract prices per home</a:t>
              </a:r>
            </a:p>
          </p:txBody>
        </p:sp>
      </p:grpSp>
      <p:grpSp>
        <p:nvGrpSpPr>
          <p:cNvPr id="20" name="next-waseel"/>
          <p:cNvGrpSpPr/>
          <p:nvPr/>
        </p:nvGrpSpPr>
        <p:grpSpPr>
          <a:xfrm>
            <a:off x="600456" y="4538662"/>
            <a:ext cx="10981944" cy="743522"/>
            <a:chOff x="600456" y="4538662"/>
            <a:chExt cx="10981944" cy="743522"/>
          </a:xfrm>
        </p:grpSpPr>
        <p:sp>
          <p:nvSpPr>
            <p:cNvPr id="17" name="Line 17"/>
            <p:cNvSpPr/>
            <p:nvPr/>
          </p:nvSpPr>
          <p:spPr>
            <a:xfrm>
              <a:off x="609600" y="453866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4644390"/>
              <a:ext cx="764618"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Waseel</a:t>
              </a:r>
            </a:p>
          </p:txBody>
        </p:sp>
        <p:sp>
          <p:nvSpPr>
            <p:cNvPr id="19" name="TextBox 19"/>
            <p:cNvSpPr txBox="1"/>
            <p:nvPr/>
          </p:nvSpPr>
          <p:spPr>
            <a:xfrm>
              <a:off x="3457956" y="4644390"/>
              <a:ext cx="6844718"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Fixes to the audit report · a gold set to measure how accurately ClearCare</a:t>
              </a:r>
              <a:br/>
              <a:r>
                <a:rPr lang="en-IE" sz="1800">
                  <a:solidFill>
                    <a:schemeClr val="dk1"/>
                  </a:solidFill>
                  <a:latin typeface="+mn-lt"/>
                  <a:ea typeface="+mn-ea"/>
                  <a:cs typeface="+mn-cs"/>
                </a:rPr>
                <a:t>extracts information from reports</a:t>
              </a:r>
            </a:p>
          </p:txBody>
        </p:sp>
      </p:grpSp>
      <p:grpSp>
        <p:nvGrpSpPr>
          <p:cNvPr id="24" name="next-aswin"/>
          <p:cNvGrpSpPr/>
          <p:nvPr/>
        </p:nvGrpSpPr>
        <p:grpSpPr>
          <a:xfrm>
            <a:off x="600456" y="5395912"/>
            <a:ext cx="10981944" cy="743522"/>
            <a:chOff x="600456" y="5395912"/>
            <a:chExt cx="10981944" cy="743522"/>
          </a:xfrm>
        </p:grpSpPr>
        <p:sp>
          <p:nvSpPr>
            <p:cNvPr id="21" name="Line 21"/>
            <p:cNvSpPr/>
            <p:nvPr/>
          </p:nvSpPr>
          <p:spPr>
            <a:xfrm>
              <a:off x="609600" y="5395912"/>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600456" y="5501640"/>
              <a:ext cx="638827" cy="352044"/>
            </a:xfrm>
            <a:prstGeom prst="rect">
              <a:avLst/>
            </a:prstGeom>
            <a:noFill/>
            <a:ln>
              <a:noFill/>
            </a:ln>
          </p:spPr>
          <p:txBody>
            <a:bodyPr wrap="none" lIns="0" tIns="0" rIns="0" bIns="0" anchor="t" anchorCtr="0">
              <a:spAutoFit/>
            </a:bodyPr>
            <a:lstStyle/>
            <a:p>
              <a:pPr algn="l"/>
              <a:r>
                <a:rPr lang="en-IE" sz="1800" b="1">
                  <a:solidFill>
                    <a:schemeClr val="accent1"/>
                  </a:solidFill>
                  <a:latin typeface="+mn-lt"/>
                  <a:ea typeface="+mn-ea"/>
                  <a:cs typeface="+mn-cs"/>
                </a:rPr>
                <a:t>Aswin</a:t>
              </a:r>
            </a:p>
          </p:txBody>
        </p:sp>
        <p:sp>
          <p:nvSpPr>
            <p:cNvPr id="23" name="TextBox 23"/>
            <p:cNvSpPr txBox="1"/>
            <p:nvPr/>
          </p:nvSpPr>
          <p:spPr>
            <a:xfrm>
              <a:off x="3457956" y="5501640"/>
              <a:ext cx="5468455" cy="637794"/>
            </a:xfrm>
            <a:prstGeom prst="rect">
              <a:avLst/>
            </a:prstGeom>
            <a:noFill/>
            <a:ln>
              <a:noFill/>
            </a:ln>
          </p:spPr>
          <p:txBody>
            <a:bodyPr wrap="none" lIns="0" tIns="0" rIns="0" bIns="0" anchor="t" anchorCtr="0">
              <a:spAutoFit/>
            </a:bodyPr>
            <a:lstStyle/>
            <a:p>
              <a:pPr algn="l">
                <a:lnSpc>
                  <a:spcPts val="2250"/>
                </a:lnSpc>
              </a:pPr>
              <a:r>
                <a:rPr lang="en-IE" sz="1800">
                  <a:solidFill>
                    <a:schemeClr val="dk1"/>
                  </a:solidFill>
                  <a:latin typeface="+mn-lt"/>
                  <a:ea typeface="+mn-ea"/>
                  <a:cs typeface="+mn-cs"/>
                </a:rPr>
                <a:t>Validate the amenities extraction against the source PDFs ·</a:t>
              </a:r>
              <a:br/>
              <a:r>
                <a:rPr lang="en-IE" sz="1800">
                  <a:solidFill>
                    <a:schemeClr val="dk1"/>
                  </a:solidFill>
                  <a:latin typeface="+mn-lt"/>
                  <a:ea typeface="+mn-ea"/>
                  <a:cs typeface="+mn-cs"/>
                </a:rPr>
                <a:t>connect the results to the site</a:t>
              </a:r>
            </a:p>
          </p:txBody>
        </p:sp>
      </p:grpSp>
      <p:sp>
        <p:nvSpPr>
          <p:cNvPr id="25" name="TextBox 25"/>
          <p:cNvSpPr txBox="1"/>
          <p:nvPr/>
        </p:nvSpPr>
        <p:spPr>
          <a:xfrm>
            <a:off x="10140664" y="6480810"/>
            <a:ext cx="1447832" cy="18466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ClearCare · Week 5 · </a:t>
            </a:r>
            <a:r>
              <a:rPr lang="en-IE" sz="1200">
                <a:solidFill>
                  <a:schemeClr val="accent5"/>
                </a:solidFill>
              </a:rPr>
              <a:t>11</a:t>
            </a:r>
            <a:endParaRPr lang="en-IE" sz="1200">
              <a:solidFill>
                <a:schemeClr val="accent5"/>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clearcare_week5">
  <a:themeElements>
    <a:clrScheme name="clearcare_week5">
      <a:dk1>
        <a:srgbClr val="202B27"/>
      </a:dk1>
      <a:lt1>
        <a:srgbClr val="F8F6F0"/>
      </a:lt1>
      <a:dk2>
        <a:srgbClr val="1F497D"/>
      </a:dk2>
      <a:lt2>
        <a:srgbClr val="E9EEE8"/>
      </a:lt2>
      <a:accent1>
        <a:srgbClr val="173E36"/>
      </a:accent1>
      <a:accent2>
        <a:srgbClr val="B64F32"/>
      </a:accent2>
      <a:accent3>
        <a:srgbClr val="63775F"/>
      </a:accent3>
      <a:accent4>
        <a:srgbClr val="173E36"/>
      </a:accent4>
      <a:accent5>
        <a:srgbClr val="58655F"/>
      </a:accent5>
      <a:accent6>
        <a:srgbClr val="C7CEC5"/>
      </a:accent6>
      <a:hlink>
        <a:srgbClr val="B64F32"/>
      </a:hlink>
      <a:folHlink>
        <a:srgbClr val="63775F"/>
      </a:folHlink>
    </a:clrScheme>
    <a:fontScheme name="clearcare_week5">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earcare_week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learcare_week5">
  <a:themeElements>
    <a:clrScheme name="clearcare_week5">
      <a:dk1>
        <a:srgbClr val="202B27"/>
      </a:dk1>
      <a:lt1>
        <a:srgbClr val="F8F6F0"/>
      </a:lt1>
      <a:dk2>
        <a:srgbClr val="1F497D"/>
      </a:dk2>
      <a:lt2>
        <a:srgbClr val="E9EEE8"/>
      </a:lt2>
      <a:accent1>
        <a:srgbClr val="173E36"/>
      </a:accent1>
      <a:accent2>
        <a:srgbClr val="B64F32"/>
      </a:accent2>
      <a:accent3>
        <a:srgbClr val="63775F"/>
      </a:accent3>
      <a:accent4>
        <a:srgbClr val="173E36"/>
      </a:accent4>
      <a:accent5>
        <a:srgbClr val="58655F"/>
      </a:accent5>
      <a:accent6>
        <a:srgbClr val="C7CEC5"/>
      </a:accent6>
      <a:hlink>
        <a:srgbClr val="B64F32"/>
      </a:hlink>
      <a:folHlink>
        <a:srgbClr val="63775F"/>
      </a:folHlink>
    </a:clrScheme>
    <a:fontScheme name="clearcare_week5">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earcare_week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clearcare_week5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2</cp:revision>
  <dcterms:created xsi:type="dcterms:W3CDTF">2026-10-15T16:35:03Z</dcterms:created>
  <dcterms:modified xsi:type="dcterms:W3CDTF">2026-10-20T12:25:14Z</dcterms:modified>
  <cp:category/>
  <cp:contentStatus/>
  <dc:language>en-IE</dc:language>
</cp:coreProperties>
</file>