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64" r:id="rId3"/>
    <p:sldId id="263" r:id="rId4"/>
    <p:sldId id="258" r:id="rId5"/>
    <p:sldId id="266" r:id="rId6"/>
    <p:sldId id="259" r:id="rId7"/>
    <p:sldId id="267" r:id="rId8"/>
    <p:sldId id="260" r:id="rId9"/>
    <p:sldId id="268" r:id="rId10"/>
    <p:sldId id="269" r:id="rId11"/>
    <p:sldId id="271" r:id="rId12"/>
    <p:sldId id="262" r:id="rId13"/>
    <p:sldId id="261" r:id="rId14"/>
    <p:sldId id="265" r:id="rId15"/>
    <p:sldId id="270" r:id="rId1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A977F8-D891-854C-B97F-C95422FCB46C}" v="3" dt="2026-10-23T10:55:18.639"/>
    <p1510:client id="{39722D0D-4EEC-9C88-BDF8-E5F8025B1A10}" v="3" dt="2026-10-23T10:08:01.145"/>
    <p1510:client id="{666B03B1-4B64-2D2F-8B02-CF82CCC24BE5}" v="177" dt="2026-10-23T10:58:19.539"/>
    <p1510:client id="{7C12E87B-640D-EA44-5BBE-D13F1FBD2486}" v="1134" dt="2026-10-22T19:08:35.868"/>
    <p1510:client id="{8BDC1909-1496-F741-A3B7-0E5C09C8E28F}" v="217" dt="2026-10-23T09:30:06.847"/>
    <p1510:client id="{9D42C032-AAEE-DA3C-676E-03E5095E03B8}" v="84" dt="2026-10-22T18:40:39.8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E"/>
              <a:t>Team ClearCare</a:t>
            </a:r>
            <a:br>
              <a:rPr lang="en-IE"/>
            </a:br>
            <a:r>
              <a:rPr lang="en-IE"/>
              <a:t>Interim Presentation</a:t>
            </a:r>
            <a:br>
              <a:rPr lang="en-IE"/>
            </a:br>
            <a:endParaRPr lang="en-IE" sz="1600"/>
          </a:p>
        </p:txBody>
      </p:sp>
      <p:pic>
        <p:nvPicPr>
          <p:cNvPr id="85" name="Google Shape;8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2800" y="818650"/>
            <a:ext cx="2108201" cy="13117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4;p13">
            <a:extLst>
              <a:ext uri="{FF2B5EF4-FFF2-40B4-BE49-F238E27FC236}">
                <a16:creationId xmlns:a16="http://schemas.microsoft.com/office/drawing/2014/main" id="{6085946A-3575-CC84-1031-4ACF11495AB6}"/>
              </a:ext>
            </a:extLst>
          </p:cNvPr>
          <p:cNvSpPr txBox="1">
            <a:spLocks/>
          </p:cNvSpPr>
          <p:nvPr/>
        </p:nvSpPr>
        <p:spPr>
          <a:xfrm>
            <a:off x="522711" y="38499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IE" sz="2000"/>
              <a:t>A00049290 - </a:t>
            </a:r>
            <a:r>
              <a:rPr lang="en-IE" sz="2000" err="1"/>
              <a:t>Likun</a:t>
            </a:r>
            <a:r>
              <a:rPr lang="en-IE" sz="2000"/>
              <a:t> Fang</a:t>
            </a:r>
            <a:br>
              <a:rPr lang="en-IE" sz="2000"/>
            </a:br>
            <a:r>
              <a:rPr lang="en-IE" sz="2000"/>
              <a:t>C20361521 - Twila Habab</a:t>
            </a:r>
          </a:p>
          <a:p>
            <a:pPr>
              <a:buSzPts val="4400"/>
            </a:pPr>
            <a:r>
              <a:rPr lang="en-IE" sz="2000"/>
              <a:t>A00047249- Aswin </a:t>
            </a:r>
            <a:r>
              <a:rPr lang="en-IE" sz="2000" err="1"/>
              <a:t>Remesh</a:t>
            </a:r>
            <a:endParaRPr lang="en-IE" sz="2000"/>
          </a:p>
          <a:p>
            <a:r>
              <a:rPr lang="en-IE" sz="2000"/>
              <a:t>A00046271 - </a:t>
            </a:r>
            <a:r>
              <a:rPr lang="en-IE" sz="2000" err="1"/>
              <a:t>Niwash</a:t>
            </a:r>
            <a:r>
              <a:rPr lang="en-IE" sz="2000"/>
              <a:t> Acharya </a:t>
            </a:r>
          </a:p>
          <a:p>
            <a:pPr>
              <a:buSzPts val="4400"/>
            </a:pPr>
            <a:r>
              <a:rPr lang="en-IE" sz="2000"/>
              <a:t>A00046669 - Waseel Chopra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4D1B4-607E-DDE9-B1C3-48CBE7991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Project Mission &amp; Vision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146A3-F92C-4AB1-E4C8-C5FA4F58F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Mission</a:t>
            </a:r>
          </a:p>
          <a:p>
            <a:pPr lvl="1">
              <a:buFont typeface="Courier New"/>
              <a:buChar char="o"/>
            </a:pPr>
            <a:r>
              <a:rPr lang="en-GB">
                <a:solidFill>
                  <a:srgbClr val="000000"/>
                </a:solidFill>
              </a:rPr>
              <a:t>To help people make informed decisions, and give informed consent, about nursing home care.</a:t>
            </a:r>
          </a:p>
          <a:p>
            <a:endParaRPr lang="en-GB"/>
          </a:p>
          <a:p>
            <a:r>
              <a:rPr lang="en-GB"/>
              <a:t>Vision</a:t>
            </a:r>
          </a:p>
          <a:p>
            <a:pPr lvl="1">
              <a:buFont typeface="Courier New"/>
              <a:buChar char="o"/>
            </a:pPr>
            <a:r>
              <a:rPr lang="en-GB"/>
              <a:t>As Ireland's older population grows, more families will face this choice. We want every one of them to make it informed and prepared.</a:t>
            </a:r>
          </a:p>
        </p:txBody>
      </p:sp>
    </p:spTree>
    <p:extLst>
      <p:ext uri="{BB962C8B-B14F-4D97-AF65-F5344CB8AC3E}">
        <p14:creationId xmlns:p14="http://schemas.microsoft.com/office/powerpoint/2010/main" val="574981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C8B91-5742-8F0A-CBC9-611789317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Project Goals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8ECB9-BBDD-06AF-FAF2-D7D86ABAC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2800"/>
              <a:t>Who it is for? </a:t>
            </a:r>
          </a:p>
          <a:p>
            <a:pPr lvl="1">
              <a:spcBef>
                <a:spcPts val="0"/>
              </a:spcBef>
              <a:buFont typeface="Courier New"/>
              <a:buChar char="o"/>
            </a:pPr>
            <a:r>
              <a:rPr lang="en-US" sz="2400"/>
              <a:t>Families looking for a nursing home.</a:t>
            </a:r>
          </a:p>
          <a:p>
            <a:pPr lvl="1">
              <a:spcBef>
                <a:spcPts val="0"/>
              </a:spcBef>
              <a:buFont typeface="Courier New"/>
              <a:buChar char="o"/>
            </a:pPr>
            <a:r>
              <a:rPr lang="en-US" sz="2400"/>
              <a:t>Older people deciding for themselves.</a:t>
            </a:r>
          </a:p>
          <a:p>
            <a:pPr lvl="1">
              <a:spcBef>
                <a:spcPts val="0"/>
              </a:spcBef>
              <a:buFont typeface="Courier New"/>
              <a:buChar char="o"/>
            </a:pPr>
            <a:r>
              <a:rPr lang="en-US" sz="2400"/>
              <a:t>Advocates and researchers</a:t>
            </a:r>
          </a:p>
          <a:p>
            <a:pPr lvl="1">
              <a:spcBef>
                <a:spcPts val="0"/>
              </a:spcBef>
              <a:buFont typeface="Courier New"/>
              <a:buChar char="o"/>
            </a:pPr>
            <a:endParaRPr lang="en-US" sz="2000"/>
          </a:p>
          <a:p>
            <a:pPr>
              <a:spcBef>
                <a:spcPts val="0"/>
              </a:spcBef>
            </a:pPr>
            <a:r>
              <a:rPr lang="en-US" sz="2800"/>
              <a:t>Why the need? </a:t>
            </a:r>
          </a:p>
          <a:p>
            <a:pPr lvl="1">
              <a:spcBef>
                <a:spcPts val="0"/>
              </a:spcBef>
              <a:buFont typeface="Courier New"/>
              <a:buChar char="o"/>
            </a:pPr>
            <a:r>
              <a:rPr lang="en-US" sz="2400"/>
              <a:t>People should be able to choose </a:t>
            </a:r>
            <a:r>
              <a:rPr lang="en-US" sz="2400" err="1"/>
              <a:t>ev</a:t>
            </a:r>
            <a:r>
              <a:rPr lang="en-US" sz="2400"/>
              <a:t>en when the time is short.</a:t>
            </a:r>
          </a:p>
          <a:p>
            <a:pPr marL="571500" lvl="1" indent="0">
              <a:spcBef>
                <a:spcPts val="0"/>
              </a:spcBef>
              <a:buNone/>
            </a:pPr>
            <a:endParaRPr lang="en-US" sz="2000"/>
          </a:p>
          <a:p>
            <a:pPr>
              <a:spcBef>
                <a:spcPts val="0"/>
              </a:spcBef>
            </a:pPr>
            <a:r>
              <a:rPr lang="en-US" sz="2800"/>
              <a:t>Project Aim</a:t>
            </a:r>
          </a:p>
          <a:p>
            <a:pPr lvl="1">
              <a:spcBef>
                <a:spcPts val="0"/>
              </a:spcBef>
              <a:buFont typeface="Courier New"/>
              <a:buChar char="o"/>
            </a:pPr>
            <a:r>
              <a:rPr lang="en-US" sz="2400"/>
              <a:t>To help families and older adults understand the process and what to know before choosing a home. </a:t>
            </a:r>
          </a:p>
        </p:txBody>
      </p:sp>
    </p:spTree>
    <p:extLst>
      <p:ext uri="{BB962C8B-B14F-4D97-AF65-F5344CB8AC3E}">
        <p14:creationId xmlns:p14="http://schemas.microsoft.com/office/powerpoint/2010/main" val="3573789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E"/>
              <a:t>Technology Stack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457200" y="1713982"/>
            <a:ext cx="8229600" cy="48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spcBef>
                <a:spcPts val="0"/>
              </a:spcBef>
              <a:buSzPts val="1400"/>
            </a:pPr>
            <a:r>
              <a:rPr lang="en-IE" sz="2400" b="1"/>
              <a:t>Pipeline</a:t>
            </a:r>
            <a:endParaRPr lang="en-US" sz="2400"/>
          </a:p>
          <a:p>
            <a:pPr marL="800100" lvl="1">
              <a:spcBef>
                <a:spcPts val="0"/>
              </a:spcBef>
              <a:buSzPts val="1400"/>
              <a:buFont typeface="Courier New"/>
              <a:buChar char="o"/>
            </a:pPr>
            <a:r>
              <a:rPr lang="en-IE" sz="1800"/>
              <a:t>Python 3.13 with </a:t>
            </a:r>
            <a:r>
              <a:rPr lang="en-IE" sz="1800" err="1"/>
              <a:t>PyMuPDF</a:t>
            </a:r>
            <a:r>
              <a:rPr lang="en-IE" sz="1800"/>
              <a:t> and </a:t>
            </a:r>
            <a:r>
              <a:rPr lang="en-IE" sz="1800" err="1"/>
              <a:t>psycopg</a:t>
            </a:r>
            <a:r>
              <a:rPr lang="en-IE" sz="1800"/>
              <a:t>. CSV mapping files drive the parser. Every extraction carries a version.</a:t>
            </a:r>
          </a:p>
          <a:p>
            <a:pPr marL="342900">
              <a:spcBef>
                <a:spcPts val="600"/>
              </a:spcBef>
              <a:buSzPts val="1400"/>
            </a:pPr>
            <a:r>
              <a:rPr lang="en-IE" sz="2400" b="1"/>
              <a:t>Data</a:t>
            </a:r>
          </a:p>
          <a:p>
            <a:pPr marL="800100" lvl="1">
              <a:spcBef>
                <a:spcPts val="600"/>
              </a:spcBef>
              <a:buSzPts val="1400"/>
              <a:buFont typeface="Courier New"/>
              <a:buChar char="o"/>
            </a:pPr>
            <a:r>
              <a:rPr lang="en-IE" sz="1800"/>
              <a:t>PostgreSQL 18 with Flyway migrations. Derived tables are append-only. The API reads views only. Raw files sit in Oracle Object Storage, write-once.</a:t>
            </a:r>
          </a:p>
          <a:p>
            <a:pPr marL="342900">
              <a:spcBef>
                <a:spcPts val="600"/>
              </a:spcBef>
              <a:buSzPts val="1400"/>
            </a:pPr>
            <a:r>
              <a:rPr lang="en-IE" sz="2400" b="1"/>
              <a:t>API and site</a:t>
            </a:r>
          </a:p>
          <a:p>
            <a:pPr marL="800100" lvl="1">
              <a:spcBef>
                <a:spcPts val="600"/>
              </a:spcBef>
              <a:buSzPts val="1400"/>
              <a:buFont typeface="Courier New"/>
              <a:buChar char="o"/>
            </a:pPr>
            <a:r>
              <a:rPr lang="en-IE" sz="1800"/>
              <a:t>Spring Boot 4 on Java 21: a read-only REST API with </a:t>
            </a:r>
            <a:r>
              <a:rPr lang="en-IE" sz="1800" err="1"/>
              <a:t>OpenAPI</a:t>
            </a:r>
            <a:r>
              <a:rPr lang="en-IE" sz="1800"/>
              <a:t>. Next.js 16, React 19, TypeScript and Tailwind CSS 4 on </a:t>
            </a:r>
            <a:r>
              <a:rPr lang="en-IE" sz="1800" err="1"/>
              <a:t>Vercel</a:t>
            </a:r>
            <a:r>
              <a:rPr lang="en-IE" sz="1800"/>
              <a:t>, rendered on the server.</a:t>
            </a:r>
          </a:p>
          <a:p>
            <a:pPr marL="342900">
              <a:spcBef>
                <a:spcPts val="600"/>
              </a:spcBef>
              <a:buSzPts val="1400"/>
            </a:pPr>
            <a:r>
              <a:rPr lang="en-IE" sz="2400" b="1"/>
              <a:t>Delivery</a:t>
            </a:r>
          </a:p>
          <a:p>
            <a:pPr marL="800100" lvl="1">
              <a:spcBef>
                <a:spcPts val="600"/>
              </a:spcBef>
              <a:buSzPts val="1400"/>
              <a:buFont typeface="Courier New"/>
              <a:buChar char="o"/>
            </a:pPr>
            <a:r>
              <a:rPr lang="en-IE" sz="1800"/>
              <a:t>One Oracle Cloud VM with Docker Compose. GitHub Actions checks every pull request and deploys on merge. LLM pilots (Claude, GPT-4o-mini) are research only until they score well against human labels.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4BE9AC-349C-DC5D-AA65-4251755651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2" b="-164"/>
          <a:stretch>
            <a:fillRect/>
          </a:stretch>
        </p:blipFill>
        <p:spPr>
          <a:xfrm>
            <a:off x="215304" y="1081994"/>
            <a:ext cx="8832337" cy="497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301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E"/>
              <a:t>Data Stack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457200" y="1520552"/>
            <a:ext cx="8229600" cy="4999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spcBef>
                <a:spcPts val="0"/>
              </a:spcBef>
              <a:buSzPts val="1500"/>
            </a:pPr>
            <a:r>
              <a:rPr lang="en-IE" sz="2400" b="1"/>
              <a:t>HIQA register </a:t>
            </a:r>
            <a:endParaRPr lang="en-US" sz="2400"/>
          </a:p>
          <a:p>
            <a:pPr marL="800100" lvl="1">
              <a:spcBef>
                <a:spcPts val="0"/>
              </a:spcBef>
              <a:buSzPts val="1500"/>
              <a:buFont typeface="Courier New"/>
              <a:buChar char="o"/>
            </a:pPr>
            <a:r>
              <a:rPr lang="en-IE" sz="1800"/>
              <a:t>A CSV export every day, 546 centres.</a:t>
            </a:r>
          </a:p>
          <a:p>
            <a:pPr marL="342900">
              <a:spcBef>
                <a:spcPts val="600"/>
              </a:spcBef>
              <a:buSzPts val="1500"/>
            </a:pPr>
            <a:r>
              <a:rPr lang="en-IE" sz="2400" b="1"/>
              <a:t>HIQA inspection reports</a:t>
            </a:r>
          </a:p>
          <a:p>
            <a:pPr marL="800100" lvl="1">
              <a:spcBef>
                <a:spcPts val="600"/>
              </a:spcBef>
              <a:buSzPts val="1500"/>
              <a:buFont typeface="Courier New"/>
              <a:buChar char="o"/>
            </a:pPr>
            <a:r>
              <a:rPr lang="en-IE" sz="1800"/>
              <a:t>A weekly check of every centre page. 2,204 PDFs stored, 1,969 standard reports parsed: judgments per regulation, compliance-plan rows, text per regulation, and about 38,000 commitments.</a:t>
            </a:r>
          </a:p>
          <a:p>
            <a:pPr marL="342900">
              <a:spcBef>
                <a:spcPts val="600"/>
              </a:spcBef>
              <a:buSzPts val="1500"/>
            </a:pPr>
            <a:r>
              <a:rPr lang="en-IE" sz="2400" b="1"/>
              <a:t>HSE price lists</a:t>
            </a:r>
          </a:p>
          <a:p>
            <a:pPr marL="800100" lvl="1">
              <a:spcBef>
                <a:spcPts val="600"/>
              </a:spcBef>
              <a:buSzPts val="1500"/>
              <a:buFont typeface="Courier New"/>
              <a:buChar char="o"/>
            </a:pPr>
            <a:r>
              <a:rPr lang="en-IE" sz="1800"/>
              <a:t>Two PDFs: 411 private and voluntary homes, 115 public homes. Found on the Fair Deal page and loaded weekly</a:t>
            </a:r>
          </a:p>
          <a:p>
            <a:pPr marL="342900">
              <a:spcBef>
                <a:spcPts val="600"/>
              </a:spcBef>
              <a:buSzPts val="1500"/>
            </a:pPr>
            <a:r>
              <a:rPr lang="en-IE" sz="2400" b="1"/>
              <a:t>Storage</a:t>
            </a:r>
          </a:p>
          <a:p>
            <a:pPr marL="800100" lvl="1">
              <a:spcBef>
                <a:spcPts val="600"/>
              </a:spcBef>
              <a:buSzPts val="1500"/>
              <a:buFont typeface="Courier New"/>
              <a:buChar char="o"/>
            </a:pPr>
            <a:r>
              <a:rPr lang="en-IE" sz="1800"/>
              <a:t>Every file is kept once under its content hash, with a write-once copy in object storage. A file already loaded is skipped, so every run is safe to repeat.</a:t>
            </a:r>
          </a:p>
          <a:p>
            <a:pPr marL="342900">
              <a:spcBef>
                <a:spcPts val="600"/>
              </a:spcBef>
              <a:buSzPts val="1500"/>
            </a:pPr>
            <a:r>
              <a:rPr lang="en-IE" sz="2400" b="1"/>
              <a:t>Access </a:t>
            </a:r>
            <a:endParaRPr lang="en-IE" sz="2400"/>
          </a:p>
          <a:p>
            <a:pPr marL="800100" lvl="1">
              <a:spcBef>
                <a:spcPts val="600"/>
              </a:spcBef>
              <a:buSzPts val="1500"/>
              <a:buFont typeface="Courier New"/>
              <a:buChar char="o"/>
            </a:pPr>
            <a:r>
              <a:rPr lang="en-IE" sz="1800"/>
              <a:t>All three sources are public web pages. No logins or API keys are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E93FE1-2519-9468-DCC6-A5139EEE9C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63" b="-252"/>
          <a:stretch>
            <a:fillRect/>
          </a:stretch>
        </p:blipFill>
        <p:spPr>
          <a:xfrm>
            <a:off x="452438" y="2395538"/>
            <a:ext cx="8244303" cy="207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782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E"/>
              <a:t>Evaluation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spcBef>
                <a:spcPts val="0"/>
              </a:spcBef>
              <a:buSzPts val="1600"/>
            </a:pPr>
            <a:r>
              <a:rPr lang="en-IE" sz="1800" b="1"/>
              <a:t>General User Evaluation</a:t>
            </a:r>
            <a:endParaRPr lang="en-US" sz="1800"/>
          </a:p>
          <a:p>
            <a: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IE" sz="1400"/>
              <a:t>Each lists three things they liked, three they disliked and three they wished.</a:t>
            </a:r>
          </a:p>
          <a:p>
            <a:pPr marL="285750" indent="-285750">
              <a:spcBef>
                <a:spcPts val="600"/>
              </a:spcBef>
              <a:buSzPts val="1600"/>
            </a:pPr>
            <a:r>
              <a:rPr lang="en-IE" sz="1800" b="1"/>
              <a:t>Public Launch</a:t>
            </a:r>
          </a:p>
          <a:p>
            <a:pPr lvl="1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IE" sz="1400"/>
              <a:t>A visitor survey on a five-point scale, with questions based on Nielsen's usability heuristics. We report the median, the mode and the share who agree, grouped by heuristic.</a:t>
            </a:r>
          </a:p>
          <a:p>
            <a:pPr marL="285750" indent="-285750">
              <a:spcBef>
                <a:spcPts val="600"/>
              </a:spcBef>
              <a:buSzPts val="1600"/>
            </a:pPr>
            <a:r>
              <a:rPr lang="en-IE" sz="1800" b="1"/>
              <a:t>End-User Interviews</a:t>
            </a:r>
            <a:endParaRPr lang="en-IE"/>
          </a:p>
          <a:p>
            <a:pPr lvl="1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IE" sz="1400"/>
              <a:t>Thematic analysis (Braun and Clarke) answers four questions: is the site usable, does it stay useful as reports arrive, is it accessible, is it accurate.</a:t>
            </a:r>
          </a:p>
          <a:p>
            <a:pPr marL="285750" indent="-285750">
              <a:spcBef>
                <a:spcPts val="600"/>
              </a:spcBef>
              <a:buSzPts val="1600"/>
            </a:pPr>
            <a:r>
              <a:rPr lang="en-IE" sz="1800" b="1"/>
              <a:t>Data: four numbers, each reproducible with one command</a:t>
            </a:r>
          </a:p>
          <a:p>
            <a:pPr marL="742950" lvl="1" indent="-2857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IE" sz="1400"/>
              <a:t>Commitment splitter against labelled commitments: regulation, text span, date, page.</a:t>
            </a:r>
          </a:p>
          <a:p>
            <a:pPr marL="742950" lvl="1" indent="-2857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IE" sz="1400"/>
              <a:t>Outcome linker, rules and LLM, against labelled outcomes: 5 report pairs, 43 findings. The pilot gave 0 invalid outputs for under $0.10.</a:t>
            </a:r>
          </a:p>
          <a:p>
            <a:pPr marL="742950" lvl="1" indent="-2857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IE" sz="1400"/>
              <a:t>Amenities extraction against an 18-home gold set: nine fields, scored as match, missed or invented.</a:t>
            </a:r>
          </a:p>
          <a:p>
            <a:pPr marL="742950" lvl="1" indent="-2857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IE" sz="1400"/>
              <a:t>National re-assessment figures, with their coverage and bias stated.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977D2-7732-0509-D99B-397C5DF78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Research Question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1AABE-F088-0D0B-30A1-2987C6CEE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marL="114300" indent="0">
              <a:buNone/>
            </a:pPr>
            <a:r>
              <a:rPr lang="en-GB"/>
              <a:t>What Drives Nursing Home Contract Prices?</a:t>
            </a:r>
            <a:endParaRPr lang="en-US"/>
          </a:p>
          <a:p>
            <a:r>
              <a:rPr lang="en-GB" sz="2000"/>
              <a:t>Factors to test</a:t>
            </a:r>
          </a:p>
          <a:p>
            <a:pPr lvl="1">
              <a:buChar char="•"/>
            </a:pPr>
            <a:r>
              <a:rPr lang="en-GB" sz="1600"/>
              <a:t>Location and Care Types</a:t>
            </a:r>
          </a:p>
          <a:p>
            <a:pPr lvl="1">
              <a:buChar char="•"/>
            </a:pPr>
            <a:r>
              <a:rPr lang="en-GB" sz="1600"/>
              <a:t>Type of home: private, voluntary or public</a:t>
            </a:r>
          </a:p>
          <a:p>
            <a:pPr lvl="1">
              <a:buChar char="•"/>
            </a:pPr>
            <a:r>
              <a:rPr lang="en-GB" sz="1600"/>
              <a:t>Registered capacity</a:t>
            </a:r>
          </a:p>
          <a:p>
            <a:pPr lvl="1">
              <a:buChar char="•"/>
            </a:pPr>
            <a:r>
              <a:rPr lang="en-GB" sz="1600"/>
              <a:t>Facilities and services</a:t>
            </a:r>
          </a:p>
          <a:p>
            <a:r>
              <a:rPr lang="en-GB" sz="2000"/>
              <a:t>What the HSE data shows</a:t>
            </a:r>
          </a:p>
          <a:p>
            <a:pPr lvl="1">
              <a:buChar char="•"/>
            </a:pPr>
            <a:r>
              <a:rPr lang="en-GB" sz="1600"/>
              <a:t>Private and voluntary (411 homes): €1,192 to €1,508 a week, median €1,287</a:t>
            </a:r>
          </a:p>
          <a:p>
            <a:pPr lvl="1">
              <a:buChar char="•"/>
            </a:pPr>
            <a:r>
              <a:rPr lang="en-GB" sz="1600"/>
              <a:t>Public (115 homes): €1,193 to €2,902 a week, median €1,966</a:t>
            </a:r>
            <a:endParaRPr lang="en-US" sz="1600"/>
          </a:p>
          <a:p>
            <a:pPr lvl="1">
              <a:buChar char="•"/>
            </a:pPr>
            <a:r>
              <a:rPr lang="en-GB" sz="1600"/>
              <a:t>Dublin averages about €1,408 a week, compared with €1,276 outside Dublin</a:t>
            </a:r>
            <a:endParaRPr lang="en-GB" sz="2000"/>
          </a:p>
          <a:p>
            <a:r>
              <a:rPr lang="en-US" sz="2000"/>
              <a:t>Next: link facilities to price</a:t>
            </a:r>
            <a:endParaRPr lang="en-GB" sz="2000"/>
          </a:p>
          <a:p>
            <a:pPr lvl="1">
              <a:buChar char="•"/>
            </a:pPr>
            <a:r>
              <a:rPr lang="en-US" sz="1600"/>
              <a:t>HIQA reports describe each home's facilities and services</a:t>
            </a:r>
          </a:p>
          <a:p>
            <a:pPr lvl="1">
              <a:buChar char="•"/>
            </a:pPr>
            <a:r>
              <a:rPr lang="en-US" sz="1600"/>
              <a:t>Our amenities extraction pulls these out automatically</a:t>
            </a:r>
          </a:p>
          <a:p>
            <a:pPr lvl="1">
              <a:buChar char="•"/>
            </a:pPr>
            <a:r>
              <a:rPr lang="en-US" sz="1600"/>
              <a:t>These can then be tested against price</a:t>
            </a:r>
          </a:p>
        </p:txBody>
      </p:sp>
    </p:spTree>
    <p:extLst>
      <p:ext uri="{BB962C8B-B14F-4D97-AF65-F5344CB8AC3E}">
        <p14:creationId xmlns:p14="http://schemas.microsoft.com/office/powerpoint/2010/main" val="2942091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igure 11. Characteristics that may bear on a home’s weekly price; those outlined in blue are verified in the data so far.">
            <a:extLst>
              <a:ext uri="{FF2B5EF4-FFF2-40B4-BE49-F238E27FC236}">
                <a16:creationId xmlns:a16="http://schemas.microsoft.com/office/drawing/2014/main" id="{5DAD8779-192E-FE7A-8082-25C2AFC41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27" y="1478185"/>
            <a:ext cx="8148917" cy="481189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6E7E78F-C4A5-95E9-3C89-B4E102E0F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GB"/>
              <a:t>Research Question: Ontology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70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9E97-714D-7DA0-2E0B-A8E4408E4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Predictive Modelling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CE138-D843-4E59-C3C4-D72FF2026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/>
              <a:t>Can We Predict Regulation Failures?</a:t>
            </a:r>
          </a:p>
          <a:p>
            <a:r>
              <a:rPr lang="en-US" sz="2000"/>
              <a:t>What we have</a:t>
            </a:r>
          </a:p>
          <a:p>
            <a:pPr lvl="1">
              <a:buFont typeface="Courier New"/>
              <a:buChar char="o"/>
            </a:pPr>
            <a:r>
              <a:rPr lang="en-US" sz="1600"/>
              <a:t>HIQA judgments: Compliant, Substantially Compliant, Not Compliant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 sz="1600"/>
              <a:t>Original wording and page references kept, so every finding traces back to its report</a:t>
            </a:r>
            <a:endParaRPr lang="en-US"/>
          </a:p>
          <a:p>
            <a:r>
              <a:rPr lang="en-US" sz="2000"/>
              <a:t>What we could </a:t>
            </a:r>
            <a:r>
              <a:rPr lang="en-US" sz="2000" err="1"/>
              <a:t>analyse</a:t>
            </a:r>
            <a:endParaRPr lang="en-US" err="1"/>
          </a:p>
          <a:p>
            <a:pPr lvl="1">
              <a:buFont typeface="Courier New"/>
              <a:buChar char="o"/>
            </a:pPr>
            <a:r>
              <a:rPr lang="en-US" sz="1600"/>
              <a:t>Which regulations are most often non-compliant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 sz="1600"/>
              <a:t>Whether an earlier judgment is linked to a later outcome</a:t>
            </a:r>
            <a:endParaRPr lang="en-US"/>
          </a:p>
          <a:p>
            <a:r>
              <a:rPr lang="en-US" sz="2000"/>
              <a:t>What’s needed first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 sz="1600"/>
              <a:t>Validate the extracted judgments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 sz="1600"/>
              <a:t>Account for differences in what each inspection covered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 sz="1600"/>
              <a:t>Test against suitable data before estimating any probability</a:t>
            </a:r>
            <a:endParaRPr lang="en-US"/>
          </a:p>
          <a:p>
            <a:endParaRPr lang="en-US" sz="20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11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IE" sz="3959"/>
              <a:t>Immediate Next Steps &amp; Project Roadmap</a:t>
            </a:r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spcBef>
                <a:spcPts val="0"/>
              </a:spcBef>
              <a:buSzPts val="1500"/>
            </a:pPr>
            <a:r>
              <a:rPr lang="en-IE" sz="2800" b="1"/>
              <a:t>Immediate</a:t>
            </a:r>
            <a:endParaRPr lang="en-US" sz="2800"/>
          </a:p>
          <a:p>
            <a:pPr marL="742950" lvl="1">
              <a:spcBef>
                <a:spcPts val="0"/>
              </a:spcBef>
              <a:buSzPts val="1500"/>
              <a:buChar char="•"/>
            </a:pPr>
            <a:r>
              <a:rPr lang="en-IE" sz="2000"/>
              <a:t>Labelling reports, timed, and run the LLM pilot on them.</a:t>
            </a:r>
          </a:p>
          <a:p>
            <a:pPr marL="742950" lvl="1">
              <a:spcBef>
                <a:spcPts val="0"/>
              </a:spcBef>
              <a:buSzPts val="1500"/>
              <a:buChar char="•"/>
            </a:pPr>
            <a:r>
              <a:rPr lang="en-IE" sz="2000"/>
              <a:t>Build the promise trail on the centre page.</a:t>
            </a:r>
          </a:p>
          <a:p>
            <a:pPr marL="742950" lvl="1">
              <a:spcBef>
                <a:spcPts val="0"/>
              </a:spcBef>
              <a:buSzPts val="1500"/>
              <a:buFont typeface="Arial,Sans-Serif"/>
              <a:buChar char="•"/>
            </a:pPr>
            <a:r>
              <a:rPr lang="en-IE" sz="2000"/>
              <a:t>Grid Comparison</a:t>
            </a:r>
          </a:p>
          <a:p>
            <a:pPr marL="742950" lvl="1">
              <a:spcBef>
                <a:spcPts val="0"/>
              </a:spcBef>
              <a:buSzPts val="1500"/>
              <a:buChar char="•"/>
            </a:pPr>
            <a:r>
              <a:rPr lang="en-IE" sz="2000"/>
              <a:t>Geocoding</a:t>
            </a:r>
          </a:p>
          <a:p>
            <a:pPr marL="742950" lvl="1">
              <a:spcBef>
                <a:spcPts val="0"/>
              </a:spcBef>
              <a:buSzPts val="1500"/>
              <a:buChar char="•"/>
            </a:pPr>
            <a:r>
              <a:rPr lang="en-IE" sz="2000"/>
              <a:t>Alerts</a:t>
            </a:r>
          </a:p>
          <a:p>
            <a:pPr marL="742950" lvl="1">
              <a:spcBef>
                <a:spcPts val="0"/>
              </a:spcBef>
              <a:buSzPts val="1500"/>
            </a:pPr>
            <a:endParaRPr lang="en-IE" sz="2000"/>
          </a:p>
          <a:p>
            <a:pPr marL="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</a:pPr>
            <a:r>
              <a:rPr lang="en-IE" sz="2800" b="1"/>
              <a:t>Biggest Challenges</a:t>
            </a:r>
          </a:p>
          <a:p>
            <a:pPr marL="857250" lvl="1" indent="-285750">
              <a:spcBef>
                <a:spcPts val="600"/>
              </a:spcBef>
              <a:buSzPts val="1500"/>
              <a:buChar char="•"/>
            </a:pPr>
            <a:r>
              <a:rPr lang="en-IE" sz="2000"/>
              <a:t>Knowing whether a promise was kept.</a:t>
            </a:r>
          </a:p>
          <a:p>
            <a:pPr marL="857250" lvl="1" indent="-285750">
              <a:spcBef>
                <a:spcPts val="600"/>
              </a:spcBef>
              <a:buSzPts val="1500"/>
              <a:buChar char="•"/>
            </a:pPr>
            <a:r>
              <a:rPr lang="en-IE" sz="2000"/>
              <a:t>Gathering end-users for evaluation.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E"/>
              <a:t>Current Prototype Demo</a:t>
            </a: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1177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2400"/>
              <a:t>Search nursing homes by name, address, county or Eircode.</a:t>
            </a:r>
          </a:p>
          <a:p>
            <a:r>
              <a:rPr lang="en-GB" sz="2400"/>
              <a:t>View a nursing home's page and see the home's details.</a:t>
            </a:r>
          </a:p>
          <a:p>
            <a:pPr lvl="1">
              <a:buFont typeface="Courier New"/>
              <a:buChar char="o"/>
            </a:pPr>
            <a:r>
              <a:rPr lang="en-GB" sz="1800"/>
              <a:t>Home details and Report Summaries</a:t>
            </a:r>
          </a:p>
          <a:p>
            <a:r>
              <a:rPr lang="en-GB" sz="2400"/>
              <a:t> National Figures</a:t>
            </a:r>
          </a:p>
          <a:p>
            <a:pPr>
              <a:buFont typeface="Arial"/>
              <a:buChar char="•"/>
            </a:pPr>
            <a:r>
              <a:rPr lang="en-GB" sz="2400"/>
              <a:t>Guides</a:t>
            </a:r>
          </a:p>
          <a:p>
            <a:pPr lvl="1">
              <a:buFont typeface="Courier New"/>
              <a:buChar char="o"/>
            </a:pPr>
            <a:r>
              <a:rPr lang="en-GB" sz="1800"/>
              <a:t>How a family chooses a nursing home</a:t>
            </a:r>
          </a:p>
          <a:p>
            <a:pPr lvl="1">
              <a:buFont typeface="Courier New"/>
              <a:buChar char="o"/>
            </a:pPr>
            <a:r>
              <a:rPr lang="en-GB" sz="1800"/>
              <a:t>Questions to ask</a:t>
            </a:r>
          </a:p>
          <a:p>
            <a:pPr lvl="1">
              <a:buFont typeface="Courier New"/>
              <a:buChar char="o"/>
            </a:pPr>
            <a:r>
              <a:rPr lang="en-GB" sz="1800"/>
              <a:t>How to read an inspection Report</a:t>
            </a:r>
          </a:p>
          <a:p>
            <a:pPr lvl="1">
              <a:buFont typeface="Courier New"/>
              <a:buChar char="o"/>
            </a:pPr>
            <a:r>
              <a:rPr lang="en-GB" sz="1800"/>
              <a:t>Fair Deal</a:t>
            </a:r>
          </a:p>
          <a:p>
            <a:pPr lvl="1">
              <a:buFont typeface="Courier New"/>
              <a:buChar char="o"/>
            </a:pPr>
            <a:r>
              <a:rPr lang="en-GB" sz="1800"/>
              <a:t>How to navigate ClearCare</a:t>
            </a:r>
          </a:p>
          <a:p>
            <a:pPr>
              <a:buFont typeface="Arial"/>
              <a:buChar char="•"/>
            </a:pPr>
            <a:r>
              <a:rPr lang="en-GB" sz="2400"/>
              <a:t>Resources</a:t>
            </a:r>
          </a:p>
          <a:p>
            <a:pPr lvl="1">
              <a:buFont typeface="Courier New"/>
              <a:buChar char="o"/>
            </a:pPr>
            <a:r>
              <a:rPr lang="en-GB" sz="1800"/>
              <a:t>Contacts for advocacies and dementia report</a:t>
            </a:r>
            <a:endParaRPr lang="en-IE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ll home page in light mode: new menu, photo carousel, Welcome, an ESRI news item, the record search and a random example, Nephin Nursing Home">
            <a:extLst>
              <a:ext uri="{FF2B5EF4-FFF2-40B4-BE49-F238E27FC236}">
                <a16:creationId xmlns:a16="http://schemas.microsoft.com/office/drawing/2014/main" id="{D7FCCF10-C18F-CCFB-C74C-E8EA05BCD3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0" r="161" b="39402"/>
          <a:stretch>
            <a:fillRect/>
          </a:stretch>
        </p:blipFill>
        <p:spPr>
          <a:xfrm>
            <a:off x="451753" y="513855"/>
            <a:ext cx="3819857" cy="4268928"/>
          </a:xfrm>
          <a:prstGeom prst="rect">
            <a:avLst/>
          </a:prstGeom>
        </p:spPr>
      </p:pic>
      <p:pic>
        <p:nvPicPr>
          <p:cNvPr id="3" name="Picture 2" descr="Full Abbey Haven centre page in light mode: phone, type of home, weekly cost, the inspection history with a bar for each inspection, and guide links">
            <a:extLst>
              <a:ext uri="{FF2B5EF4-FFF2-40B4-BE49-F238E27FC236}">
                <a16:creationId xmlns:a16="http://schemas.microsoft.com/office/drawing/2014/main" id="{2E4FE666-76FB-F542-F5EF-63007CB7C2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" r="421" b="38049"/>
          <a:stretch>
            <a:fillRect/>
          </a:stretch>
        </p:blipFill>
        <p:spPr>
          <a:xfrm>
            <a:off x="4571938" y="309362"/>
            <a:ext cx="4186240" cy="624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978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0A81-E6B8-1DBC-568A-C388E44B6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Roadmap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285765-B4AF-2F14-55DF-02EC2DB75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2" y="1989446"/>
            <a:ext cx="8802651" cy="262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187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15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Team ClearCare Interim Presentation </vt:lpstr>
      <vt:lpstr>Project Mission &amp; Vision</vt:lpstr>
      <vt:lpstr>Project Goals</vt:lpstr>
      <vt:lpstr>Technology Stack</vt:lpstr>
      <vt:lpstr>PowerPoint Presentation</vt:lpstr>
      <vt:lpstr>Data Stack</vt:lpstr>
      <vt:lpstr>PowerPoint Presentation</vt:lpstr>
      <vt:lpstr>Evaluation</vt:lpstr>
      <vt:lpstr>Research Question</vt:lpstr>
      <vt:lpstr>Research Question: Ontology</vt:lpstr>
      <vt:lpstr>Predictive Modelling</vt:lpstr>
      <vt:lpstr>Immediate Next Steps &amp; Project Roadmap</vt:lpstr>
      <vt:lpstr>Current Prototype Demo</vt:lpstr>
      <vt:lpstr>PowerPoint Presentation</vt:lpstr>
      <vt:lpstr>Roadmap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ClearCare Interim Presentation </dc:title>
  <cp:revision>2</cp:revision>
  <dcterms:modified xsi:type="dcterms:W3CDTF">2026-10-23T20:23:03Z</dcterms:modified>
</cp:coreProperties>
</file>