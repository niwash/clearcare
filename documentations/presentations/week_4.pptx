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IE"/>
    </a:defPPr>
    <a:lvl1pPr marL="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0" dt="2026-10-09T10:31:36.440"/>
    <p1510:client id="{2FB6BBC6-C2A3-8E34-D4F3-22407C9CB28C}" v="12" dt="2026-10-08T22:32:06.696"/>
    <p1510:client id="{37AC13B9-8EAD-76ED-8A97-C064FC2B4029}" v="106" dt="2026-10-09T10:21:54.091"/>
    <p1510:client id="{4EFE96E1-3B73-E800-6FBC-064462749CE5}" v="29" dt="2026-10-09T15:08:25.828"/>
    <p1510:client id="{6887896C-633C-198B-4A90-8FE46585FB55}" v="11" dt="2026-10-08T18:37:37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IE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rcare_week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IE" smtClean="0"/>
              <a:t>09/10/2026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learcare_week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I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IE" smtClean="0"/>
              <a:t>09/10/2026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I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IE" smtClean="0"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en-IE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en-I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en-IE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en-I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en-IE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en-IE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en-IE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en-IE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en-IE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en-IE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E"/>
      </a:defPPr>
      <a:lvl1pPr marL="0" algn="l" defTabSz="457200" rtl="0" eaLnBrk="1" latinLnBrk="0" hangingPunct="1">
        <a:defRPr lang="en-I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-IE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-I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-IE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-IE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-IE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-IE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-IE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-IE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-block"/>
          <p:cNvGrpSpPr/>
          <p:nvPr/>
        </p:nvGrpSpPr>
        <p:grpSpPr>
          <a:xfrm>
            <a:off x="590550" y="1854518"/>
            <a:ext cx="3549930" cy="1594294"/>
            <a:chOff x="590550" y="1854518"/>
            <a:chExt cx="3549930" cy="159429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854518"/>
              <a:ext cx="1582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MSc Group 2 Project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179320"/>
              <a:ext cx="354993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ClearCare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2979420"/>
              <a:ext cx="23182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40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Week 4 update</a:t>
              </a:r>
            </a:p>
          </p:txBody>
        </p:sp>
      </p:grpSp>
      <p:grpSp>
        <p:nvGrpSpPr>
          <p:cNvPr id="9" name="record-hook"/>
          <p:cNvGrpSpPr/>
          <p:nvPr/>
        </p:nvGrpSpPr>
        <p:grpSpPr>
          <a:xfrm>
            <a:off x="598932" y="3676650"/>
            <a:ext cx="4746940" cy="1688973"/>
            <a:chOff x="598932" y="3676650"/>
            <a:chExt cx="4746940" cy="1688973"/>
          </a:xfrm>
        </p:grpSpPr>
        <p:sp>
          <p:nvSpPr>
            <p:cNvPr id="6" name="Rectangle 6"/>
            <p:cNvSpPr/>
            <p:nvPr/>
          </p:nvSpPr>
          <p:spPr>
            <a:xfrm>
              <a:off x="609600" y="3676650"/>
              <a:ext cx="914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3930968"/>
              <a:ext cx="858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record of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4231005"/>
              <a:ext cx="4746940" cy="113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inspectors found.</a:t>
              </a:r>
              <a:br/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the provider promised.</a:t>
              </a:r>
              <a:br/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Whether the next inspection </a:t>
              </a:r>
              <a:r>
                <a:rPr lang="en-IE" sz="210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found it fixed.</a:t>
              </a:r>
            </a:p>
          </p:txBody>
        </p:sp>
      </p:grpSp>
      <p:grpSp>
        <p:nvGrpSpPr>
          <p:cNvPr id="24" name="team"/>
          <p:cNvGrpSpPr/>
          <p:nvPr/>
        </p:nvGrpSpPr>
        <p:grpSpPr>
          <a:xfrm>
            <a:off x="8382000" y="0"/>
            <a:ext cx="3810000" cy="6858000"/>
            <a:chOff x="8382000" y="0"/>
            <a:chExt cx="3810000" cy="6858000"/>
          </a:xfrm>
        </p:grpSpPr>
        <p:sp>
          <p:nvSpPr>
            <p:cNvPr id="10" name="Rectangle 10"/>
            <p:cNvSpPr/>
            <p:nvPr/>
          </p:nvSpPr>
          <p:spPr>
            <a:xfrm>
              <a:off x="8382000" y="0"/>
              <a:ext cx="3810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32342" y="1759268"/>
              <a:ext cx="438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Team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830056" y="2186940"/>
              <a:ext cx="1606447" cy="3095244"/>
              <a:chOff x="8830056" y="2186940"/>
              <a:chExt cx="1606447" cy="309524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830056" y="2186940"/>
                <a:ext cx="10772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Likun Fang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830056" y="2872740"/>
                <a:ext cx="1243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Twila Habab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830056" y="3558540"/>
                <a:ext cx="146731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Aswin Remesh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830056" y="4244340"/>
                <a:ext cx="1606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Niwash Acharya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30056" y="4930140"/>
                <a:ext cx="15224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Waseel Chopra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832342" y="2483168"/>
              <a:ext cx="903363" cy="3007233"/>
              <a:chOff x="8832342" y="2483168"/>
              <a:chExt cx="903363" cy="300723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32342" y="24831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A00049290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32342" y="3168968"/>
                <a:ext cx="8946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C20361521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32342" y="38547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A00047249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832342" y="45405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A00046271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32342" y="52263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A00046669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2289251" cy="264033"/>
            <a:chOff x="602742" y="587692"/>
            <a:chExt cx="228925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2289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Interview 3 · a family member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48374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First end-user interview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9" name="interviewee"/>
          <p:cNvGrpSpPr/>
          <p:nvPr/>
        </p:nvGrpSpPr>
        <p:grpSpPr>
          <a:xfrm>
            <a:off x="598932" y="1735455"/>
            <a:ext cx="8153321" cy="410718"/>
            <a:chOff x="598932" y="1735455"/>
            <a:chExt cx="8153321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1735455"/>
              <a:ext cx="81533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family member who arranged nursing-home care for a parent, twice.</a:t>
              </a:r>
            </a:p>
          </p:txBody>
        </p:sp>
      </p:grpSp>
      <p:grpSp>
        <p:nvGrpSpPr>
          <p:cNvPr id="19" name="what-they-said"/>
          <p:cNvGrpSpPr/>
          <p:nvPr/>
        </p:nvGrpSpPr>
        <p:grpSpPr>
          <a:xfrm>
            <a:off x="600456" y="2687320"/>
            <a:ext cx="6105144" cy="3090164"/>
            <a:chOff x="600456" y="2687320"/>
            <a:chExt cx="6105144" cy="3090164"/>
          </a:xfrm>
        </p:grpSpPr>
        <p:grpSp>
          <p:nvGrpSpPr>
            <p:cNvPr id="13" name="Group 13"/>
            <p:cNvGrpSpPr/>
            <p:nvPr/>
          </p:nvGrpSpPr>
          <p:grpSpPr>
            <a:xfrm>
              <a:off x="609600" y="3071812"/>
              <a:ext cx="6096000" cy="1685925"/>
              <a:chOff x="609600" y="3071812"/>
              <a:chExt cx="6096000" cy="168592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609600" y="3071812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09600" y="3910012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609600" y="4748212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600456" y="2687320"/>
              <a:ext cx="4957054" cy="3090164"/>
              <a:chOff x="600456" y="2687320"/>
              <a:chExt cx="4957054" cy="309016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00456" y="2687320"/>
                <a:ext cx="3413691" cy="2917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Both times</a:t>
                </a:r>
                <a:r>
                  <a:rPr lang="en-IE" b="1">
                    <a:solidFill>
                      <a:schemeClr val="dk1"/>
                    </a:solidFill>
                  </a:rPr>
                  <a:t> were stressful situations</a:t>
                </a:r>
                <a:endParaRPr lang="en-IE" sz="180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00456" y="3139440"/>
                <a:ext cx="4189918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They were not well informed</a:t>
                </a: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of the process,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everything was quick.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00456" y="3977640"/>
                <a:ext cx="4499717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 their view,</a:t>
                </a: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there is less of a culture of looking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after the elderly in Dublin.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0456" y="4815840"/>
                <a:ext cx="4957054" cy="961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Their advice: plan ahead.</a:t>
                </a: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Legal documents, finances,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power of attorney, and “have those conversations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when they still have the chance”.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417168" cy="264033"/>
            <a:chOff x="602742" y="587692"/>
            <a:chExt cx="141716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417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Problem and goals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26204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problem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6" name="problem-groups"/>
          <p:cNvGrpSpPr/>
          <p:nvPr/>
        </p:nvGrpSpPr>
        <p:grpSpPr>
          <a:xfrm>
            <a:off x="609600" y="1962150"/>
            <a:ext cx="1427033" cy="3680651"/>
            <a:chOff x="609600" y="1962150"/>
            <a:chExt cx="1427033" cy="3680651"/>
          </a:xfrm>
        </p:grpSpPr>
        <p:grpSp>
          <p:nvGrpSpPr>
            <p:cNvPr id="11" name="Group 11"/>
            <p:cNvGrpSpPr/>
            <p:nvPr/>
          </p:nvGrpSpPr>
          <p:grpSpPr>
            <a:xfrm>
              <a:off x="609600" y="1962150"/>
              <a:ext cx="28575" cy="3638550"/>
              <a:chOff x="609600" y="1962150"/>
              <a:chExt cx="28575" cy="3638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1962150"/>
                <a:ext cx="28575" cy="17335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09600" y="3943350"/>
                <a:ext cx="28575" cy="11239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09600" y="5314950"/>
                <a:ext cx="28575" cy="285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793242" y="2025968"/>
              <a:ext cx="1243391" cy="3616833"/>
              <a:chOff x="793242" y="2025968"/>
              <a:chExt cx="1243391" cy="361683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93242" y="2025968"/>
                <a:ext cx="12433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 b="1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Time and choice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3242" y="4007168"/>
                <a:ext cx="9245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 b="1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Information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93242" y="5378768"/>
                <a:ext cx="11845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 b="1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What we heard</a:t>
                </a:r>
              </a:p>
            </p:txBody>
          </p:sp>
        </p:grpSp>
      </p:grpSp>
      <p:grpSp>
        <p:nvGrpSpPr>
          <p:cNvPr id="28" name="problem-points"/>
          <p:cNvGrpSpPr/>
          <p:nvPr/>
        </p:nvGrpSpPr>
        <p:grpSpPr>
          <a:xfrm>
            <a:off x="2886456" y="1977390"/>
            <a:ext cx="8695944" cy="3704844"/>
            <a:chOff x="2886456" y="1977390"/>
            <a:chExt cx="8695944" cy="3704844"/>
          </a:xfrm>
        </p:grpSpPr>
        <p:grpSp>
          <p:nvGrpSpPr>
            <p:cNvPr id="21" name="Group 21"/>
            <p:cNvGrpSpPr/>
            <p:nvPr/>
          </p:nvGrpSpPr>
          <p:grpSpPr>
            <a:xfrm>
              <a:off x="2895600" y="2747962"/>
              <a:ext cx="8686800" cy="2524125"/>
              <a:chOff x="2895600" y="2747962"/>
              <a:chExt cx="8686800" cy="2524125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2895600" y="2747962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895600" y="3890962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895600" y="4424362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895600" y="5262562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2886456" y="1977390"/>
              <a:ext cx="6922900" cy="3704844"/>
              <a:chOff x="2886456" y="1977390"/>
              <a:chExt cx="6922900" cy="3704844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2886456" y="1977390"/>
                <a:ext cx="6922900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Families and the elderly are not prepared when faced with the dilemma of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having to choose a nursing home, or they don't get to choose at all.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86456" y="2815590"/>
                <a:ext cx="6632303" cy="961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Everything happens quite quickly, families and elderlies are already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stressed and this is not fair for them, despite the information supposed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 be all available online.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886456" y="3958590"/>
                <a:ext cx="45491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There is no central repository for information.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886456" y="4491990"/>
                <a:ext cx="6564546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 information exists but in pieces: Fair Deal, nursing home websites,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inspection reports, all in different places.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886456" y="5330190"/>
                <a:ext cx="53330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Families rarely choose because of the circumstances.</a:t>
                </a:r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417168" cy="264033"/>
            <a:chOff x="602742" y="587692"/>
            <a:chExt cx="141716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417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Problem and goals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19623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goals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oal-inform"/>
          <p:cNvGrpSpPr/>
          <p:nvPr/>
        </p:nvGrpSpPr>
        <p:grpSpPr>
          <a:xfrm>
            <a:off x="609600" y="1885950"/>
            <a:ext cx="10972800" cy="1891284"/>
            <a:chOff x="609600" y="1885950"/>
            <a:chExt cx="10972800" cy="1891284"/>
          </a:xfrm>
        </p:grpSpPr>
        <p:sp>
          <p:nvSpPr>
            <p:cNvPr id="8" name="Ellipse 8"/>
            <p:cNvSpPr/>
            <p:nvPr/>
          </p:nvSpPr>
          <p:spPr>
            <a:xfrm>
              <a:off x="609600" y="18859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311" y="1981200"/>
              <a:ext cx="1175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50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2332" y="1945005"/>
              <a:ext cx="827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Inform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810000" y="2443162"/>
              <a:ext cx="7772400" cy="581025"/>
              <a:chOff x="3810000" y="2443162"/>
              <a:chExt cx="7772400" cy="58102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3810000" y="2443162"/>
                <a:ext cx="777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2400" h="9525">
                    <a:moveTo>
                      <a:pt x="0" y="0"/>
                    </a:moveTo>
                    <a:lnTo>
                      <a:pt x="7772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3810000" y="3014662"/>
                <a:ext cx="777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2400" h="9525">
                    <a:moveTo>
                      <a:pt x="0" y="0"/>
                    </a:moveTo>
                    <a:lnTo>
                      <a:pt x="7772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3800856" y="1977390"/>
              <a:ext cx="6945826" cy="1799844"/>
              <a:chOff x="3800856" y="1977390"/>
              <a:chExt cx="6945826" cy="179984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800856" y="1977390"/>
                <a:ext cx="69458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Where homes are, and the maximum the HSE has agreed they charge.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800856" y="2548890"/>
                <a:ext cx="275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How to read a HIQA report.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800856" y="3120390"/>
                <a:ext cx="5997344" cy="65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How the process works: Fair Deal, the documents to have ready,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 legal side.</a:t>
                </a:r>
              </a:p>
            </p:txBody>
          </p:sp>
        </p:grpSp>
      </p:grpSp>
      <p:grpSp>
        <p:nvGrpSpPr>
          <p:cNvPr id="20" name="goals-rule-1"/>
          <p:cNvGrpSpPr/>
          <p:nvPr/>
        </p:nvGrpSpPr>
        <p:grpSpPr>
          <a:xfrm>
            <a:off x="609600" y="4038600"/>
            <a:ext cx="10972800" cy="9525"/>
            <a:chOff x="609600" y="4038600"/>
            <a:chExt cx="10972800" cy="9525"/>
          </a:xfrm>
        </p:grpSpPr>
        <p:sp>
          <p:nvSpPr>
            <p:cNvPr id="19" name="Line 19"/>
            <p:cNvSpPr/>
            <p:nvPr/>
          </p:nvSpPr>
          <p:spPr>
            <a:xfrm>
              <a:off x="609600" y="4038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24" name="goal-transparency"/>
          <p:cNvGrpSpPr/>
          <p:nvPr/>
        </p:nvGrpSpPr>
        <p:grpSpPr>
          <a:xfrm>
            <a:off x="609600" y="4343400"/>
            <a:ext cx="7296253" cy="388620"/>
            <a:chOff x="609600" y="4343400"/>
            <a:chExt cx="7296253" cy="388620"/>
          </a:xfrm>
        </p:grpSpPr>
        <p:sp>
          <p:nvSpPr>
            <p:cNvPr id="21" name="Ellipse 21"/>
            <p:cNvSpPr/>
            <p:nvPr/>
          </p:nvSpPr>
          <p:spPr>
            <a:xfrm>
              <a:off x="609600" y="4343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1311" y="4438650"/>
              <a:ext cx="1175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50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2332" y="4402455"/>
              <a:ext cx="6773521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 the elderly care sector be more transparent to families</a:t>
              </a:r>
            </a:p>
          </p:txBody>
        </p:sp>
      </p:grpSp>
      <p:grpSp>
        <p:nvGrpSpPr>
          <p:cNvPr id="26" name="goals-rule-2"/>
          <p:cNvGrpSpPr/>
          <p:nvPr/>
        </p:nvGrpSpPr>
        <p:grpSpPr>
          <a:xfrm>
            <a:off x="609600" y="5029200"/>
            <a:ext cx="10972800" cy="9525"/>
            <a:chOff x="609600" y="5029200"/>
            <a:chExt cx="10972800" cy="9525"/>
          </a:xfrm>
        </p:grpSpPr>
        <p:sp>
          <p:nvSpPr>
            <p:cNvPr id="25" name="Line 25"/>
            <p:cNvSpPr/>
            <p:nvPr/>
          </p:nvSpPr>
          <p:spPr>
            <a:xfrm>
              <a:off x="609600" y="502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30" name="goal-help"/>
          <p:cNvGrpSpPr/>
          <p:nvPr/>
        </p:nvGrpSpPr>
        <p:grpSpPr>
          <a:xfrm>
            <a:off x="609600" y="5334000"/>
            <a:ext cx="2079365" cy="469773"/>
            <a:chOff x="609600" y="5334000"/>
            <a:chExt cx="2079365" cy="469773"/>
          </a:xfrm>
        </p:grpSpPr>
        <p:sp>
          <p:nvSpPr>
            <p:cNvPr id="27" name="Ellipse 27"/>
            <p:cNvSpPr/>
            <p:nvPr/>
          </p:nvSpPr>
          <p:spPr>
            <a:xfrm>
              <a:off x="609600" y="533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1311" y="5429250"/>
              <a:ext cx="1175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50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2332" y="5393055"/>
              <a:ext cx="15566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Help families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331151" cy="264033"/>
            <a:chOff x="602742" y="587692"/>
            <a:chExt cx="133115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33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Who we build for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789287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User Personas – A Family Member (1)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persona-name"/>
          <p:cNvGrpSpPr/>
          <p:nvPr/>
        </p:nvGrpSpPr>
        <p:grpSpPr>
          <a:xfrm>
            <a:off x="609600" y="1676400"/>
            <a:ext cx="3200400" cy="4610100"/>
            <a:chOff x="609600" y="1676400"/>
            <a:chExt cx="3200400" cy="4610100"/>
          </a:xfrm>
        </p:grpSpPr>
        <p:sp>
          <p:nvSpPr>
            <p:cNvPr id="8" name="Rectangle 8"/>
            <p:cNvSpPr/>
            <p:nvPr/>
          </p:nvSpPr>
          <p:spPr>
            <a:xfrm>
              <a:off x="609600" y="1676400"/>
              <a:ext cx="3200400" cy="461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1988820"/>
              <a:ext cx="192614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790825"/>
              <a:ext cx="905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5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54 · Dublin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318135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persona-profile"/>
          <p:cNvGrpSpPr/>
          <p:nvPr/>
        </p:nvGrpSpPr>
        <p:grpSpPr>
          <a:xfrm>
            <a:off x="4182618" y="1764982"/>
            <a:ext cx="7399782" cy="3811786"/>
            <a:chOff x="4182618" y="1764982"/>
            <a:chExt cx="7399782" cy="3811786"/>
          </a:xfrm>
        </p:grpSpPr>
        <p:grpSp>
          <p:nvGrpSpPr>
            <p:cNvPr id="18" name="Group 18"/>
            <p:cNvGrpSpPr/>
            <p:nvPr/>
          </p:nvGrpSpPr>
          <p:grpSpPr>
            <a:xfrm>
              <a:off x="4191000" y="2138362"/>
              <a:ext cx="7391400" cy="2773045"/>
              <a:chOff x="4191000" y="2138362"/>
              <a:chExt cx="7391400" cy="277304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4191000" y="213836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191000" y="290036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4191000" y="366236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191000" y="442436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4191000" y="490188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182618" y="1764982"/>
              <a:ext cx="51974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Mary, 54 years old, lives in Dublin with her elderly father.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2618" y="2241232"/>
              <a:ext cx="6367198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Her father has recently been assessed and the family have started thinking</a:t>
              </a:r>
              <a:br/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about long-term care options.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2618" y="3003232"/>
              <a:ext cx="6521401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She has never gone through this process before and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doesn't know where to</a:t>
              </a:r>
              <a:br/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start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especially on the financial side.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2618" y="3765232"/>
              <a:ext cx="6627584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</a:rPr>
                <a:t>She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comes across several nursing homes online but has </a:t>
              </a:r>
              <a:r>
                <a:rPr lang="en-IE" sz="1650" b="1">
                  <a:solidFill>
                    <a:schemeClr val="accent2"/>
                  </a:solidFill>
                  <a:ea typeface="Microsoft YaHei"/>
                </a:rPr>
                <a:t>no way of comparing</a:t>
              </a:r>
              <a:br>
                <a:rPr lang="en-IE" b="1"/>
              </a:br>
              <a:r>
                <a:rPr lang="en-IE" sz="1650">
                  <a:solidFill>
                    <a:schemeClr val="dk1"/>
                  </a:solidFill>
                  <a:ea typeface="Microsoft YaHei"/>
                </a:rPr>
                <a:t>them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meaningfully.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2618" y="4527232"/>
              <a:ext cx="6642331" cy="27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She finds HIQA reports but they are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long, technical,</a:t>
              </a:r>
              <a:r>
                <a:rPr lang="en-IE" sz="1650" b="1">
                  <a:solidFill>
                    <a:schemeClr val="accent2"/>
                  </a:solidFill>
                </a:rPr>
                <a:t>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and difficult to interpret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2618" y="5004752"/>
              <a:ext cx="6531916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She wants a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quick, clear summary of each home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so she can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build a shortlis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</a:t>
              </a:r>
              <a:br>
                <a:rPr/>
              </a:b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she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wants guidance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on the related financial process.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331151" cy="264033"/>
            <a:chOff x="602742" y="587692"/>
            <a:chExt cx="133115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33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Who we build for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79531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User Personas – A Family Member (2)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persona-name"/>
          <p:cNvGrpSpPr/>
          <p:nvPr/>
        </p:nvGrpSpPr>
        <p:grpSpPr>
          <a:xfrm>
            <a:off x="609600" y="1676400"/>
            <a:ext cx="3200400" cy="4610100"/>
            <a:chOff x="609600" y="1676400"/>
            <a:chExt cx="3200400" cy="4610100"/>
          </a:xfrm>
        </p:grpSpPr>
        <p:sp>
          <p:nvSpPr>
            <p:cNvPr id="8" name="Rectangle 8"/>
            <p:cNvSpPr/>
            <p:nvPr/>
          </p:nvSpPr>
          <p:spPr>
            <a:xfrm>
              <a:off x="609600" y="1676400"/>
              <a:ext cx="3200400" cy="461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1988820"/>
              <a:ext cx="247822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Declan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790825"/>
              <a:ext cx="1056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5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61 · Limerick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318135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persona-profile"/>
          <p:cNvGrpSpPr/>
          <p:nvPr/>
        </p:nvGrpSpPr>
        <p:grpSpPr>
          <a:xfrm>
            <a:off x="4182618" y="1815655"/>
            <a:ext cx="7410292" cy="4136902"/>
            <a:chOff x="4182618" y="1815655"/>
            <a:chExt cx="7410292" cy="4136902"/>
          </a:xfrm>
        </p:grpSpPr>
        <p:grpSp>
          <p:nvGrpSpPr>
            <p:cNvPr id="18" name="Group 18"/>
            <p:cNvGrpSpPr/>
            <p:nvPr/>
          </p:nvGrpSpPr>
          <p:grpSpPr>
            <a:xfrm>
              <a:off x="4201510" y="2229671"/>
              <a:ext cx="7391400" cy="3057525"/>
              <a:chOff x="4201510" y="2229671"/>
              <a:chExt cx="7391400" cy="305752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4201510" y="2229671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201510" y="2991671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4201510" y="3753671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201510" y="4515671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4201510" y="5277671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182618" y="1815655"/>
              <a:ext cx="5870903" cy="27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Declan, 61 years old, lives in Limerick and is </a:t>
              </a:r>
              <a:r>
                <a:rPr lang="en-US" sz="1650">
                  <a:solidFill>
                    <a:schemeClr val="dk1"/>
                  </a:solidFill>
                </a:rPr>
                <a:t>looking after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his mother.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93128" y="2332541"/>
              <a:ext cx="600172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His mother has been assessed and needs to move into a nursing home</a:t>
              </a:r>
              <a:br/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within the next few weeks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93128" y="3094541"/>
              <a:ext cx="6242286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knows she needs high dependency care following a stroke and has a</a:t>
              </a:r>
              <a:br>
                <a:rPr/>
              </a:b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preferred area in mind, but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doesn't know which homes meet her needs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93128" y="3856541"/>
              <a:ext cx="6254084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needs to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compare several homes quickly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and present a shortlist to his</a:t>
              </a:r>
              <a:br>
                <a:rPr/>
              </a:b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siblings before a family decision is made.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93128" y="4618541"/>
              <a:ext cx="6379054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finds individual HIQA reports but has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 way to filter or compare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them</a:t>
              </a:r>
              <a:br>
                <a:rPr/>
              </a:b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side by side.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93128" y="5380541"/>
              <a:ext cx="6479851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wants to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filter homes by care type and compliance record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and share his</a:t>
              </a:r>
              <a:br>
                <a:rPr/>
              </a:b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shortlist with the rest of the family easily.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331151" cy="264033"/>
            <a:chOff x="602742" y="587692"/>
            <a:chExt cx="133115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33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Who we build for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5878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User Personas – The Elderly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persona-name"/>
          <p:cNvGrpSpPr/>
          <p:nvPr/>
        </p:nvGrpSpPr>
        <p:grpSpPr>
          <a:xfrm>
            <a:off x="609600" y="1676400"/>
            <a:ext cx="3200400" cy="4610100"/>
            <a:chOff x="609600" y="1676400"/>
            <a:chExt cx="3200400" cy="4610100"/>
          </a:xfrm>
        </p:grpSpPr>
        <p:sp>
          <p:nvSpPr>
            <p:cNvPr id="8" name="Rectangle 8"/>
            <p:cNvSpPr/>
            <p:nvPr/>
          </p:nvSpPr>
          <p:spPr>
            <a:xfrm>
              <a:off x="609600" y="1676400"/>
              <a:ext cx="3200400" cy="461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1988820"/>
              <a:ext cx="283232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Michael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790825"/>
              <a:ext cx="905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5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 · Dublin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318135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persona-profile"/>
          <p:cNvGrpSpPr/>
          <p:nvPr/>
        </p:nvGrpSpPr>
        <p:grpSpPr>
          <a:xfrm>
            <a:off x="4182618" y="1764982"/>
            <a:ext cx="7399782" cy="3846957"/>
            <a:chOff x="4182618" y="1764982"/>
            <a:chExt cx="7399782" cy="3846957"/>
          </a:xfrm>
        </p:grpSpPr>
        <p:grpSp>
          <p:nvGrpSpPr>
            <p:cNvPr id="18" name="Group 18"/>
            <p:cNvGrpSpPr/>
            <p:nvPr/>
          </p:nvGrpSpPr>
          <p:grpSpPr>
            <a:xfrm>
              <a:off x="4191000" y="2138362"/>
              <a:ext cx="7391400" cy="2771775"/>
              <a:chOff x="4191000" y="2138362"/>
              <a:chExt cx="7391400" cy="277177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4191000" y="213836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191000" y="290036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4191000" y="337661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191000" y="413861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4191000" y="4900612"/>
                <a:ext cx="7391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91400" h="9525">
                    <a:moveTo>
                      <a:pt x="0" y="0"/>
                    </a:moveTo>
                    <a:lnTo>
                      <a:pt x="7391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182618" y="1764982"/>
              <a:ext cx="3917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Michael, 68 years old, lives alone in Dublin.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2618" y="2241232"/>
              <a:ext cx="6544875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Has always been independent and managed well at home, but has started to</a:t>
              </a:r>
              <a:br/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realise he may eventually need more support with everyday activities.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2618" y="3003232"/>
              <a:ext cx="56857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wants to be involved in the decision making with his family.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2618" y="3479482"/>
              <a:ext cx="6115649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comes across several nursing homes but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finds it difficult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to work out</a:t>
              </a:r>
              <a:br>
                <a:rPr/>
              </a:b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they compare.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2618" y="4241482"/>
              <a:ext cx="5534079" cy="572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discovers HIQA reports but they're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quite lengthy and contain</a:t>
              </a:r>
              <a:br>
                <a:rPr b="1">
                  <a:solidFill>
                    <a:schemeClr val="accent2"/>
                  </a:solidFill>
                </a:rPr>
              </a:b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lot of information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2618" y="5003482"/>
              <a:ext cx="63988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 doesn't want to know which is “best”, but </a:t>
              </a:r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wants to see evidence that a</a:t>
              </a:r>
              <a:br/>
              <a:r>
                <a:rPr lang="en-IE" sz="165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nursing home is capable of providing care</a:t>
              </a:r>
              <a:r>
                <a:rPr lang="en-IE" sz="165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593598" y="879158"/>
            <a:ext cx="10988802" cy="568642"/>
            <a:chOff x="593598" y="879158"/>
            <a:chExt cx="10988802" cy="568642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879158"/>
              <a:ext cx="543898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Storyboard – from the dev site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08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5B1337-1DCA-38A0-567E-EC84FA2AC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" y="1588770"/>
            <a:ext cx="11003280" cy="4686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823830" cy="264033"/>
            <a:chOff x="602742" y="587692"/>
            <a:chExt cx="82383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823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Next week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395864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Goals for next week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2" name="next-week-goals"/>
          <p:cNvGrpSpPr/>
          <p:nvPr/>
        </p:nvGrpSpPr>
        <p:grpSpPr>
          <a:xfrm>
            <a:off x="609600" y="1885950"/>
            <a:ext cx="10972800" cy="3655695"/>
            <a:chOff x="609600" y="1885950"/>
            <a:chExt cx="10972800" cy="3655695"/>
          </a:xfrm>
        </p:grpSpPr>
        <p:grpSp>
          <p:nvGrpSpPr>
            <p:cNvPr id="11" name="Group 11"/>
            <p:cNvGrpSpPr/>
            <p:nvPr/>
          </p:nvGrpSpPr>
          <p:grpSpPr>
            <a:xfrm>
              <a:off x="1181100" y="2767012"/>
              <a:ext cx="10401300" cy="1990725"/>
              <a:chOff x="1181100" y="2767012"/>
              <a:chExt cx="10401300" cy="199072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181100" y="2767012"/>
                <a:ext cx="10401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01300" h="9525">
                    <a:moveTo>
                      <a:pt x="0" y="0"/>
                    </a:moveTo>
                    <a:lnTo>
                      <a:pt x="104013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181100" y="3757612"/>
                <a:ext cx="10401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01300" h="9525">
                    <a:moveTo>
                      <a:pt x="0" y="0"/>
                    </a:moveTo>
                    <a:lnTo>
                      <a:pt x="104013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181100" y="4748212"/>
                <a:ext cx="10401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01300" h="9525">
                    <a:moveTo>
                      <a:pt x="0" y="0"/>
                    </a:moveTo>
                    <a:lnTo>
                      <a:pt x="104013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sp>
          <p:nvSpPr>
            <p:cNvPr id="12" name="Ellipse 12"/>
            <p:cNvSpPr/>
            <p:nvPr/>
          </p:nvSpPr>
          <p:spPr>
            <a:xfrm>
              <a:off x="609600" y="188595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09600" y="2876550"/>
              <a:ext cx="381000" cy="2362200"/>
              <a:chOff x="609600" y="2876550"/>
              <a:chExt cx="381000" cy="23622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609600" y="28765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609600" y="38671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609600" y="48577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741311" y="1981200"/>
              <a:ext cx="117578" cy="3265170"/>
              <a:chOff x="741311" y="1981200"/>
              <a:chExt cx="117578" cy="326517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41311" y="1981200"/>
                <a:ext cx="1175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41311" y="2971800"/>
                <a:ext cx="1175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41311" y="3962400"/>
                <a:ext cx="1175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1311" y="4953000"/>
                <a:ext cx="1175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71956" y="1958340"/>
              <a:ext cx="2636325" cy="3323844"/>
              <a:chOff x="1171956" y="1958340"/>
              <a:chExt cx="2636325" cy="3323844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171956" y="1958340"/>
                <a:ext cx="26363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Reports into the database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71956" y="2948940"/>
                <a:ext cx="7174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Guides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71956" y="3939540"/>
                <a:ext cx="2292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Comparison Grid View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1956" y="4930140"/>
                <a:ext cx="23910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Data Visualization page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173480" y="2276475"/>
              <a:ext cx="8894966" cy="3265170"/>
              <a:chOff x="1173480" y="2276475"/>
              <a:chExt cx="8894966" cy="326517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173480" y="2276475"/>
                <a:ext cx="534268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IE" sz="1500">
                    <a:solidFill>
                      <a:schemeClr val="accent5"/>
                    </a:solidFill>
                  </a:rPr>
                  <a:t>Store the parsed</a:t>
                </a:r>
                <a:r>
                  <a:rPr lang="en-IE" sz="15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IE" sz="1500" err="1">
                    <a:solidFill>
                      <a:schemeClr val="accent5"/>
                    </a:solidFill>
                  </a:rPr>
                  <a:t>hiqa</a:t>
                </a:r>
                <a:r>
                  <a:rPr lang="en-IE" sz="1500">
                    <a:solidFill>
                      <a:schemeClr val="accent5"/>
                    </a:solidFill>
                  </a:rPr>
                  <a:t> reports into database</a:t>
                </a:r>
                <a:r>
                  <a:rPr lang="en-IE" sz="15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; then </a:t>
                </a:r>
                <a:r>
                  <a:rPr lang="en-IE" sz="1500">
                    <a:solidFill>
                      <a:schemeClr val="accent5"/>
                    </a:solidFill>
                  </a:rPr>
                  <a:t>preview these in UI</a:t>
                </a:r>
                <a:endParaRPr lang="en-IE" sz="150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3480" y="3267075"/>
                <a:ext cx="88949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Fair Deal, documents, the legal side, how to read a report · medical topics such as dementia and Alzheimer's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73480" y="4257675"/>
                <a:ext cx="46611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Two homes, the same regulations, “not assessed” visible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73480" y="5248275"/>
                <a:ext cx="68577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The older population now and projected, from CSO and Department of Health data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526074" cy="264033"/>
            <a:chOff x="602742" y="587692"/>
            <a:chExt cx="152607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52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System architecture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54077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How ClearCare runs today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" name="hiqa-source"/>
          <p:cNvGrpSpPr/>
          <p:nvPr/>
        </p:nvGrpSpPr>
        <p:grpSpPr>
          <a:xfrm>
            <a:off x="609600" y="2324100"/>
            <a:ext cx="1676400" cy="1485900"/>
            <a:chOff x="609600" y="2324100"/>
            <a:chExt cx="1676400" cy="1485900"/>
          </a:xfrm>
        </p:grpSpPr>
        <p:sp>
          <p:nvSpPr>
            <p:cNvPr id="8" name="Rectangle 8"/>
            <p:cNvSpPr/>
            <p:nvPr/>
          </p:nvSpPr>
          <p:spPr>
            <a:xfrm>
              <a:off x="609600" y="2324100"/>
              <a:ext cx="1676400" cy="14859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4288">
              <a:solidFill>
                <a:srgbClr val="5865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2524125"/>
              <a:ext cx="1188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500" b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HIQA website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2807018"/>
              <a:ext cx="1283955" cy="892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registers (CSV),</a:t>
              </a:r>
              <a:br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centre pages,</a:t>
              </a:r>
              <a:br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inspection reports</a:t>
              </a:r>
              <a:br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(PDF)</a:t>
              </a:r>
            </a:p>
          </p:txBody>
        </p:sp>
      </p:grpSp>
      <p:grpSp>
        <p:nvGrpSpPr>
          <p:cNvPr id="46" name="ingest"/>
          <p:cNvGrpSpPr/>
          <p:nvPr/>
        </p:nvGrpSpPr>
        <p:grpSpPr>
          <a:xfrm>
            <a:off x="2314575" y="1866900"/>
            <a:ext cx="6810375" cy="3543300"/>
            <a:chOff x="2314575" y="1866900"/>
            <a:chExt cx="6810375" cy="3543300"/>
          </a:xfrm>
        </p:grpSpPr>
        <p:grpSp>
          <p:nvGrpSpPr>
            <p:cNvPr id="14" name="pipeline-field"/>
            <p:cNvGrpSpPr/>
            <p:nvPr/>
          </p:nvGrpSpPr>
          <p:grpSpPr>
            <a:xfrm>
              <a:off x="2667000" y="1866900"/>
              <a:ext cx="6096000" cy="2095500"/>
              <a:chOff x="2667000" y="1866900"/>
              <a:chExt cx="6096000" cy="2095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667000" y="1866900"/>
                <a:ext cx="6096000" cy="2095500"/>
              </a:xfrm>
              <a:prstGeom prst="roundRect">
                <a:avLst>
                  <a:gd name="adj" fmla="val 1818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88742" y="2006918"/>
                <a:ext cx="17248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 b="1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Data pipeline (Python)</a:t>
                </a:r>
              </a:p>
            </p:txBody>
          </p:sp>
        </p:grpSp>
        <p:grpSp>
          <p:nvGrpSpPr>
            <p:cNvPr id="18" name="pipeline-jobs"/>
            <p:cNvGrpSpPr/>
            <p:nvPr/>
          </p:nvGrpSpPr>
          <p:grpSpPr>
            <a:xfrm>
              <a:off x="2895600" y="2324100"/>
              <a:ext cx="5715000" cy="1447800"/>
              <a:chOff x="2895600" y="2324100"/>
              <a:chExt cx="5715000" cy="14478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2895600" y="2324100"/>
                <a:ext cx="21336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895600" y="3124200"/>
                <a:ext cx="21336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477000" y="2324100"/>
                <a:ext cx="21336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</p:grpSp>
        <p:sp>
          <p:nvSpPr>
            <p:cNvPr id="19" name="Rectangle 19"/>
            <p:cNvSpPr/>
            <p:nvPr/>
          </p:nvSpPr>
          <p:spPr>
            <a:xfrm>
              <a:off x="6477000" y="3124200"/>
              <a:ext cx="2133600" cy="6477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4288">
              <a:solidFill>
                <a:schemeClr val="accent2"/>
              </a:solidFill>
              <a:custDash>
                <a:ds d="400000" sp="266667"/>
              </a:custDash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040380" y="2428875"/>
              <a:ext cx="4871733" cy="1093470"/>
              <a:chOff x="3040380" y="2428875"/>
              <a:chExt cx="4871733" cy="10934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3040380" y="2428875"/>
                <a:ext cx="88052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Snapshots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40380" y="3228975"/>
                <a:ext cx="16560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Report downloader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21780" y="2552700"/>
                <a:ext cx="12903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Register loader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21780" y="3228975"/>
                <a:ext cx="11742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500" b="1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Report parser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041142" y="2692718"/>
              <a:ext cx="5391314" cy="1064133"/>
              <a:chOff x="3041142" y="2692718"/>
              <a:chExt cx="5391314" cy="106413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3041142" y="2692718"/>
                <a:ext cx="1747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daily register download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041142" y="3492818"/>
                <a:ext cx="810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per county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22542" y="3492818"/>
                <a:ext cx="18099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written, not wired in yet</a:t>
                </a:r>
              </a:p>
            </p:txBody>
          </p:sp>
        </p:grpSp>
        <p:grpSp>
          <p:nvGrpSpPr>
            <p:cNvPr id="32" name="raw-store"/>
            <p:cNvGrpSpPr/>
            <p:nvPr/>
          </p:nvGrpSpPr>
          <p:grpSpPr>
            <a:xfrm>
              <a:off x="4800600" y="4305300"/>
              <a:ext cx="1905000" cy="1104900"/>
              <a:chOff x="4800600" y="4305300"/>
              <a:chExt cx="1905000" cy="1104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800600" y="4305300"/>
                <a:ext cx="1905000" cy="1104900"/>
              </a:xfrm>
              <a:prstGeom prst="can">
                <a:avLst/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321477" y="4676775"/>
                <a:ext cx="8632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Raw store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089931" y="4921568"/>
                <a:ext cx="1326337" cy="464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575"/>
                  </a:lnSpc>
                </a:pPr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every download,</a:t>
                </a:r>
                <a:br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content-addressed</a:t>
                </a:r>
              </a:p>
            </p:txBody>
          </p:sp>
        </p:grpSp>
        <p:grpSp>
          <p:nvGrpSpPr>
            <p:cNvPr id="36" name="object-storage"/>
            <p:cNvGrpSpPr/>
            <p:nvPr/>
          </p:nvGrpSpPr>
          <p:grpSpPr>
            <a:xfrm>
              <a:off x="2667000" y="4305300"/>
              <a:ext cx="1676400" cy="1104900"/>
              <a:chOff x="2667000" y="4305300"/>
              <a:chExt cx="1676400" cy="11049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2667000" y="4305300"/>
                <a:ext cx="1676400" cy="1104900"/>
              </a:xfrm>
              <a:prstGeom prst="can">
                <a:avLst/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881760" y="4733925"/>
                <a:ext cx="12468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Object storage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902317" y="4978718"/>
                <a:ext cx="12057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write-once copy</a:t>
                </a:r>
              </a:p>
            </p:txBody>
          </p:sp>
        </p:grpSp>
        <p:grpSp>
          <p:nvGrpSpPr>
            <p:cNvPr id="44" name="ingest-edges"/>
            <p:cNvGrpSpPr/>
            <p:nvPr/>
          </p:nvGrpSpPr>
          <p:grpSpPr>
            <a:xfrm>
              <a:off x="2314575" y="2647950"/>
              <a:ext cx="6810375" cy="2228851"/>
              <a:chOff x="2314575" y="2647950"/>
              <a:chExt cx="6810375" cy="2228851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2314575" y="2647950"/>
                <a:ext cx="561975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2314575" y="3448050"/>
                <a:ext cx="561975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5029200" y="2819400"/>
                <a:ext cx="647700" cy="1514475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5029200" y="3619500"/>
                <a:ext cx="495300" cy="714375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1" name="Line 41"/>
              <p:cNvSpPr/>
              <p:nvPr/>
            </p:nvSpPr>
            <p:spPr>
              <a:xfrm flipV="1">
                <a:off x="5905500" y="2819400"/>
                <a:ext cx="552450" cy="1514475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2" name="Line 42"/>
              <p:cNvSpPr/>
              <p:nvPr/>
            </p:nvSpPr>
            <p:spPr>
              <a:xfrm flipH="1">
                <a:off x="4362450" y="4876800"/>
                <a:ext cx="4381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8610600" y="2647950"/>
                <a:ext cx="514350" cy="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sp>
          <p:nvSpPr>
            <p:cNvPr id="45" name="Line 45"/>
            <p:cNvSpPr/>
            <p:nvPr/>
          </p:nvSpPr>
          <p:spPr>
            <a:xfrm flipV="1">
              <a:off x="6000750" y="3638550"/>
              <a:ext cx="457200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custDash>
                <a:ds d="300000" sp="200000"/>
              </a:custDash>
              <a:tailEnd type="triangle" w="lg" len="lg"/>
            </a:ln>
          </p:spPr>
        </p:sp>
      </p:grpSp>
      <p:grpSp>
        <p:nvGrpSpPr>
          <p:cNvPr id="67" name="serve"/>
          <p:cNvGrpSpPr/>
          <p:nvPr/>
        </p:nvGrpSpPr>
        <p:grpSpPr>
          <a:xfrm>
            <a:off x="9144000" y="1866900"/>
            <a:ext cx="2438400" cy="4343400"/>
            <a:chOff x="9144000" y="1866900"/>
            <a:chExt cx="2438400" cy="4343400"/>
          </a:xfrm>
        </p:grpSpPr>
        <p:grpSp>
          <p:nvGrpSpPr>
            <p:cNvPr id="50" name="postgres"/>
            <p:cNvGrpSpPr/>
            <p:nvPr/>
          </p:nvGrpSpPr>
          <p:grpSpPr>
            <a:xfrm>
              <a:off x="9144000" y="1866900"/>
              <a:ext cx="2438400" cy="1066800"/>
              <a:chOff x="9144000" y="1866900"/>
              <a:chExt cx="2438400" cy="1066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144000" y="1866900"/>
                <a:ext cx="2438400" cy="1066800"/>
              </a:xfrm>
              <a:prstGeom prst="can">
                <a:avLst/>
              </a:prstGeom>
              <a:solidFill>
                <a:srgbClr val="FFFFFF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867203" y="2219325"/>
                <a:ext cx="9919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PostgreSQL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417002" y="2464118"/>
                <a:ext cx="1892397" cy="464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575"/>
                  </a:lnSpc>
                </a:pPr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register tables</a:t>
                </a:r>
                <a:br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SQL migrations, insert-only</a:t>
                </a:r>
              </a:p>
            </p:txBody>
          </p:sp>
        </p:grpSp>
        <p:grpSp>
          <p:nvGrpSpPr>
            <p:cNvPr id="53" name="serving-apps"/>
            <p:cNvGrpSpPr/>
            <p:nvPr/>
          </p:nvGrpSpPr>
          <p:grpSpPr>
            <a:xfrm>
              <a:off x="9144000" y="3181350"/>
              <a:ext cx="2438400" cy="1962150"/>
              <a:chOff x="9144000" y="3181350"/>
              <a:chExt cx="2438400" cy="19621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9144000" y="3181350"/>
                <a:ext cx="2438400" cy="819150"/>
              </a:xfrm>
              <a:prstGeom prst="roundRect">
                <a:avLst>
                  <a:gd name="adj" fmla="val 465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9144000" y="4324350"/>
                <a:ext cx="2438400" cy="819150"/>
              </a:xfrm>
              <a:prstGeom prst="roundRect">
                <a:avLst>
                  <a:gd name="adj" fmla="val 465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10194986" y="3286125"/>
              <a:ext cx="336429" cy="1436370"/>
              <a:chOff x="10194986" y="3286125"/>
              <a:chExt cx="336429" cy="1436370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10205716" y="3286125"/>
                <a:ext cx="3149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API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194986" y="4429125"/>
                <a:ext cx="3364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5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Site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9431541" y="3530918"/>
              <a:ext cx="1863319" cy="1607058"/>
              <a:chOff x="9431541" y="3530918"/>
              <a:chExt cx="1863319" cy="1607058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9431541" y="3530918"/>
                <a:ext cx="1863319" cy="464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575"/>
                  </a:lnSpc>
                </a:pPr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Spring Boot, read only:</a:t>
                </a:r>
                <a:br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search centres, one centre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673448" y="4673918"/>
                <a:ext cx="1379504" cy="464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575"/>
                  </a:lnSpc>
                </a:pPr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Next.js on Vercel</a:t>
                </a:r>
                <a:br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search, centre page</a:t>
                </a:r>
              </a:p>
            </p:txBody>
          </p:sp>
        </p:grpSp>
        <p:sp>
          <p:nvSpPr>
            <p:cNvPr id="60" name="Rectangle 60"/>
            <p:cNvSpPr/>
            <p:nvPr/>
          </p:nvSpPr>
          <p:spPr>
            <a:xfrm>
              <a:off x="9144000" y="5467350"/>
              <a:ext cx="2438400" cy="742950"/>
            </a:xfrm>
            <a:prstGeom prst="roundRect">
              <a:avLst>
                <a:gd name="adj" fmla="val 512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49908" y="5610225"/>
              <a:ext cx="1626584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IE" sz="150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Families, advocates,</a:t>
              </a:r>
              <a:br/>
              <a:r>
                <a:rPr lang="en-IE" sz="150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journalists, regulator</a:t>
              </a:r>
            </a:p>
          </p:txBody>
        </p:sp>
        <p:grpSp>
          <p:nvGrpSpPr>
            <p:cNvPr id="65" name="serve-edges"/>
            <p:cNvGrpSpPr/>
            <p:nvPr/>
          </p:nvGrpSpPr>
          <p:grpSpPr>
            <a:xfrm>
              <a:off x="10363200" y="2943225"/>
              <a:ext cx="1" cy="2505075"/>
              <a:chOff x="10363200" y="2943225"/>
              <a:chExt cx="1" cy="2505075"/>
            </a:xfrm>
          </p:grpSpPr>
          <p:sp>
            <p:nvSpPr>
              <p:cNvPr id="62" name="Line 62"/>
              <p:cNvSpPr/>
              <p:nvPr/>
            </p:nvSpPr>
            <p:spPr>
              <a:xfrm>
                <a:off x="10363200" y="2943225"/>
                <a:ext cx="1" cy="219075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0363200" y="4000500"/>
                <a:ext cx="1" cy="3048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10363200" y="5143500"/>
                <a:ext cx="1" cy="30480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tailEnd type="triangle" w="lg" len="lg"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70642" y="4064318"/>
              <a:ext cx="507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HTTPS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0031163" y="6480810"/>
            <a:ext cx="15573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4 · 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learcare_week3">
  <a:themeElements>
    <a:clrScheme name="clearcare_week3">
      <a:dk1>
        <a:srgbClr val="202B27"/>
      </a:dk1>
      <a:lt1>
        <a:srgbClr val="F8F6F0"/>
      </a:lt1>
      <a:dk2>
        <a:srgbClr val="1F497D"/>
      </a:dk2>
      <a:lt2>
        <a:srgbClr val="E9EEE8"/>
      </a:lt2>
      <a:accent1>
        <a:srgbClr val="173E36"/>
      </a:accent1>
      <a:accent2>
        <a:srgbClr val="B64F32"/>
      </a:accent2>
      <a:accent3>
        <a:srgbClr val="63775F"/>
      </a:accent3>
      <a:accent4>
        <a:srgbClr val="173E36"/>
      </a:accent4>
      <a:accent5>
        <a:srgbClr val="58655F"/>
      </a:accent5>
      <a:accent6>
        <a:srgbClr val="C7CEC5"/>
      </a:accent6>
      <a:hlink>
        <a:srgbClr val="B64F32"/>
      </a:hlink>
      <a:folHlink>
        <a:srgbClr val="63775F"/>
      </a:folHlink>
    </a:clrScheme>
    <a:fontScheme name="clearcare_week3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earcare_week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learcare_week3">
  <a:themeElements>
    <a:clrScheme name="clearcare_week3">
      <a:dk1>
        <a:srgbClr val="202B27"/>
      </a:dk1>
      <a:lt1>
        <a:srgbClr val="F8F6F0"/>
      </a:lt1>
      <a:dk2>
        <a:srgbClr val="1F497D"/>
      </a:dk2>
      <a:lt2>
        <a:srgbClr val="E9EEE8"/>
      </a:lt2>
      <a:accent1>
        <a:srgbClr val="173E36"/>
      </a:accent1>
      <a:accent2>
        <a:srgbClr val="B64F32"/>
      </a:accent2>
      <a:accent3>
        <a:srgbClr val="63775F"/>
      </a:accent3>
      <a:accent4>
        <a:srgbClr val="173E36"/>
      </a:accent4>
      <a:accent5>
        <a:srgbClr val="58655F"/>
      </a:accent5>
      <a:accent6>
        <a:srgbClr val="C7CEC5"/>
      </a:accent6>
      <a:hlink>
        <a:srgbClr val="B64F32"/>
      </a:hlink>
      <a:folHlink>
        <a:srgbClr val="63775F"/>
      </a:folHlink>
    </a:clrScheme>
    <a:fontScheme name="clearcare_week3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earcare_week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clearcare_week3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revision>4</cp:revision>
  <dcterms:created xsi:type="dcterms:W3CDTF">2026-10-08T18:27:48Z</dcterms:created>
  <dcterms:modified xsi:type="dcterms:W3CDTF">2026-10-09T15:08:54Z</dcterms:modified>
  <cp:category/>
  <cp:contentStatus/>
  <dc:language>en-IE</dc:language>
</cp:coreProperties>
</file>