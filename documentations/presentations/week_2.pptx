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5" r:id="rId9"/>
    <p:sldId id="263" r:id="rId10"/>
    <p:sldId id="264" r:id="rId11"/>
  </p:sldIdLst>
  <p:sldSz cx="12192000" cy="6858000"/>
  <p:notesSz cx="6858000" cy="9144000"/>
  <p:defaultTextStyle>
    <a:defPPr>
      <a:defRPr lang="en-IE"/>
    </a:defPPr>
    <a:lvl1pPr marL="0" algn="l" defTabSz="457200" rtl="0" eaLnBrk="1" latinLnBrk="0" hangingPunct="1">
      <a:defRPr lang="en-IE" sz="1800" kern="1200">
        <a:solidFill>
          <a:schemeClr val="tx1"/>
        </a:solidFill>
        <a:latin typeface="+mn-lt"/>
        <a:ea typeface="+mn-ea"/>
        <a:cs typeface="+mn-cs"/>
      </a:defRPr>
    </a:lvl1pPr>
    <a:lvl2pPr marL="457200" algn="l" defTabSz="457200" rtl="0" eaLnBrk="1" latinLnBrk="0" hangingPunct="1">
      <a:defRPr lang="en-IE" sz="1800" kern="1200">
        <a:solidFill>
          <a:schemeClr val="tx1"/>
        </a:solidFill>
        <a:latin typeface="+mn-lt"/>
        <a:ea typeface="+mn-ea"/>
        <a:cs typeface="+mn-cs"/>
      </a:defRPr>
    </a:lvl2pPr>
    <a:lvl3pPr marL="914400" algn="l" defTabSz="457200" rtl="0" eaLnBrk="1" latinLnBrk="0" hangingPunct="1">
      <a:defRPr lang="en-IE" sz="1800" kern="1200">
        <a:solidFill>
          <a:schemeClr val="tx1"/>
        </a:solidFill>
        <a:latin typeface="+mn-lt"/>
        <a:ea typeface="+mn-ea"/>
        <a:cs typeface="+mn-cs"/>
      </a:defRPr>
    </a:lvl3pPr>
    <a:lvl4pPr marL="1371600" algn="l" defTabSz="457200" rtl="0" eaLnBrk="1" latinLnBrk="0" hangingPunct="1">
      <a:defRPr lang="en-IE" sz="1800" kern="1200">
        <a:solidFill>
          <a:schemeClr val="tx1"/>
        </a:solidFill>
        <a:latin typeface="+mn-lt"/>
        <a:ea typeface="+mn-ea"/>
        <a:cs typeface="+mn-cs"/>
      </a:defRPr>
    </a:lvl4pPr>
    <a:lvl5pPr marL="1828800" algn="l" defTabSz="457200" rtl="0" eaLnBrk="1" latinLnBrk="0" hangingPunct="1">
      <a:defRPr lang="en-IE" sz="1800" kern="1200">
        <a:solidFill>
          <a:schemeClr val="tx1"/>
        </a:solidFill>
        <a:latin typeface="+mn-lt"/>
        <a:ea typeface="+mn-ea"/>
        <a:cs typeface="+mn-cs"/>
      </a:defRPr>
    </a:lvl5pPr>
    <a:lvl6pPr marL="2286000" algn="l" defTabSz="457200" rtl="0" eaLnBrk="1" latinLnBrk="0" hangingPunct="1">
      <a:defRPr lang="en-IE" sz="1800" kern="1200">
        <a:solidFill>
          <a:schemeClr val="tx1"/>
        </a:solidFill>
        <a:latin typeface="+mn-lt"/>
        <a:ea typeface="+mn-ea"/>
        <a:cs typeface="+mn-cs"/>
      </a:defRPr>
    </a:lvl6pPr>
    <a:lvl7pPr marL="2743200" algn="l" defTabSz="457200" rtl="0" eaLnBrk="1" latinLnBrk="0" hangingPunct="1">
      <a:defRPr lang="en-IE" sz="1800" kern="1200">
        <a:solidFill>
          <a:schemeClr val="tx1"/>
        </a:solidFill>
        <a:latin typeface="+mn-lt"/>
        <a:ea typeface="+mn-ea"/>
        <a:cs typeface="+mn-cs"/>
      </a:defRPr>
    </a:lvl7pPr>
    <a:lvl8pPr marL="3200400" algn="l" defTabSz="457200" rtl="0" eaLnBrk="1" latinLnBrk="0" hangingPunct="1">
      <a:defRPr lang="en-IE" sz="1800" kern="1200">
        <a:solidFill>
          <a:schemeClr val="tx1"/>
        </a:solidFill>
        <a:latin typeface="+mn-lt"/>
        <a:ea typeface="+mn-ea"/>
        <a:cs typeface="+mn-cs"/>
      </a:defRPr>
    </a:lvl8pPr>
    <a:lvl9pPr marL="3657600" algn="l" defTabSz="457200" rtl="0" eaLnBrk="1" latinLnBrk="0" hangingPunct="1">
      <a:defRPr lang="en-IE"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88" dt="2026-09-25T09:51:57.388"/>
    <p1510:client id="{6BD800BD-95C3-8226-3E5D-09034D8A76F5}" v="2" dt="2026-09-25T08:01:04.761"/>
    <p1510:client id="{DB85433A-BF09-C817-7DDB-42C67DCD7FCD}" v="583" dt="2026-09-24T10:52:20.015"/>
    <p1510:client id="{EF0F7045-3E96-1B48-A43F-4C7FCF6A940B}" v="912" dt="2026-09-25T10:05:37.2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IE"/>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IE"/>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IE"/>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IE"/>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IE"/>
          </a:p>
        </p:txBody>
      </p:sp>
    </p:spTree>
  </p:cSld>
  <p:clrMap bg1="lt1" tx1="dk1" bg2="lt2" tx2="dk2" accent1="accent1" accent2="accent2" accent3="accent3" accent4="accent4" accent5="accent5" accent6="accent6" hlink="hlink" folHlink="folHlink"/>
  <p:hf/>
  <p:notesStyle>
    <a:lvl1pPr marL="0" algn="l">
      <a:defRPr lang="en-IE"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IE"/>
              <a:t>ClearCare starts with a family's question when choosing a nursing home: Which one would be the best for our needs? After that: "Does this nursing home provide reliable care and amenities to its occupants?"</a:t>
            </a:r>
          </a:p>
          <a:p>
            <a:endParaRPr lang="en-IE"/>
          </a:p>
          <a:p>
            <a:r>
              <a:rPr lang="en-IE"/>
              <a:t>Ireland has 545 registered homes and about 32,400 beds. The Health Information and Quality Authority (HIQA) is an independent body that conducts regular inspections on Irish nursing homes and provides a publicly available platform for these inspection reports. When a family chooses a nursing home through locations and amenities, the recommended next step is to look at inspection reports. These reports would show if the provider is compliant in regulations and/or capable in making improvements/changes as advised by the HIQA. Going through these long reports and comparing them places a heavy burden on the user to come to a conclusion on deciding which provider to choose.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IE"/>
              <a:t>On September 2026, there are over 2,200 reports. Each inspection report typically contains 20-30 pages. Inspector judgements, nursing home provider responses, resident experiences, and follow-up inspections require separate/comprehensive reading, often across different regulation sets. </a:t>
            </a:r>
            <a:endParaRPr lang="en-US"/>
          </a:p>
          <a:p>
            <a:endParaRPr lang="en-IE"/>
          </a:p>
          <a:p>
            <a:r>
              <a:rPr lang="en-IE"/>
              <a:t>Existing websites such as </a:t>
            </a:r>
            <a:r>
              <a:rPr lang="en-IE" err="1"/>
              <a:t>nursinghomecare</a:t>
            </a:r>
            <a:r>
              <a:rPr lang="en-IE"/>
              <a:t>, </a:t>
            </a:r>
            <a:r>
              <a:rPr lang="en-IE" err="1"/>
              <a:t>FindCare</a:t>
            </a:r>
            <a:r>
              <a:rPr lang="en-IE"/>
              <a:t> and HIQA do provide a directory of reports but does not simplify the process for families choosing a nursing home based on regulation compliances. England's CQC website does this by not only providing the report, but as well provide a visual representation of the inspection ratings without having to read long pdfs. But for ClearCare, instead of displaying the ratings, we will aim to visually display the summarized reports and any rechecked regulations in a user friendly format.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IE"/>
              <a:t>Through </a:t>
            </a:r>
            <a:r>
              <a:rPr lang="en-IE" err="1"/>
              <a:t>Clearcare</a:t>
            </a:r>
            <a:r>
              <a:rPr lang="en-IE"/>
              <a:t>, we propose </a:t>
            </a:r>
            <a:r>
              <a:rPr lang="en-IE" b="0" u="sng"/>
              <a:t>a structured, time aware record of regulation checks</a:t>
            </a:r>
            <a:r>
              <a:rPr lang="en-IE" b="1"/>
              <a:t> </a:t>
            </a:r>
            <a:r>
              <a:rPr lang="en-IE"/>
              <a:t>for each home. </a:t>
            </a:r>
            <a:endParaRPr lang="en-US"/>
          </a:p>
          <a:p>
            <a:endParaRPr lang="en-US"/>
          </a:p>
          <a:p>
            <a:r>
              <a:rPr lang="en-US"/>
              <a:t>Each home inspection report </a:t>
            </a:r>
            <a:r>
              <a:rPr lang="en-US" u="sng"/>
              <a:t>summary will have a regulation level finding and the following year’s finding</a:t>
            </a:r>
            <a:r>
              <a:rPr lang="en-US"/>
              <a:t> and the following year’s and so on. </a:t>
            </a:r>
          </a:p>
          <a:p>
            <a:endParaRPr lang="en-US"/>
          </a:p>
          <a:p>
            <a:r>
              <a:rPr lang="en-US"/>
              <a:t>On a </a:t>
            </a:r>
            <a:r>
              <a:rPr lang="en-US" u="sng"/>
              <a:t>detailed look</a:t>
            </a:r>
            <a:r>
              <a:rPr lang="en-US"/>
              <a:t> at each finding, the </a:t>
            </a:r>
            <a:r>
              <a:rPr lang="en-US" u="sng"/>
              <a:t>provider’s compliance plan</a:t>
            </a:r>
            <a:r>
              <a:rPr lang="en-US"/>
              <a:t> will be highlighted. </a:t>
            </a:r>
          </a:p>
          <a:p>
            <a:r>
              <a:rPr lang="en-US"/>
              <a:t>This is to </a:t>
            </a:r>
            <a:r>
              <a:rPr lang="en-US" u="sng"/>
              <a:t>inform the user</a:t>
            </a:r>
            <a:r>
              <a:rPr lang="en-US"/>
              <a:t> whether there has been a </a:t>
            </a:r>
            <a:r>
              <a:rPr lang="en-US" u="sng"/>
              <a:t>follow through</a:t>
            </a:r>
            <a:r>
              <a:rPr lang="en-US"/>
              <a:t> on the  suggested measures. </a:t>
            </a:r>
          </a:p>
          <a:p>
            <a:r>
              <a:rPr lang="en-US"/>
              <a:t>Because a promised action is not proof of resolution.</a:t>
            </a:r>
          </a:p>
          <a:p>
            <a:endParaRPr lang="en-US"/>
          </a:p>
          <a:p>
            <a:r>
              <a:rPr lang="en-US"/>
              <a:t>In the report summary we provide, users can </a:t>
            </a:r>
            <a:r>
              <a:rPr lang="en-US" u="sng"/>
              <a:t>compare a shortlist</a:t>
            </a:r>
            <a:r>
              <a:rPr lang="en-US"/>
              <a:t> on the regulations they care about.</a:t>
            </a:r>
          </a:p>
          <a:p>
            <a:endParaRPr lang="en-US"/>
          </a:p>
          <a:p>
            <a:r>
              <a:rPr lang="en-US"/>
              <a:t>Every </a:t>
            </a:r>
            <a:r>
              <a:rPr lang="en-US" u="sng"/>
              <a:t>finding retains the inspection and publication dates, regulation, PDF page and inspector’s wording.</a:t>
            </a:r>
          </a:p>
          <a:p>
            <a:r>
              <a:rPr lang="en-US"/>
              <a:t>The judgements: Compliant, substantially compliant, not compliant and not assessed remain distinct.</a:t>
            </a:r>
          </a:p>
          <a:p>
            <a:endParaRPr lang="en-US"/>
          </a:p>
          <a:p>
            <a:r>
              <a:rPr lang="en-US"/>
              <a:t>The primary users are adults choosing elderly care for their loved ones.</a:t>
            </a:r>
          </a:p>
          <a:p>
            <a:r>
              <a:rPr lang="en-US"/>
              <a:t>Advocates journalists, researchers and providers may also use the evidence.</a:t>
            </a:r>
          </a:p>
          <a:p>
            <a:endParaRPr lang="en-US"/>
          </a:p>
          <a:p>
            <a:r>
              <a:rPr lang="en-US"/>
              <a:t> A point to be highlighted is that we never turn those findings into a ranking, overall score or recommendation.</a:t>
            </a:r>
            <a:endParaRPr lang="en-I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US"/>
              <a:t>Our</a:t>
            </a:r>
            <a:r>
              <a:rPr lang="en-IE"/>
              <a:t> goal is to </a:t>
            </a:r>
            <a:r>
              <a:rPr lang="en-IE" u="sng"/>
              <a:t>test whether families answer the evidence question faster and more accurately </a:t>
            </a:r>
            <a:r>
              <a:rPr lang="en-IE"/>
              <a:t>than with </a:t>
            </a:r>
            <a:r>
              <a:rPr lang="en-US"/>
              <a:t>inspection report </a:t>
            </a:r>
            <a:r>
              <a:rPr lang="en-IE"/>
              <a:t>PDFs. </a:t>
            </a:r>
            <a:endParaRPr lang="en-US"/>
          </a:p>
          <a:p>
            <a:endParaRPr lang="en-IE"/>
          </a:p>
          <a:p>
            <a:r>
              <a:rPr lang="en-US"/>
              <a:t>Our e</a:t>
            </a:r>
            <a:r>
              <a:rPr lang="en-IE"/>
              <a:t>valuation has </a:t>
            </a:r>
            <a:r>
              <a:rPr lang="en-IE" u="sng"/>
              <a:t>two halves</a:t>
            </a:r>
            <a:r>
              <a:rPr lang="en-IE"/>
              <a:t>: a </a:t>
            </a:r>
            <a:r>
              <a:rPr lang="en-IE" u="sng"/>
              <a:t>hand-labelled gold set tests the parser</a:t>
            </a:r>
            <a:r>
              <a:rPr lang="en-IE"/>
              <a:t>, and a </a:t>
            </a:r>
            <a:r>
              <a:rPr lang="en-IE" u="sng"/>
              <a:t>user study compares evidence-finding tasks</a:t>
            </a:r>
            <a:r>
              <a:rPr lang="en-IE"/>
              <a:t> against the original documents. </a:t>
            </a:r>
          </a:p>
          <a:p>
            <a:r>
              <a:rPr lang="en-IE"/>
              <a:t>Uncertain extraction should </a:t>
            </a:r>
            <a:r>
              <a:rPr lang="en-US"/>
              <a:t>ideally </a:t>
            </a:r>
            <a:r>
              <a:rPr lang="en-IE"/>
              <a:t>abstain and enter review, not guess.</a:t>
            </a:r>
            <a:endParaRPr lang="en-US"/>
          </a:p>
          <a:p>
            <a:endParaRPr lang="en-US"/>
          </a:p>
          <a:p>
            <a:r>
              <a:rPr lang="en-IE"/>
              <a:t>The planned </a:t>
            </a:r>
            <a:r>
              <a:rPr lang="en-IE" u="sng"/>
              <a:t>Dublin MVP covers about one hundred and thirty homes and three years of reports,</a:t>
            </a:r>
            <a:r>
              <a:rPr lang="en-IE"/>
              <a:t> working end to end for the week-seven demo on the fifth of November. </a:t>
            </a:r>
            <a:endParaRPr lang="en-US"/>
          </a:p>
          <a:p>
            <a:endParaRPr lang="en-US"/>
          </a:p>
          <a:p>
            <a:r>
              <a:rPr lang="en-IE"/>
              <a:t>All counties are planned for week ten, with the final demonstration on the tenth of December. </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IE"/>
              <a:t>The first wireframe shows how someone reaches the comparison. The user inputs a home name, county or Eircode. Then page would then show results through card components and contain the latest inspection date and the number of regulations found not compliant at that inspection, without converting them into an overall score (to avoid distinction bias). A person can add up to three homes to a shortlist. Search is an entry point; the comparison grid is the destination. This is an illustrative wireframe, not a working product or a factual assessment of the example homes used. The layout and copy is subject to change / </a:t>
            </a:r>
            <a:endParaRPr lang="en-US"/>
          </a:p>
          <a:p>
            <a:endParaRPr lang="en-IE"/>
          </a:p>
          <a:p>
            <a:endParaRPr lang="en-IE"/>
          </a:p>
          <a:p>
            <a:r>
              <a:rPr lang="en-IE"/>
              <a:t>after the week-six pilot, based on what participants can actually understand and use.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IE"/>
              <a:t>In the comparison grid, rows represent regulations and columns represent homes. Each cell contains inspection dates and judgment marks, so time and assessment coverage stay visible. Not assessed and not comparable are explicit states rather than unexplained blanks. Selecting a mark opens the inspector's paragraph beside its PDF page, together with the provider's plan and any later assessment of that regulation. The system will be using a legend format where words and shapes accompany colour to support </a:t>
            </a:r>
            <a:r>
              <a:rPr lang="en-IE" err="1"/>
              <a:t>color</a:t>
            </a:r>
            <a:r>
              <a:rPr lang="en-IE"/>
              <a:t> blind users and printed copies. </a:t>
            </a:r>
            <a:endParaRPr lang="en-US"/>
          </a:p>
          <a:p>
            <a:endParaRPr lang="en-IE"/>
          </a:p>
          <a:p>
            <a:r>
              <a:rPr lang="en-IE"/>
              <a:t>(No source no published mark means a reg is not inspected)</a:t>
            </a:r>
          </a:p>
          <a:p>
            <a:endParaRPr lang="en-IE"/>
          </a:p>
          <a:p>
            <a:r>
              <a:rPr lang="en-IE"/>
              <a:t>In the case scenario where if we cannot show the source, we do not publish the mark. Both screens are wireframes with illustrative judgments. The intended benefit is auditable comparison, not a simplified verdict on a home.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IE"/>
              <a:t>The technical work follows four problems. First, extraction must handle changing layouts, scans and wrapped tables, with doubtful fields sent to review. Second, we must link a finding, the provider's promise and later follow-up. Third, homes are renamed and sold, so daily register snapshots and company records support identity resolution. Fourth, dates and regulation coverage determine whether comparison is meaningful. Archived PDFs feed extraction, parsing, review and linking; resolved identities and evidence enter PostgreSQL, then FastAPI serves the Next.js home pages, grid and evidence panel. The planned stack also includes Tailwind, PyMuPDF, Docling, pgvector, PostGIS, object storage, a Docker Compose virtual machine, Vercel and GitHub Actions. Access uses register, centre, map and direct-PDF routes without bypassing browser checks. The reuse plan credits HIQA and excludes personal data; HIQA has not agreed to the project.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6951C-1879-B3D0-4F0A-6D6C1A009B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D73504-6A72-0CEF-6CEB-2E68A5042327}"/>
              </a:ext>
            </a:extLst>
          </p:cNvPr>
          <p:cNvSpPr>
            <a:spLocks noGrp="1" noRot="1" noChangeAspect="1"/>
          </p:cNvSpPr>
          <p:nvPr>
            <p:ph type="sldImg" idx="2"/>
          </p:nvPr>
        </p:nvSpPr>
        <p:spPr>
          <a:xfrm>
            <a:off x="381000" y="685800"/>
            <a:ext cx="6096000" cy="3429000"/>
          </a:xfrm>
        </p:spPr>
      </p:sp>
      <p:sp>
        <p:nvSpPr>
          <p:cNvPr id="3" name="Notes Placeholder 2">
            <a:extLst>
              <a:ext uri="{FF2B5EF4-FFF2-40B4-BE49-F238E27FC236}">
                <a16:creationId xmlns:a16="http://schemas.microsoft.com/office/drawing/2014/main" id="{81BB4752-2CFF-6904-4F22-AED35E0C1C62}"/>
              </a:ext>
            </a:extLst>
          </p:cNvPr>
          <p:cNvSpPr>
            <a:spLocks noGrp="1"/>
          </p:cNvSpPr>
          <p:nvPr>
            <p:ph type="body" sz="quarter" idx="3"/>
          </p:nvPr>
        </p:nvSpPr>
        <p:spPr/>
        <p:txBody>
          <a:bodyPr/>
          <a:lstStyle/>
          <a:p>
            <a:r>
              <a:rPr lang="en-IE"/>
              <a:t>Next week has five owners. Likun builds fixture-driven Next.js home pages, a Vercel preview and the grid's data shape. Aswin starts daily register snapshots and a hashed Dublin PDF archive with a manifest, and requests older reports and a structured export. Waseel audits thirty Dublin reports, checking appendix and compliance-plan variation, then writes the labelling protocol and initial gold set. Twila contacts Sage Advocacy using approved invitations, drafts six interview questions and starts the ethics assessment. Niwash connects the JIRA CC Scrum board to GitHub, protects main and plans numbered Sprint Two tasks. Friday decides the default regulations and appendix-only versus narrative extraction. Proposed defaults cover governance, fire, staffing, training, premises, infection control and residents' rights. These are planned deliverables, not completed work.</a:t>
            </a:r>
          </a:p>
        </p:txBody>
      </p:sp>
    </p:spTree>
    <p:extLst>
      <p:ext uri="{BB962C8B-B14F-4D97-AF65-F5344CB8AC3E}">
        <p14:creationId xmlns:p14="http://schemas.microsoft.com/office/powerpoint/2010/main" val="13547475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IE"/>
              <a:t>Next week has five owners. Likun builds fixture-driven Next.js home pages, a Vercel preview and the grid's data shape. Aswin starts daily register snapshots and a hashed Dublin PDF archive with a manifest, and requests older reports and a structured export. Waseel audits thirty Dublin reports, checking appendix and compliance-plan variation, then writes the labelling protocol and initial gold set. Twila contacts Sage Advocacy using approved invitations, drafts six interview questions and starts the ethics assessment. Niwash connects the JIRA CC Scrum board to GitHub, protects main and plans numbered Sprint Two tasks. Friday decides the default regulations and appendix-only versus narrative extraction. Proposed defaults cover governance, fire, staffing, training, premises, infection control and residents' rights. These are planned deliverables, not completed work.</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IE"/>
              <a:t>Week four makes the scope decision explicit. Measured precision on hand-labelled Dublin reports determines whether we continue full comparison or narrow to source-linked search. We have not established a numerical threshold or achieved accuracy, so neither is claimed here. Variable PDFs are addressed through review and abstention from day one. Slow recruitment means contacting organisations in week two, rather than waiting for the pilot; a smaller formative study can still produce useful findings. Source-access changes call for alternative documented routes and polite crawling. Whichever scope the evidence supports, the foundation stays the same: users can trace what we show back to the source, and we state the limits of what the system knows.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clearcare_week1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IE" smtClean="0"/>
              <a:t>03/10/2026</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C1FF6DA9-008F-8B48-92A6-B652298478BF}" type="slidenum">
              <a:rPr lang="en-IE" smtClean="0"/>
              <a:t>‹#›</a:t>
            </a:fld>
            <a:endParaRPr lang="en-IE"/>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clearcare_week1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en-IE" sz="1200">
                <a:solidFill>
                  <a:schemeClr val="tx1">
                    <a:tint val="75000"/>
                  </a:schemeClr>
                </a:solidFill>
              </a:defRPr>
            </a:lvl1pPr>
          </a:lstStyle>
          <a:p>
            <a:fld id="{5BCAD085-E8A6-8845-BD4E-CB4CCA059FC4}" type="datetimeFigureOut">
              <a:rPr lang="en-IE" smtClean="0"/>
              <a:t>03/10/2026</a:t>
            </a:fld>
            <a:endParaRPr lang="en-IE"/>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en-IE" sz="1200">
                <a:solidFill>
                  <a:schemeClr val="tx1">
                    <a:tint val="75000"/>
                  </a:schemeClr>
                </a:solidFill>
              </a:defRPr>
            </a:lvl1pPr>
          </a:lstStyle>
          <a:p>
            <a:endParaRPr lang="en-IE"/>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en-IE" sz="1200">
                <a:solidFill>
                  <a:schemeClr val="tx1">
                    <a:tint val="75000"/>
                  </a:schemeClr>
                </a:solidFill>
              </a:defRPr>
            </a:lvl1pPr>
          </a:lstStyle>
          <a:p>
            <a:fld id="{C1FF6DA9-008F-8B48-92A6-B652298478BF}" type="slidenum">
              <a:rPr lang="en-IE" smtClean="0"/>
              <a:t>‹#›</a:t>
            </a:fld>
            <a:endParaRPr lang="en-IE"/>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lang="en-IE" sz="42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en-IE"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en-IE" sz="2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en-IE" sz="21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en-IE" sz="19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en-IE"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en-IE" sz="16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en-IE" sz="15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en-IE" sz="13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en-IE" sz="1200" kern="1200">
          <a:solidFill>
            <a:schemeClr val="tx1"/>
          </a:solidFill>
          <a:latin typeface="+mn-lt"/>
          <a:ea typeface="+mn-ea"/>
          <a:cs typeface="+mn-cs"/>
        </a:defRPr>
      </a:lvl9pPr>
    </p:bodyStyle>
    <p:otherStyle>
      <a:defPPr>
        <a:defRPr lang="en-IE"/>
      </a:defPPr>
      <a:lvl1pPr marL="0" algn="l" defTabSz="457200" rtl="0" eaLnBrk="1" latinLnBrk="0" hangingPunct="1">
        <a:defRPr lang="en-IE" sz="2400" kern="1200">
          <a:solidFill>
            <a:schemeClr val="tx1"/>
          </a:solidFill>
          <a:latin typeface="+mn-lt"/>
          <a:ea typeface="+mn-ea"/>
          <a:cs typeface="+mn-cs"/>
        </a:defRPr>
      </a:lvl1pPr>
      <a:lvl2pPr marL="457200" algn="l" defTabSz="457200" rtl="0" eaLnBrk="1" latinLnBrk="0" hangingPunct="1">
        <a:defRPr lang="en-IE" sz="2250" kern="1200">
          <a:solidFill>
            <a:schemeClr val="tx1"/>
          </a:solidFill>
          <a:latin typeface="+mn-lt"/>
          <a:ea typeface="+mn-ea"/>
          <a:cs typeface="+mn-cs"/>
        </a:defRPr>
      </a:lvl2pPr>
      <a:lvl3pPr marL="914400" algn="l" defTabSz="457200" rtl="0" eaLnBrk="1" latinLnBrk="0" hangingPunct="1">
        <a:defRPr lang="en-IE" sz="2100" kern="1200">
          <a:solidFill>
            <a:schemeClr val="tx1"/>
          </a:solidFill>
          <a:latin typeface="+mn-lt"/>
          <a:ea typeface="+mn-ea"/>
          <a:cs typeface="+mn-cs"/>
        </a:defRPr>
      </a:lvl3pPr>
      <a:lvl4pPr marL="1371600" algn="l" defTabSz="457200" rtl="0" eaLnBrk="1" latinLnBrk="0" hangingPunct="1">
        <a:defRPr lang="en-IE" sz="1950" kern="1200">
          <a:solidFill>
            <a:schemeClr val="tx1"/>
          </a:solidFill>
          <a:latin typeface="+mn-lt"/>
          <a:ea typeface="+mn-ea"/>
          <a:cs typeface="+mn-cs"/>
        </a:defRPr>
      </a:lvl4pPr>
      <a:lvl5pPr marL="1828800" algn="l" defTabSz="457200" rtl="0" eaLnBrk="1" latinLnBrk="0" hangingPunct="1">
        <a:defRPr lang="en-IE" sz="1800" kern="1200">
          <a:solidFill>
            <a:schemeClr val="tx1"/>
          </a:solidFill>
          <a:latin typeface="+mn-lt"/>
          <a:ea typeface="+mn-ea"/>
          <a:cs typeface="+mn-cs"/>
        </a:defRPr>
      </a:lvl5pPr>
      <a:lvl6pPr marL="2286000" algn="l" defTabSz="457200" rtl="0" eaLnBrk="1" latinLnBrk="0" hangingPunct="1">
        <a:defRPr lang="en-IE" sz="1650" kern="1200">
          <a:solidFill>
            <a:schemeClr val="tx1"/>
          </a:solidFill>
          <a:latin typeface="+mn-lt"/>
          <a:ea typeface="+mn-ea"/>
          <a:cs typeface="+mn-cs"/>
        </a:defRPr>
      </a:lvl6pPr>
      <a:lvl7pPr marL="2743200" algn="l" defTabSz="457200" rtl="0" eaLnBrk="1" latinLnBrk="0" hangingPunct="1">
        <a:defRPr lang="en-IE" sz="1500" kern="1200">
          <a:solidFill>
            <a:schemeClr val="tx1"/>
          </a:solidFill>
          <a:latin typeface="+mn-lt"/>
          <a:ea typeface="+mn-ea"/>
          <a:cs typeface="+mn-cs"/>
        </a:defRPr>
      </a:lvl7pPr>
      <a:lvl8pPr marL="3200400" algn="l" defTabSz="457200" rtl="0" eaLnBrk="1" latinLnBrk="0" hangingPunct="1">
        <a:defRPr lang="en-IE" sz="1350" kern="1200">
          <a:solidFill>
            <a:schemeClr val="tx1"/>
          </a:solidFill>
          <a:latin typeface="+mn-lt"/>
          <a:ea typeface="+mn-ea"/>
          <a:cs typeface="+mn-cs"/>
        </a:defRPr>
      </a:lvl8pPr>
      <a:lvl9pPr marL="3657600" algn="l" defTabSz="457200" rtl="0" eaLnBrk="1" latinLnBrk="0" hangingPunct="1">
        <a:defRPr lang="en-IE"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opening-title"/>
          <p:cNvGrpSpPr/>
          <p:nvPr/>
        </p:nvGrpSpPr>
        <p:grpSpPr>
          <a:xfrm>
            <a:off x="438150" y="472440"/>
            <a:ext cx="2769523" cy="1188720"/>
            <a:chOff x="438150" y="472440"/>
            <a:chExt cx="2769523" cy="1188720"/>
          </a:xfrm>
        </p:grpSpPr>
        <p:sp>
          <p:nvSpPr>
            <p:cNvPr id="2" name="TextBox 2"/>
            <p:cNvSpPr txBox="1"/>
            <p:nvPr/>
          </p:nvSpPr>
          <p:spPr>
            <a:xfrm>
              <a:off x="448056" y="472440"/>
              <a:ext cx="2363532" cy="276999"/>
            </a:xfrm>
            <a:prstGeom prst="rect">
              <a:avLst/>
            </a:prstGeom>
            <a:noFill/>
            <a:ln>
              <a:noFill/>
            </a:ln>
          </p:spPr>
          <p:txBody>
            <a:bodyPr wrap="none" lIns="0" tIns="0" rIns="0" bIns="0" anchor="t" anchorCtr="0">
              <a:spAutoFit/>
            </a:bodyPr>
            <a:lstStyle/>
            <a:p>
              <a:pPr algn="l"/>
              <a:r>
                <a:rPr lang="en-IE" sz="1800">
                  <a:solidFill>
                    <a:schemeClr val="accent1"/>
                  </a:solidFill>
                  <a:latin typeface="+mn-lt"/>
                  <a:ea typeface="+mn-ea"/>
                  <a:cs typeface="+mn-cs"/>
                </a:rPr>
                <a:t>WEEK </a:t>
              </a:r>
              <a:r>
                <a:rPr lang="en-IE">
                  <a:solidFill>
                    <a:schemeClr val="accent1"/>
                  </a:solidFill>
                </a:rPr>
                <a:t>2</a:t>
              </a:r>
              <a:r>
                <a:rPr lang="en-IE" sz="1800">
                  <a:solidFill>
                    <a:schemeClr val="accent1"/>
                  </a:solidFill>
                  <a:latin typeface="+mn-lt"/>
                  <a:ea typeface="+mn-ea"/>
                  <a:cs typeface="+mn-cs"/>
                </a:rPr>
                <a:t> SHOW-AND-TELL</a:t>
              </a:r>
            </a:p>
          </p:txBody>
        </p:sp>
        <p:sp>
          <p:nvSpPr>
            <p:cNvPr id="3" name="TextBox 3"/>
            <p:cNvSpPr txBox="1"/>
            <p:nvPr/>
          </p:nvSpPr>
          <p:spPr>
            <a:xfrm>
              <a:off x="438150" y="842010"/>
              <a:ext cx="2769523" cy="819150"/>
            </a:xfrm>
            <a:prstGeom prst="rect">
              <a:avLst/>
            </a:prstGeom>
            <a:noFill/>
            <a:ln>
              <a:noFill/>
            </a:ln>
          </p:spPr>
          <p:txBody>
            <a:bodyPr wrap="none" lIns="0" tIns="0" rIns="0" bIns="0" anchor="t" anchorCtr="0">
              <a:spAutoFit/>
            </a:bodyPr>
            <a:lstStyle/>
            <a:p>
              <a:pPr algn="l"/>
              <a:r>
                <a:rPr lang="en-IE" sz="4200">
                  <a:solidFill>
                    <a:schemeClr val="accent1"/>
                  </a:solidFill>
                  <a:latin typeface="+mj-lt"/>
                  <a:ea typeface="+mj-ea"/>
                  <a:cs typeface="+mj-cs"/>
                </a:rPr>
                <a:t>ClearCare</a:t>
              </a:r>
            </a:p>
          </p:txBody>
        </p:sp>
      </p:grpSp>
      <p:grpSp>
        <p:nvGrpSpPr>
          <p:cNvPr id="8" name="family-question"/>
          <p:cNvGrpSpPr/>
          <p:nvPr/>
        </p:nvGrpSpPr>
        <p:grpSpPr>
          <a:xfrm>
            <a:off x="438150" y="2095500"/>
            <a:ext cx="5998952" cy="2934462"/>
            <a:chOff x="438150" y="2095500"/>
            <a:chExt cx="5998952" cy="2934462"/>
          </a:xfrm>
        </p:grpSpPr>
        <p:sp>
          <p:nvSpPr>
            <p:cNvPr id="5" name="Line 5"/>
            <p:cNvSpPr/>
            <p:nvPr/>
          </p:nvSpPr>
          <p:spPr>
            <a:xfrm>
              <a:off x="466725" y="2095500"/>
              <a:ext cx="1104900" cy="9525"/>
            </a:xfrm>
            <a:custGeom>
              <a:avLst/>
              <a:gdLst/>
              <a:ahLst/>
              <a:cxnLst/>
              <a:rect l="l" t="t" r="r" b="b"/>
              <a:pathLst>
                <a:path w="1104900" h="9525">
                  <a:moveTo>
                    <a:pt x="0" y="0"/>
                  </a:moveTo>
                  <a:lnTo>
                    <a:pt x="1104900" y="0"/>
                  </a:lnTo>
                </a:path>
              </a:pathLst>
            </a:custGeom>
            <a:noFill/>
            <a:ln w="38100">
              <a:solidFill>
                <a:schemeClr val="accent2"/>
              </a:solidFill>
            </a:ln>
          </p:spPr>
        </p:sp>
        <p:sp>
          <p:nvSpPr>
            <p:cNvPr id="6" name="TextBox 6"/>
            <p:cNvSpPr txBox="1"/>
            <p:nvPr/>
          </p:nvSpPr>
          <p:spPr>
            <a:xfrm>
              <a:off x="438150" y="2423160"/>
              <a:ext cx="5998952" cy="1543050"/>
            </a:xfrm>
            <a:prstGeom prst="rect">
              <a:avLst/>
            </a:prstGeom>
            <a:noFill/>
            <a:ln>
              <a:noFill/>
            </a:ln>
          </p:spPr>
          <p:txBody>
            <a:bodyPr wrap="none" lIns="0" tIns="0" rIns="0" bIns="0" anchor="t" anchorCtr="0">
              <a:spAutoFit/>
            </a:bodyPr>
            <a:lstStyle/>
            <a:p>
              <a:pPr algn="l">
                <a:lnSpc>
                  <a:spcPts val="5700"/>
                </a:lnSpc>
              </a:pPr>
              <a:r>
                <a:rPr lang="en-IE" sz="4200">
                  <a:solidFill>
                    <a:schemeClr val="accent1"/>
                  </a:solidFill>
                  <a:latin typeface="+mj-lt"/>
                  <a:ea typeface="+mj-ea"/>
                  <a:cs typeface="+mj-cs"/>
                </a:rPr>
                <a:t>What did inspectors find,</a:t>
              </a:r>
              <a:br/>
              <a:r>
                <a:rPr lang="en-IE" sz="4200">
                  <a:solidFill>
                    <a:schemeClr val="accent1"/>
                  </a:solidFill>
                  <a:latin typeface="+mj-lt"/>
                  <a:ea typeface="+mj-ea"/>
                  <a:cs typeface="+mj-cs"/>
                </a:rPr>
                <a:t>and was it fixed?</a:t>
              </a:r>
            </a:p>
          </p:txBody>
        </p:sp>
        <p:sp>
          <p:nvSpPr>
            <p:cNvPr id="7" name="TextBox 7"/>
            <p:cNvSpPr txBox="1"/>
            <p:nvPr/>
          </p:nvSpPr>
          <p:spPr>
            <a:xfrm>
              <a:off x="445008" y="4160520"/>
              <a:ext cx="4474616" cy="869442"/>
            </a:xfrm>
            <a:prstGeom prst="rect">
              <a:avLst/>
            </a:prstGeom>
            <a:noFill/>
            <a:ln>
              <a:noFill/>
            </a:ln>
          </p:spPr>
          <p:txBody>
            <a:bodyPr wrap="none" lIns="0" tIns="0" rIns="0" bIns="0" anchor="t" anchorCtr="0">
              <a:spAutoFit/>
            </a:bodyPr>
            <a:lstStyle/>
            <a:p>
              <a:pPr algn="l">
                <a:lnSpc>
                  <a:spcPts val="3150"/>
                </a:lnSpc>
              </a:pPr>
              <a:r>
                <a:rPr lang="en-IE" sz="2400">
                  <a:solidFill>
                    <a:schemeClr val="dk1"/>
                  </a:solidFill>
                  <a:latin typeface="+mn-lt"/>
                  <a:ea typeface="+mn-ea"/>
                  <a:cs typeface="+mn-cs"/>
                </a:rPr>
                <a:t>Making Irish nursing-home</a:t>
              </a:r>
              <a:br/>
              <a:r>
                <a:rPr lang="en-IE" sz="2400">
                  <a:solidFill>
                    <a:schemeClr val="dk1"/>
                  </a:solidFill>
                  <a:latin typeface="+mn-lt"/>
                  <a:ea typeface="+mn-ea"/>
                  <a:cs typeface="+mn-cs"/>
                </a:rPr>
                <a:t>inspection evidence easier to follow</a:t>
              </a:r>
            </a:p>
          </p:txBody>
        </p:sp>
      </p:grpSp>
      <p:grpSp>
        <p:nvGrpSpPr>
          <p:cNvPr id="17" name="sector-context"/>
          <p:cNvGrpSpPr/>
          <p:nvPr/>
        </p:nvGrpSpPr>
        <p:grpSpPr>
          <a:xfrm>
            <a:off x="8420100" y="0"/>
            <a:ext cx="3771900" cy="6858000"/>
            <a:chOff x="8420100" y="0"/>
            <a:chExt cx="3771900" cy="6858000"/>
          </a:xfrm>
        </p:grpSpPr>
        <p:sp>
          <p:nvSpPr>
            <p:cNvPr id="9" name="Rectangle 9"/>
            <p:cNvSpPr/>
            <p:nvPr/>
          </p:nvSpPr>
          <p:spPr>
            <a:xfrm>
              <a:off x="8420100" y="0"/>
              <a:ext cx="3771900" cy="6858000"/>
            </a:xfrm>
            <a:prstGeom prst="rect">
              <a:avLst/>
            </a:prstGeom>
            <a:solidFill>
              <a:schemeClr val="accent1"/>
            </a:solidFill>
            <a:ln>
              <a:noFill/>
            </a:ln>
          </p:spPr>
        </p:sp>
        <p:sp>
          <p:nvSpPr>
            <p:cNvPr id="10" name="TextBox 10"/>
            <p:cNvSpPr txBox="1"/>
            <p:nvPr/>
          </p:nvSpPr>
          <p:spPr>
            <a:xfrm>
              <a:off x="8830056" y="1501140"/>
              <a:ext cx="3096996" cy="352044"/>
            </a:xfrm>
            <a:prstGeom prst="rect">
              <a:avLst/>
            </a:prstGeom>
            <a:noFill/>
            <a:ln>
              <a:noFill/>
            </a:ln>
          </p:spPr>
          <p:txBody>
            <a:bodyPr wrap="none" lIns="0" tIns="0" rIns="0" bIns="0" anchor="t" anchorCtr="0">
              <a:spAutoFit/>
            </a:bodyPr>
            <a:lstStyle/>
            <a:p>
              <a:pPr algn="l"/>
              <a:r>
                <a:rPr lang="en-IE" sz="1800">
                  <a:solidFill>
                    <a:srgbClr val="E9EEE8"/>
                  </a:solidFill>
                  <a:latin typeface="+mn-lt"/>
                  <a:ea typeface="+mn-ea"/>
                  <a:cs typeface="+mn-cs"/>
                </a:rPr>
                <a:t>NURSING HOMES IN IRELAND</a:t>
              </a:r>
            </a:p>
          </p:txBody>
        </p:sp>
        <p:sp>
          <p:nvSpPr>
            <p:cNvPr id="11" name="TextBox 11"/>
            <p:cNvSpPr txBox="1"/>
            <p:nvPr/>
          </p:nvSpPr>
          <p:spPr>
            <a:xfrm>
              <a:off x="8820150" y="2143125"/>
              <a:ext cx="1573172" cy="1447800"/>
            </a:xfrm>
            <a:prstGeom prst="rect">
              <a:avLst/>
            </a:prstGeom>
            <a:noFill/>
            <a:ln>
              <a:noFill/>
            </a:ln>
          </p:spPr>
          <p:txBody>
            <a:bodyPr wrap="none" lIns="0" tIns="0" rIns="0" bIns="0" anchor="t" anchorCtr="0">
              <a:spAutoFit/>
            </a:bodyPr>
            <a:lstStyle/>
            <a:p>
              <a:pPr algn="l"/>
              <a:r>
                <a:rPr lang="en-IE" sz="7500">
                  <a:solidFill>
                    <a:srgbClr val="F8F6F0"/>
                  </a:solidFill>
                  <a:latin typeface="+mn-lt"/>
                  <a:ea typeface="+mn-ea"/>
                  <a:cs typeface="+mn-cs"/>
                </a:rPr>
                <a:t>545</a:t>
              </a:r>
            </a:p>
          </p:txBody>
        </p:sp>
        <p:sp>
          <p:nvSpPr>
            <p:cNvPr id="12" name="TextBox 12"/>
            <p:cNvSpPr txBox="1"/>
            <p:nvPr/>
          </p:nvSpPr>
          <p:spPr>
            <a:xfrm>
              <a:off x="8865108" y="3131820"/>
              <a:ext cx="2320894" cy="469392"/>
            </a:xfrm>
            <a:prstGeom prst="rect">
              <a:avLst/>
            </a:prstGeom>
            <a:noFill/>
            <a:ln>
              <a:noFill/>
            </a:ln>
          </p:spPr>
          <p:txBody>
            <a:bodyPr wrap="none" lIns="0" tIns="0" rIns="0" bIns="0" anchor="t" anchorCtr="0">
              <a:spAutoFit/>
            </a:bodyPr>
            <a:lstStyle/>
            <a:p>
              <a:pPr algn="l"/>
              <a:r>
                <a:rPr lang="en-IE" sz="2400">
                  <a:solidFill>
                    <a:srgbClr val="F8F6F0"/>
                  </a:solidFill>
                  <a:latin typeface="+mn-lt"/>
                  <a:ea typeface="+mn-ea"/>
                  <a:cs typeface="+mn-cs"/>
                </a:rPr>
                <a:t>registered homes</a:t>
              </a:r>
            </a:p>
          </p:txBody>
        </p:sp>
        <p:sp>
          <p:nvSpPr>
            <p:cNvPr id="13" name="Line 13"/>
            <p:cNvSpPr/>
            <p:nvPr/>
          </p:nvSpPr>
          <p:spPr>
            <a:xfrm>
              <a:off x="8877300" y="3790950"/>
              <a:ext cx="2790825" cy="9525"/>
            </a:xfrm>
            <a:custGeom>
              <a:avLst/>
              <a:gdLst/>
              <a:ahLst/>
              <a:cxnLst/>
              <a:rect l="l" t="t" r="r" b="b"/>
              <a:pathLst>
                <a:path w="2790825" h="9525">
                  <a:moveTo>
                    <a:pt x="0" y="0"/>
                  </a:moveTo>
                  <a:lnTo>
                    <a:pt x="2790825" y="0"/>
                  </a:lnTo>
                </a:path>
              </a:pathLst>
            </a:custGeom>
            <a:noFill/>
            <a:ln w="19050">
              <a:solidFill>
                <a:schemeClr val="accent3"/>
              </a:solidFill>
            </a:ln>
          </p:spPr>
        </p:sp>
        <p:sp>
          <p:nvSpPr>
            <p:cNvPr id="14" name="TextBox 14"/>
            <p:cNvSpPr txBox="1"/>
            <p:nvPr/>
          </p:nvSpPr>
          <p:spPr>
            <a:xfrm>
              <a:off x="8865108" y="4103370"/>
              <a:ext cx="2517047" cy="469392"/>
            </a:xfrm>
            <a:prstGeom prst="rect">
              <a:avLst/>
            </a:prstGeom>
            <a:noFill/>
            <a:ln>
              <a:noFill/>
            </a:ln>
          </p:spPr>
          <p:txBody>
            <a:bodyPr wrap="none" lIns="0" tIns="0" rIns="0" bIns="0" anchor="t" anchorCtr="0">
              <a:spAutoFit/>
            </a:bodyPr>
            <a:lstStyle/>
            <a:p>
              <a:pPr algn="l"/>
              <a:r>
                <a:rPr lang="en-IE" sz="2400">
                  <a:solidFill>
                    <a:srgbClr val="F8F6F0"/>
                  </a:solidFill>
                  <a:latin typeface="+mn-lt"/>
                  <a:ea typeface="+mn-ea"/>
                  <a:cs typeface="+mn-cs"/>
                </a:rPr>
                <a:t>About 32,400 beds</a:t>
              </a:r>
            </a:p>
          </p:txBody>
        </p:sp>
        <p:sp>
          <p:nvSpPr>
            <p:cNvPr id="15" name="TextBox 15"/>
            <p:cNvSpPr txBox="1"/>
            <p:nvPr/>
          </p:nvSpPr>
          <p:spPr>
            <a:xfrm>
              <a:off x="8868156" y="4596765"/>
              <a:ext cx="2356472" cy="352044"/>
            </a:xfrm>
            <a:prstGeom prst="rect">
              <a:avLst/>
            </a:prstGeom>
            <a:noFill/>
            <a:ln>
              <a:noFill/>
            </a:ln>
          </p:spPr>
          <p:txBody>
            <a:bodyPr wrap="none" lIns="0" tIns="0" rIns="0" bIns="0" anchor="t" anchorCtr="0">
              <a:spAutoFit/>
            </a:bodyPr>
            <a:lstStyle/>
            <a:p>
              <a:pPr algn="l"/>
              <a:r>
                <a:rPr lang="en-IE" sz="1800">
                  <a:solidFill>
                    <a:srgbClr val="E9EEE8"/>
                  </a:solidFill>
                  <a:latin typeface="+mn-lt"/>
                  <a:ea typeface="+mn-ea"/>
                  <a:cs typeface="+mn-cs"/>
                </a:rPr>
                <a:t>End-2025 sector figures</a:t>
              </a:r>
            </a:p>
          </p:txBody>
        </p:sp>
        <p:sp>
          <p:nvSpPr>
            <p:cNvPr id="16" name="TextBox 16"/>
            <p:cNvSpPr txBox="1"/>
            <p:nvPr/>
          </p:nvSpPr>
          <p:spPr>
            <a:xfrm>
              <a:off x="8871204" y="5775960"/>
              <a:ext cx="2303387" cy="184666"/>
            </a:xfrm>
            <a:prstGeom prst="rect">
              <a:avLst/>
            </a:prstGeom>
            <a:noFill/>
            <a:ln>
              <a:noFill/>
            </a:ln>
          </p:spPr>
          <p:txBody>
            <a:bodyPr wrap="none" lIns="0" tIns="0" rIns="0" bIns="0" anchor="t" anchorCtr="0">
              <a:spAutoFit/>
            </a:bodyPr>
            <a:lstStyle/>
            <a:p>
              <a:r>
                <a:rPr lang="en-IE" sz="1200">
                  <a:solidFill>
                    <a:srgbClr val="E9EEE8"/>
                  </a:solidFill>
                  <a:latin typeface="+mn-lt"/>
                  <a:ea typeface="+mn-ea"/>
                  <a:cs typeface="+mn-cs"/>
                </a:rPr>
                <a:t>Source: supplied research, NHI </a:t>
              </a:r>
              <a:r>
                <a:rPr lang="en-IE" sz="1200">
                  <a:solidFill>
                    <a:srgbClr val="E9EEE8"/>
                  </a:solidFill>
                </a:rPr>
                <a:t>/ </a:t>
              </a:r>
              <a:r>
                <a:rPr lang="en-IE" sz="1200">
                  <a:solidFill>
                    <a:srgbClr val="E9EEE8"/>
                  </a:solidFill>
                  <a:latin typeface="+mn-lt"/>
                  <a:ea typeface="+mn-ea"/>
                  <a:cs typeface="+mn-cs"/>
                </a:rPr>
                <a:t>HRB</a:t>
              </a:r>
            </a:p>
          </p:txBody>
        </p:sp>
      </p:grpSp>
      <p:sp>
        <p:nvSpPr>
          <p:cNvPr id="18" name="TextBox 18"/>
          <p:cNvSpPr txBox="1"/>
          <p:nvPr/>
        </p:nvSpPr>
        <p:spPr>
          <a:xfrm>
            <a:off x="448056" y="5663565"/>
            <a:ext cx="1446806" cy="276999"/>
          </a:xfrm>
          <a:prstGeom prst="rect">
            <a:avLst/>
          </a:prstGeom>
          <a:noFill/>
          <a:ln>
            <a:noFill/>
          </a:ln>
        </p:spPr>
        <p:txBody>
          <a:bodyPr wrap="none" lIns="0" tIns="0" rIns="0" bIns="0" anchor="t" anchorCtr="0">
            <a:spAutoFit/>
          </a:bodyPr>
          <a:lstStyle/>
          <a:p>
            <a:pPr algn="l"/>
            <a:r>
              <a:rPr lang="en-IE" sz="1800">
                <a:solidFill>
                  <a:schemeClr val="accent5"/>
                </a:solidFill>
                <a:latin typeface="+mn-lt"/>
                <a:ea typeface="+mn-ea"/>
                <a:cs typeface="+mn-cs"/>
              </a:rPr>
              <a:t>ClearCare team</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page-title"/>
          <p:cNvGrpSpPr/>
          <p:nvPr/>
        </p:nvGrpSpPr>
        <p:grpSpPr>
          <a:xfrm>
            <a:off x="438150" y="413385"/>
            <a:ext cx="8963741" cy="819150"/>
            <a:chOff x="438150" y="413385"/>
            <a:chExt cx="8963741" cy="819150"/>
          </a:xfrm>
        </p:grpSpPr>
        <p:sp>
          <p:nvSpPr>
            <p:cNvPr id="2" name="TextBox 2"/>
            <p:cNvSpPr txBox="1"/>
            <p:nvPr/>
          </p:nvSpPr>
          <p:spPr>
            <a:xfrm>
              <a:off x="438150" y="413385"/>
              <a:ext cx="8963741" cy="819150"/>
            </a:xfrm>
            <a:prstGeom prst="rect">
              <a:avLst/>
            </a:prstGeom>
            <a:noFill/>
            <a:ln>
              <a:noFill/>
            </a:ln>
          </p:spPr>
          <p:txBody>
            <a:bodyPr wrap="none" lIns="0" tIns="0" rIns="0" bIns="0" anchor="t" anchorCtr="0">
              <a:spAutoFit/>
            </a:bodyPr>
            <a:lstStyle/>
            <a:p>
              <a:pPr algn="l"/>
              <a:r>
                <a:rPr lang="en-IE" sz="4200">
                  <a:solidFill>
                    <a:schemeClr val="accent1"/>
                  </a:solidFill>
                  <a:latin typeface="+mj-lt"/>
                  <a:ea typeface="+mj-ea"/>
                  <a:cs typeface="+mj-cs"/>
                </a:rPr>
                <a:t>The evidence is in separate PDFs</a:t>
              </a:r>
            </a:p>
          </p:txBody>
        </p:sp>
      </p:grpSp>
      <p:grpSp>
        <p:nvGrpSpPr>
          <p:cNvPr id="12" name="reading-burden"/>
          <p:cNvGrpSpPr/>
          <p:nvPr/>
        </p:nvGrpSpPr>
        <p:grpSpPr>
          <a:xfrm>
            <a:off x="438150" y="1666875"/>
            <a:ext cx="3493713" cy="4243959"/>
            <a:chOff x="438150" y="1666875"/>
            <a:chExt cx="3493713" cy="4243959"/>
          </a:xfrm>
        </p:grpSpPr>
        <p:sp>
          <p:nvSpPr>
            <p:cNvPr id="4" name="TextBox 4"/>
            <p:cNvSpPr txBox="1"/>
            <p:nvPr/>
          </p:nvSpPr>
          <p:spPr>
            <a:xfrm>
              <a:off x="438150" y="1666875"/>
              <a:ext cx="2336770" cy="1447800"/>
            </a:xfrm>
            <a:prstGeom prst="rect">
              <a:avLst/>
            </a:prstGeom>
            <a:noFill/>
            <a:ln>
              <a:noFill/>
            </a:ln>
          </p:spPr>
          <p:txBody>
            <a:bodyPr wrap="none" lIns="0" tIns="0" rIns="0" bIns="0" anchor="t" anchorCtr="0">
              <a:spAutoFit/>
            </a:bodyPr>
            <a:lstStyle/>
            <a:p>
              <a:pPr algn="l"/>
              <a:r>
                <a:rPr lang="en-IE" sz="7500">
                  <a:solidFill>
                    <a:schemeClr val="accent2"/>
                  </a:solidFill>
                  <a:latin typeface="+mn-lt"/>
                  <a:ea typeface="+mn-ea"/>
                  <a:cs typeface="+mn-cs"/>
                </a:rPr>
                <a:t>2,266</a:t>
              </a:r>
            </a:p>
          </p:txBody>
        </p:sp>
        <p:sp>
          <p:nvSpPr>
            <p:cNvPr id="5" name="TextBox 5"/>
            <p:cNvSpPr txBox="1"/>
            <p:nvPr/>
          </p:nvSpPr>
          <p:spPr>
            <a:xfrm>
              <a:off x="445008" y="2741295"/>
              <a:ext cx="2418078" cy="469392"/>
            </a:xfrm>
            <a:prstGeom prst="rect">
              <a:avLst/>
            </a:prstGeom>
            <a:noFill/>
            <a:ln>
              <a:noFill/>
            </a:ln>
          </p:spPr>
          <p:txBody>
            <a:bodyPr wrap="none" lIns="0" tIns="0" rIns="0" bIns="0" anchor="t" anchorCtr="0">
              <a:spAutoFit/>
            </a:bodyPr>
            <a:lstStyle/>
            <a:p>
              <a:pPr algn="l"/>
              <a:r>
                <a:rPr lang="en-IE" sz="2400">
                  <a:solidFill>
                    <a:schemeClr val="dk1"/>
                  </a:solidFill>
                  <a:latin typeface="+mn-lt"/>
                  <a:ea typeface="+mn-ea"/>
                  <a:cs typeface="+mn-cs"/>
                </a:rPr>
                <a:t>inspection reports</a:t>
              </a:r>
            </a:p>
          </p:txBody>
        </p:sp>
        <p:sp>
          <p:nvSpPr>
            <p:cNvPr id="6" name="TextBox 6"/>
            <p:cNvSpPr txBox="1"/>
            <p:nvPr/>
          </p:nvSpPr>
          <p:spPr>
            <a:xfrm>
              <a:off x="448056" y="3177540"/>
              <a:ext cx="2916758" cy="352044"/>
            </a:xfrm>
            <a:prstGeom prst="rect">
              <a:avLst/>
            </a:prstGeom>
            <a:noFill/>
            <a:ln>
              <a:noFill/>
            </a:ln>
          </p:spPr>
          <p:txBody>
            <a:bodyPr wrap="none" lIns="0" tIns="0" rIns="0" bIns="0" anchor="t" anchorCtr="0">
              <a:spAutoFit/>
            </a:bodyPr>
            <a:lstStyle/>
            <a:p>
              <a:pPr algn="l"/>
              <a:r>
                <a:rPr lang="en-IE" sz="1800">
                  <a:solidFill>
                    <a:schemeClr val="accent5"/>
                  </a:solidFill>
                  <a:latin typeface="+mn-lt"/>
                  <a:ea typeface="+mn-ea"/>
                  <a:cs typeface="+mn-cs"/>
                </a:rPr>
                <a:t>Listed on 21 September 2026</a:t>
              </a:r>
            </a:p>
          </p:txBody>
        </p:sp>
        <p:sp>
          <p:nvSpPr>
            <p:cNvPr id="7" name="Line 7"/>
            <p:cNvSpPr/>
            <p:nvPr/>
          </p:nvSpPr>
          <p:spPr>
            <a:xfrm>
              <a:off x="466725" y="3724275"/>
              <a:ext cx="3009900" cy="9525"/>
            </a:xfrm>
            <a:custGeom>
              <a:avLst/>
              <a:gdLst/>
              <a:ahLst/>
              <a:cxnLst/>
              <a:rect l="l" t="t" r="r" b="b"/>
              <a:pathLst>
                <a:path w="3009900" h="9525">
                  <a:moveTo>
                    <a:pt x="0" y="0"/>
                  </a:moveTo>
                  <a:lnTo>
                    <a:pt x="3009900" y="0"/>
                  </a:lnTo>
                </a:path>
              </a:pathLst>
            </a:custGeom>
            <a:noFill/>
            <a:ln w="19050">
              <a:solidFill>
                <a:schemeClr val="accent6"/>
              </a:solidFill>
            </a:ln>
          </p:spPr>
        </p:sp>
        <p:sp>
          <p:nvSpPr>
            <p:cNvPr id="8" name="TextBox 8"/>
            <p:cNvSpPr txBox="1"/>
            <p:nvPr/>
          </p:nvSpPr>
          <p:spPr>
            <a:xfrm>
              <a:off x="445008" y="3970020"/>
              <a:ext cx="2666307" cy="369332"/>
            </a:xfrm>
            <a:prstGeom prst="rect">
              <a:avLst/>
            </a:prstGeom>
            <a:noFill/>
            <a:ln>
              <a:noFill/>
            </a:ln>
          </p:spPr>
          <p:txBody>
            <a:bodyPr wrap="none" lIns="0" tIns="0" rIns="0" bIns="0" anchor="t" anchorCtr="0">
              <a:spAutoFit/>
            </a:bodyPr>
            <a:lstStyle/>
            <a:p>
              <a:r>
                <a:rPr lang="en-IE" sz="2400">
                  <a:solidFill>
                    <a:schemeClr val="dk1"/>
                  </a:solidFill>
                </a:rPr>
                <a:t>Inspector Judgments</a:t>
              </a:r>
              <a:r>
                <a:rPr lang="en-IE" sz="2400">
                  <a:solidFill>
                    <a:schemeClr val="dk1"/>
                  </a:solidFill>
                  <a:latin typeface="+mn-lt"/>
                  <a:ea typeface="+mn-ea"/>
                  <a:cs typeface="+mn-cs"/>
                </a:rPr>
                <a:t>.</a:t>
              </a:r>
            </a:p>
          </p:txBody>
        </p:sp>
        <p:sp>
          <p:nvSpPr>
            <p:cNvPr id="9" name="TextBox 9"/>
            <p:cNvSpPr txBox="1"/>
            <p:nvPr/>
          </p:nvSpPr>
          <p:spPr>
            <a:xfrm>
              <a:off x="445008" y="4436745"/>
              <a:ext cx="2623853" cy="469392"/>
            </a:xfrm>
            <a:prstGeom prst="rect">
              <a:avLst/>
            </a:prstGeom>
            <a:noFill/>
            <a:ln>
              <a:noFill/>
            </a:ln>
          </p:spPr>
          <p:txBody>
            <a:bodyPr wrap="none" lIns="0" tIns="0" rIns="0" bIns="0" anchor="t" anchorCtr="0">
              <a:spAutoFit/>
            </a:bodyPr>
            <a:lstStyle/>
            <a:p>
              <a:pPr algn="l"/>
              <a:r>
                <a:rPr lang="en-IE" sz="2400">
                  <a:solidFill>
                    <a:schemeClr val="dk1"/>
                  </a:solidFill>
                  <a:latin typeface="+mn-lt"/>
                  <a:ea typeface="+mn-ea"/>
                  <a:cs typeface="+mn-cs"/>
                </a:rPr>
                <a:t>Provider responses.</a:t>
              </a:r>
            </a:p>
          </p:txBody>
        </p:sp>
        <p:sp>
          <p:nvSpPr>
            <p:cNvPr id="10" name="TextBox 10"/>
            <p:cNvSpPr txBox="1"/>
            <p:nvPr/>
          </p:nvSpPr>
          <p:spPr>
            <a:xfrm>
              <a:off x="445008" y="4903470"/>
              <a:ext cx="2345651" cy="469392"/>
            </a:xfrm>
            <a:prstGeom prst="rect">
              <a:avLst/>
            </a:prstGeom>
            <a:noFill/>
            <a:ln>
              <a:noFill/>
            </a:ln>
          </p:spPr>
          <p:txBody>
            <a:bodyPr wrap="none" lIns="0" tIns="0" rIns="0" bIns="0" anchor="t" anchorCtr="0">
              <a:spAutoFit/>
            </a:bodyPr>
            <a:lstStyle/>
            <a:p>
              <a:pPr algn="l"/>
              <a:r>
                <a:rPr lang="en-IE" sz="2400">
                  <a:solidFill>
                    <a:schemeClr val="dk1"/>
                  </a:solidFill>
                  <a:latin typeface="+mn-lt"/>
                  <a:ea typeface="+mn-ea"/>
                  <a:cs typeface="+mn-cs"/>
                </a:rPr>
                <a:t>Later inspections.</a:t>
              </a:r>
            </a:p>
          </p:txBody>
        </p:sp>
        <p:sp>
          <p:nvSpPr>
            <p:cNvPr id="11" name="TextBox 11"/>
            <p:cNvSpPr txBox="1"/>
            <p:nvPr/>
          </p:nvSpPr>
          <p:spPr>
            <a:xfrm>
              <a:off x="448056" y="5558790"/>
              <a:ext cx="3483807" cy="352044"/>
            </a:xfrm>
            <a:prstGeom prst="rect">
              <a:avLst/>
            </a:prstGeom>
            <a:noFill/>
            <a:ln>
              <a:noFill/>
            </a:ln>
          </p:spPr>
          <p:txBody>
            <a:bodyPr wrap="none" lIns="0" tIns="0" rIns="0" bIns="0" anchor="t" anchorCtr="0">
              <a:spAutoFit/>
            </a:bodyPr>
            <a:lstStyle/>
            <a:p>
              <a:pPr algn="l"/>
              <a:r>
                <a:rPr lang="en-IE" sz="1800">
                  <a:solidFill>
                    <a:schemeClr val="accent2"/>
                  </a:solidFill>
                  <a:latin typeface="+mn-lt"/>
                  <a:ea typeface="+mn-ea"/>
                  <a:cs typeface="+mn-cs"/>
                </a:rPr>
                <a:t>The reader makes the connections.</a:t>
              </a:r>
            </a:p>
          </p:txBody>
        </p:sp>
      </p:grpSp>
      <p:grpSp>
        <p:nvGrpSpPr>
          <p:cNvPr id="14" name="report-evidence"/>
          <p:cNvGrpSpPr/>
          <p:nvPr/>
        </p:nvGrpSpPr>
        <p:grpSpPr>
          <a:xfrm>
            <a:off x="3935506" y="1536887"/>
            <a:ext cx="3016623" cy="4229100"/>
            <a:chOff x="4114800" y="1514475"/>
            <a:chExt cx="3257550" cy="4610100"/>
          </a:xfrm>
        </p:grpSpPr>
        <p:pic>
          <p:nvPicPr>
            <p:cNvPr id="13" name="Image 13"/>
            <p:cNvPicPr>
              <a:picLocks noChangeAspect="1"/>
            </p:cNvPicPr>
            <p:nvPr/>
          </p:nvPicPr>
          <p:blipFill>
            <a:blip r:embed="rId3"/>
            <a:stretch>
              <a:fillRect/>
            </a:stretch>
          </p:blipFill>
          <p:spPr>
            <a:xfrm>
              <a:off x="4114800" y="1514475"/>
              <a:ext cx="3257550" cy="4610100"/>
            </a:xfrm>
            <a:prstGeom prst="rect">
              <a:avLst/>
            </a:prstGeom>
          </p:spPr>
        </p:pic>
      </p:grpSp>
      <p:grpSp>
        <p:nvGrpSpPr>
          <p:cNvPr id="17" name="directory-evidence"/>
          <p:cNvGrpSpPr/>
          <p:nvPr/>
        </p:nvGrpSpPr>
        <p:grpSpPr>
          <a:xfrm>
            <a:off x="8743770" y="414170"/>
            <a:ext cx="2755706" cy="3119432"/>
            <a:chOff x="7858506" y="1596390"/>
            <a:chExt cx="3876294" cy="4419314"/>
          </a:xfrm>
        </p:grpSpPr>
        <p:sp>
          <p:nvSpPr>
            <p:cNvPr id="15" name="TextBox 15"/>
            <p:cNvSpPr txBox="1"/>
            <p:nvPr/>
          </p:nvSpPr>
          <p:spPr>
            <a:xfrm>
              <a:off x="7858506" y="1596390"/>
              <a:ext cx="2951408" cy="352044"/>
            </a:xfrm>
            <a:prstGeom prst="rect">
              <a:avLst/>
            </a:prstGeom>
            <a:noFill/>
            <a:ln>
              <a:noFill/>
            </a:ln>
          </p:spPr>
          <p:txBody>
            <a:bodyPr wrap="none" lIns="0" tIns="0" rIns="0" bIns="0" anchor="t" anchorCtr="0">
              <a:spAutoFit/>
            </a:bodyPr>
            <a:lstStyle/>
            <a:p>
              <a:pPr algn="l"/>
              <a:r>
                <a:rPr lang="en-IE" sz="1800">
                  <a:solidFill>
                    <a:schemeClr val="accent1"/>
                  </a:solidFill>
                  <a:latin typeface="+mn-lt"/>
                  <a:ea typeface="+mn-ea"/>
                  <a:cs typeface="+mn-cs"/>
                </a:rPr>
                <a:t>Directory links lead to reports</a:t>
              </a:r>
            </a:p>
          </p:txBody>
        </p:sp>
        <p:pic>
          <p:nvPicPr>
            <p:cNvPr id="16" name="Image 16"/>
            <p:cNvPicPr>
              <a:picLocks noChangeAspect="1"/>
            </p:cNvPicPr>
            <p:nvPr/>
          </p:nvPicPr>
          <p:blipFill>
            <a:blip r:embed="rId4"/>
            <a:stretch>
              <a:fillRect/>
            </a:stretch>
          </p:blipFill>
          <p:spPr>
            <a:xfrm>
              <a:off x="7867650" y="2047875"/>
              <a:ext cx="3867150" cy="3967829"/>
            </a:xfrm>
            <a:prstGeom prst="rect">
              <a:avLst/>
            </a:prstGeom>
          </p:spPr>
        </p:pic>
      </p:grpSp>
      <p:grpSp>
        <p:nvGrpSpPr>
          <p:cNvPr id="21" name="sources"/>
          <p:cNvGrpSpPr/>
          <p:nvPr/>
        </p:nvGrpSpPr>
        <p:grpSpPr>
          <a:xfrm>
            <a:off x="451104" y="6290310"/>
            <a:ext cx="11289792" cy="425196"/>
            <a:chOff x="451104" y="6290310"/>
            <a:chExt cx="11289792" cy="425196"/>
          </a:xfrm>
        </p:grpSpPr>
        <p:sp>
          <p:nvSpPr>
            <p:cNvPr id="18" name="TextBox 18"/>
            <p:cNvSpPr txBox="1"/>
            <p:nvPr/>
          </p:nvSpPr>
          <p:spPr>
            <a:xfrm>
              <a:off x="451104" y="6290310"/>
              <a:ext cx="3688554" cy="234696"/>
            </a:xfrm>
            <a:prstGeom prst="rect">
              <a:avLst/>
            </a:prstGeom>
            <a:noFill/>
            <a:ln>
              <a:noFill/>
            </a:ln>
          </p:spPr>
          <p:txBody>
            <a:bodyPr wrap="none" lIns="0" tIns="0" rIns="0" bIns="0" anchor="t" anchorCtr="0">
              <a:spAutoFit/>
            </a:bodyPr>
            <a:lstStyle/>
            <a:p>
              <a:pPr algn="l"/>
              <a:r>
                <a:rPr lang="en-IE" sz="1200">
                  <a:solidFill>
                    <a:schemeClr val="accent5"/>
                  </a:solidFill>
                  <a:latin typeface="+mn-lt"/>
                  <a:ea typeface="+mn-ea"/>
                  <a:cs typeface="+mn-cs"/>
                </a:rPr>
                <a:t>HIQA / CC BY 4.0 / Millbrook Manor, 10 Feb 2026, p.14</a:t>
              </a:r>
            </a:p>
          </p:txBody>
        </p:sp>
        <p:sp>
          <p:nvSpPr>
            <p:cNvPr id="19" name="TextBox 19"/>
            <p:cNvSpPr txBox="1"/>
            <p:nvPr/>
          </p:nvSpPr>
          <p:spPr>
            <a:xfrm>
              <a:off x="451104" y="6480810"/>
              <a:ext cx="4230546" cy="234696"/>
            </a:xfrm>
            <a:prstGeom prst="rect">
              <a:avLst/>
            </a:prstGeom>
            <a:noFill/>
            <a:ln>
              <a:noFill/>
            </a:ln>
          </p:spPr>
          <p:txBody>
            <a:bodyPr wrap="none" lIns="0" tIns="0" rIns="0" bIns="0" anchor="t" anchorCtr="0">
              <a:spAutoFit/>
            </a:bodyPr>
            <a:lstStyle/>
            <a:p>
              <a:pPr algn="l"/>
              <a:r>
                <a:rPr lang="en-IE" sz="1200">
                  <a:solidFill>
                    <a:schemeClr val="accent5"/>
                  </a:solidFill>
                  <a:latin typeface="+mn-lt"/>
                  <a:ea typeface="+mn-ea"/>
                  <a:cs typeface="+mn-cs"/>
                </a:rPr>
                <a:t>Directory: nursinghome.care, Dean Maxwell listing, 23 Sep 2026</a:t>
              </a:r>
            </a:p>
          </p:txBody>
        </p:sp>
        <p:sp>
          <p:nvSpPr>
            <p:cNvPr id="20" name="TextBox 20"/>
            <p:cNvSpPr txBox="1"/>
            <p:nvPr/>
          </p:nvSpPr>
          <p:spPr>
            <a:xfrm>
              <a:off x="11564963" y="6404610"/>
              <a:ext cx="175933" cy="234696"/>
            </a:xfrm>
            <a:prstGeom prst="rect">
              <a:avLst/>
            </a:prstGeom>
            <a:noFill/>
            <a:ln>
              <a:noFill/>
            </a:ln>
          </p:spPr>
          <p:txBody>
            <a:bodyPr wrap="none" lIns="0" tIns="0" rIns="0" bIns="0" anchor="t" anchorCtr="0">
              <a:spAutoFit/>
            </a:bodyPr>
            <a:lstStyle/>
            <a:p>
              <a:pPr algn="r"/>
              <a:r>
                <a:rPr lang="en-IE" sz="1200">
                  <a:solidFill>
                    <a:schemeClr val="accent5"/>
                  </a:solidFill>
                  <a:latin typeface="+mn-lt"/>
                  <a:ea typeface="+mn-ea"/>
                  <a:cs typeface="+mn-cs"/>
                </a:rPr>
                <a:t>02</a:t>
              </a:r>
            </a:p>
          </p:txBody>
        </p:sp>
      </p:grpSp>
      <p:pic>
        <p:nvPicPr>
          <p:cNvPr id="22" name="Picture 21">
            <a:extLst>
              <a:ext uri="{FF2B5EF4-FFF2-40B4-BE49-F238E27FC236}">
                <a16:creationId xmlns:a16="http://schemas.microsoft.com/office/drawing/2014/main" id="{BFBDB499-4A06-E956-396F-C07EA2EB59D0}"/>
              </a:ext>
            </a:extLst>
          </p:cNvPr>
          <p:cNvPicPr>
            <a:picLocks noChangeAspect="1"/>
          </p:cNvPicPr>
          <p:nvPr/>
        </p:nvPicPr>
        <p:blipFill>
          <a:blip r:embed="rId5"/>
          <a:stretch>
            <a:fillRect/>
          </a:stretch>
        </p:blipFill>
        <p:spPr>
          <a:xfrm>
            <a:off x="7172887" y="3978087"/>
            <a:ext cx="3897401" cy="2510119"/>
          </a:xfrm>
          <a:prstGeom prst="rect">
            <a:avLst/>
          </a:prstGeom>
        </p:spPr>
      </p:pic>
      <p:sp>
        <p:nvSpPr>
          <p:cNvPr id="23" name="TextBox 22">
            <a:extLst>
              <a:ext uri="{FF2B5EF4-FFF2-40B4-BE49-F238E27FC236}">
                <a16:creationId xmlns:a16="http://schemas.microsoft.com/office/drawing/2014/main" id="{D1E615AB-D633-4334-EEA8-7D497D4F3AB0}"/>
              </a:ext>
            </a:extLst>
          </p:cNvPr>
          <p:cNvSpPr txBox="1"/>
          <p:nvPr/>
        </p:nvSpPr>
        <p:spPr>
          <a:xfrm>
            <a:off x="7171765" y="3653118"/>
            <a:ext cx="233082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E">
                <a:solidFill>
                  <a:srgbClr val="173E36"/>
                </a:solidFill>
              </a:rPr>
              <a:t>England's CQC website</a:t>
            </a:r>
          </a:p>
          <a:p>
            <a:pPr algn="ctr"/>
            <a:endParaRPr lang="en-GB"/>
          </a:p>
        </p:txBody>
      </p:sp>
      <p:sp>
        <p:nvSpPr>
          <p:cNvPr id="24" name="TextBox 23">
            <a:extLst>
              <a:ext uri="{FF2B5EF4-FFF2-40B4-BE49-F238E27FC236}">
                <a16:creationId xmlns:a16="http://schemas.microsoft.com/office/drawing/2014/main" id="{3B0F44C8-36CE-0156-0D43-60FB054D249C}"/>
              </a:ext>
            </a:extLst>
          </p:cNvPr>
          <p:cNvSpPr txBox="1"/>
          <p:nvPr/>
        </p:nvSpPr>
        <p:spPr>
          <a:xfrm>
            <a:off x="3933265" y="1232647"/>
            <a:ext cx="23308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E">
                <a:solidFill>
                  <a:srgbClr val="173E36"/>
                </a:solidFill>
              </a:rPr>
              <a:t>HIQA report</a:t>
            </a:r>
          </a:p>
        </p:txBody>
      </p:sp>
      <p:sp>
        <p:nvSpPr>
          <p:cNvPr id="26" name="Rectangle 25">
            <a:extLst>
              <a:ext uri="{FF2B5EF4-FFF2-40B4-BE49-F238E27FC236}">
                <a16:creationId xmlns:a16="http://schemas.microsoft.com/office/drawing/2014/main" id="{AD900211-2BB7-0D12-4A85-268C97AC524E}"/>
              </a:ext>
            </a:extLst>
          </p:cNvPr>
          <p:cNvSpPr/>
          <p:nvPr/>
        </p:nvSpPr>
        <p:spPr>
          <a:xfrm>
            <a:off x="10482543" y="5075705"/>
            <a:ext cx="611842" cy="1424268"/>
          </a:xfrm>
          <a:prstGeom prst="rect">
            <a:avLst/>
          </a:prstGeom>
          <a:no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GB"/>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page-title"/>
          <p:cNvGrpSpPr/>
          <p:nvPr/>
        </p:nvGrpSpPr>
        <p:grpSpPr>
          <a:xfrm>
            <a:off x="438150" y="413385"/>
            <a:ext cx="9398271" cy="819150"/>
            <a:chOff x="438150" y="413385"/>
            <a:chExt cx="9398271" cy="819150"/>
          </a:xfrm>
        </p:grpSpPr>
        <p:sp>
          <p:nvSpPr>
            <p:cNvPr id="2" name="TextBox 2"/>
            <p:cNvSpPr txBox="1"/>
            <p:nvPr/>
          </p:nvSpPr>
          <p:spPr>
            <a:xfrm>
              <a:off x="438150" y="413385"/>
              <a:ext cx="9398271" cy="819150"/>
            </a:xfrm>
            <a:prstGeom prst="rect">
              <a:avLst/>
            </a:prstGeom>
            <a:noFill/>
            <a:ln>
              <a:noFill/>
            </a:ln>
          </p:spPr>
          <p:txBody>
            <a:bodyPr wrap="none" lIns="0" tIns="0" rIns="0" bIns="0" anchor="t" anchorCtr="0">
              <a:spAutoFit/>
            </a:bodyPr>
            <a:lstStyle/>
            <a:p>
              <a:pPr algn="l"/>
              <a:r>
                <a:rPr lang="en-IE" sz="4200">
                  <a:solidFill>
                    <a:schemeClr val="accent1"/>
                  </a:solidFill>
                  <a:latin typeface="+mj-lt"/>
                  <a:ea typeface="+mj-ea"/>
                  <a:cs typeface="+mj-cs"/>
                </a:rPr>
                <a:t>A time-aware record for each home</a:t>
              </a:r>
            </a:p>
          </p:txBody>
        </p:sp>
      </p:grpSp>
      <p:grpSp>
        <p:nvGrpSpPr>
          <p:cNvPr id="5" name="product-purpose"/>
          <p:cNvGrpSpPr/>
          <p:nvPr/>
        </p:nvGrpSpPr>
        <p:grpSpPr>
          <a:xfrm>
            <a:off x="444246" y="1610678"/>
            <a:ext cx="10022901" cy="498729"/>
            <a:chOff x="444246" y="1610678"/>
            <a:chExt cx="10022901" cy="498729"/>
          </a:xfrm>
        </p:grpSpPr>
        <p:sp>
          <p:nvSpPr>
            <p:cNvPr id="4" name="TextBox 4"/>
            <p:cNvSpPr txBox="1"/>
            <p:nvPr/>
          </p:nvSpPr>
          <p:spPr>
            <a:xfrm>
              <a:off x="444246" y="1610678"/>
              <a:ext cx="10022901" cy="498729"/>
            </a:xfrm>
            <a:prstGeom prst="rect">
              <a:avLst/>
            </a:prstGeom>
            <a:noFill/>
            <a:ln>
              <a:noFill/>
            </a:ln>
          </p:spPr>
          <p:txBody>
            <a:bodyPr wrap="none" lIns="0" tIns="0" rIns="0" bIns="0" anchor="t" anchorCtr="0">
              <a:spAutoFit/>
            </a:bodyPr>
            <a:lstStyle/>
            <a:p>
              <a:pPr algn="l"/>
              <a:r>
                <a:rPr lang="en-IE" sz="2550">
                  <a:solidFill>
                    <a:schemeClr val="dk1"/>
                  </a:solidFill>
                  <a:latin typeface="+mn-lt"/>
                  <a:ea typeface="+mn-ea"/>
                  <a:cs typeface="+mn-cs"/>
                </a:rPr>
                <a:t>Compare regulation-level judgments, with evidence behind every mark.</a:t>
              </a:r>
            </a:p>
          </p:txBody>
        </p:sp>
      </p:grpSp>
      <p:grpSp>
        <p:nvGrpSpPr>
          <p:cNvPr id="19" name="evidence-chain"/>
          <p:cNvGrpSpPr/>
          <p:nvPr/>
        </p:nvGrpSpPr>
        <p:grpSpPr>
          <a:xfrm>
            <a:off x="448056" y="2571750"/>
            <a:ext cx="11286744" cy="2338959"/>
            <a:chOff x="448056" y="2571750"/>
            <a:chExt cx="11286744" cy="2338959"/>
          </a:xfrm>
        </p:grpSpPr>
        <p:sp>
          <p:nvSpPr>
            <p:cNvPr id="6" name="Freeform 6"/>
            <p:cNvSpPr/>
            <p:nvPr/>
          </p:nvSpPr>
          <p:spPr>
            <a:xfrm>
              <a:off x="457200" y="2571750"/>
              <a:ext cx="3200400" cy="1619250"/>
            </a:xfrm>
            <a:prstGeom prst="foldedCorner">
              <a:avLst/>
            </a:prstGeom>
            <a:solidFill>
              <a:schemeClr val="lt2"/>
            </a:solidFill>
            <a:ln>
              <a:noFill/>
            </a:ln>
          </p:spPr>
        </p:sp>
        <p:sp>
          <p:nvSpPr>
            <p:cNvPr id="7" name="Freeform 7"/>
            <p:cNvSpPr/>
            <p:nvPr/>
          </p:nvSpPr>
          <p:spPr>
            <a:xfrm>
              <a:off x="4495800" y="2571750"/>
              <a:ext cx="3200400" cy="1619250"/>
            </a:xfrm>
            <a:prstGeom prst="foldedCorner">
              <a:avLst/>
            </a:prstGeom>
            <a:solidFill>
              <a:schemeClr val="lt2"/>
            </a:solidFill>
            <a:ln>
              <a:noFill/>
            </a:ln>
          </p:spPr>
        </p:sp>
        <p:sp>
          <p:nvSpPr>
            <p:cNvPr id="8" name="Freeform 8"/>
            <p:cNvSpPr/>
            <p:nvPr/>
          </p:nvSpPr>
          <p:spPr>
            <a:xfrm>
              <a:off x="8534400" y="2571750"/>
              <a:ext cx="3200400" cy="1619250"/>
            </a:xfrm>
            <a:prstGeom prst="foldedCorner">
              <a:avLst/>
            </a:prstGeom>
            <a:solidFill>
              <a:schemeClr val="lt2"/>
            </a:solidFill>
            <a:ln>
              <a:noFill/>
            </a:ln>
          </p:spPr>
        </p:sp>
        <p:sp>
          <p:nvSpPr>
            <p:cNvPr id="9" name="Line 9"/>
            <p:cNvSpPr/>
            <p:nvPr/>
          </p:nvSpPr>
          <p:spPr>
            <a:xfrm>
              <a:off x="3800475" y="3343275"/>
              <a:ext cx="542925" cy="1"/>
            </a:xfrm>
            <a:prstGeom prst="line">
              <a:avLst/>
            </a:prstGeom>
            <a:noFill/>
            <a:ln w="28575">
              <a:solidFill>
                <a:schemeClr val="accent2"/>
              </a:solidFill>
              <a:tailEnd type="arrow" w="lg" len="lg"/>
            </a:ln>
          </p:spPr>
        </p:sp>
        <p:sp>
          <p:nvSpPr>
            <p:cNvPr id="10" name="Line 10"/>
            <p:cNvSpPr/>
            <p:nvPr/>
          </p:nvSpPr>
          <p:spPr>
            <a:xfrm>
              <a:off x="7839075" y="3343275"/>
              <a:ext cx="542925" cy="1"/>
            </a:xfrm>
            <a:prstGeom prst="line">
              <a:avLst/>
            </a:prstGeom>
            <a:noFill/>
            <a:ln w="28575">
              <a:solidFill>
                <a:schemeClr val="accent2"/>
              </a:solidFill>
              <a:tailEnd type="arrow" w="lg" len="lg"/>
            </a:ln>
          </p:spPr>
        </p:sp>
        <p:grpSp>
          <p:nvGrpSpPr>
            <p:cNvPr id="17" name="Group 17"/>
            <p:cNvGrpSpPr/>
            <p:nvPr/>
          </p:nvGrpSpPr>
          <p:grpSpPr>
            <a:xfrm>
              <a:off x="683133" y="2872740"/>
              <a:ext cx="9969669" cy="995172"/>
              <a:chOff x="683133" y="2872740"/>
              <a:chExt cx="9969669" cy="995172"/>
            </a:xfrm>
          </p:grpSpPr>
          <p:sp>
            <p:nvSpPr>
              <p:cNvPr id="11" name="TextBox 11"/>
              <p:cNvSpPr txBox="1"/>
              <p:nvPr/>
            </p:nvSpPr>
            <p:spPr>
              <a:xfrm>
                <a:off x="686181" y="2872740"/>
                <a:ext cx="1192835" cy="352044"/>
              </a:xfrm>
              <a:prstGeom prst="rect">
                <a:avLst/>
              </a:prstGeom>
              <a:noFill/>
              <a:ln>
                <a:noFill/>
              </a:ln>
            </p:spPr>
            <p:txBody>
              <a:bodyPr wrap="none" lIns="0" tIns="0" rIns="0" bIns="0" anchor="t" anchorCtr="0">
                <a:spAutoFit/>
              </a:bodyPr>
              <a:lstStyle/>
              <a:p>
                <a:pPr algn="l"/>
                <a:r>
                  <a:rPr lang="en-IE" sz="1800">
                    <a:solidFill>
                      <a:schemeClr val="accent1"/>
                    </a:solidFill>
                    <a:latin typeface="+mn-lt"/>
                    <a:ea typeface="+mn-ea"/>
                    <a:cs typeface="+mn-cs"/>
                  </a:rPr>
                  <a:t>INSPECTOR</a:t>
                </a:r>
              </a:p>
            </p:txBody>
          </p:sp>
          <p:sp>
            <p:nvSpPr>
              <p:cNvPr id="12" name="TextBox 12"/>
              <p:cNvSpPr txBox="1"/>
              <p:nvPr/>
            </p:nvSpPr>
            <p:spPr>
              <a:xfrm>
                <a:off x="683133" y="3398520"/>
                <a:ext cx="990216" cy="469392"/>
              </a:xfrm>
              <a:prstGeom prst="rect">
                <a:avLst/>
              </a:prstGeom>
              <a:noFill/>
              <a:ln>
                <a:noFill/>
              </a:ln>
            </p:spPr>
            <p:txBody>
              <a:bodyPr wrap="none" lIns="0" tIns="0" rIns="0" bIns="0" anchor="t" anchorCtr="0">
                <a:spAutoFit/>
              </a:bodyPr>
              <a:lstStyle/>
              <a:p>
                <a:pPr algn="l"/>
                <a:r>
                  <a:rPr lang="en-IE" sz="2400">
                    <a:solidFill>
                      <a:schemeClr val="accent1"/>
                    </a:solidFill>
                    <a:latin typeface="+mn-lt"/>
                    <a:ea typeface="+mn-ea"/>
                    <a:cs typeface="+mn-cs"/>
                  </a:rPr>
                  <a:t>Finding</a:t>
                </a:r>
              </a:p>
            </p:txBody>
          </p:sp>
          <p:sp>
            <p:nvSpPr>
              <p:cNvPr id="13" name="TextBox 13"/>
              <p:cNvSpPr txBox="1"/>
              <p:nvPr/>
            </p:nvSpPr>
            <p:spPr>
              <a:xfrm>
                <a:off x="4724781" y="2872740"/>
                <a:ext cx="1090448" cy="352044"/>
              </a:xfrm>
              <a:prstGeom prst="rect">
                <a:avLst/>
              </a:prstGeom>
              <a:noFill/>
              <a:ln>
                <a:noFill/>
              </a:ln>
            </p:spPr>
            <p:txBody>
              <a:bodyPr wrap="none" lIns="0" tIns="0" rIns="0" bIns="0" anchor="t" anchorCtr="0">
                <a:spAutoFit/>
              </a:bodyPr>
              <a:lstStyle/>
              <a:p>
                <a:pPr algn="l"/>
                <a:r>
                  <a:rPr lang="en-IE" sz="1800">
                    <a:solidFill>
                      <a:schemeClr val="accent1"/>
                    </a:solidFill>
                    <a:latin typeface="+mn-lt"/>
                    <a:ea typeface="+mn-ea"/>
                    <a:cs typeface="+mn-cs"/>
                  </a:rPr>
                  <a:t>PROVIDER</a:t>
                </a:r>
              </a:p>
            </p:txBody>
          </p:sp>
          <p:sp>
            <p:nvSpPr>
              <p:cNvPr id="14" name="TextBox 14"/>
              <p:cNvSpPr txBox="1"/>
              <p:nvPr/>
            </p:nvSpPr>
            <p:spPr>
              <a:xfrm>
                <a:off x="4721733" y="3398520"/>
                <a:ext cx="2215343" cy="469392"/>
              </a:xfrm>
              <a:prstGeom prst="rect">
                <a:avLst/>
              </a:prstGeom>
              <a:noFill/>
              <a:ln>
                <a:noFill/>
              </a:ln>
            </p:spPr>
            <p:txBody>
              <a:bodyPr wrap="none" lIns="0" tIns="0" rIns="0" bIns="0" anchor="t" anchorCtr="0">
                <a:spAutoFit/>
              </a:bodyPr>
              <a:lstStyle/>
              <a:p>
                <a:pPr algn="l"/>
                <a:r>
                  <a:rPr lang="en-IE" sz="2400">
                    <a:solidFill>
                      <a:schemeClr val="accent1"/>
                    </a:solidFill>
                    <a:latin typeface="+mn-lt"/>
                    <a:ea typeface="+mn-ea"/>
                    <a:cs typeface="+mn-cs"/>
                  </a:rPr>
                  <a:t>Compliance plan</a:t>
                </a:r>
              </a:p>
            </p:txBody>
          </p:sp>
          <p:sp>
            <p:nvSpPr>
              <p:cNvPr id="15" name="TextBox 15"/>
              <p:cNvSpPr txBox="1"/>
              <p:nvPr/>
            </p:nvSpPr>
            <p:spPr>
              <a:xfrm>
                <a:off x="8763381" y="2872740"/>
                <a:ext cx="1889421" cy="352044"/>
              </a:xfrm>
              <a:prstGeom prst="rect">
                <a:avLst/>
              </a:prstGeom>
              <a:noFill/>
              <a:ln>
                <a:noFill/>
              </a:ln>
            </p:spPr>
            <p:txBody>
              <a:bodyPr wrap="none" lIns="0" tIns="0" rIns="0" bIns="0" anchor="t" anchorCtr="0">
                <a:spAutoFit/>
              </a:bodyPr>
              <a:lstStyle/>
              <a:p>
                <a:pPr algn="l"/>
                <a:r>
                  <a:rPr lang="en-IE" sz="1800">
                    <a:solidFill>
                      <a:schemeClr val="accent1"/>
                    </a:solidFill>
                    <a:latin typeface="+mn-lt"/>
                    <a:ea typeface="+mn-ea"/>
                    <a:cs typeface="+mn-cs"/>
                  </a:rPr>
                  <a:t>NEXT INSPECTION</a:t>
                </a:r>
              </a:p>
            </p:txBody>
          </p:sp>
          <p:sp>
            <p:nvSpPr>
              <p:cNvPr id="16" name="TextBox 16"/>
              <p:cNvSpPr txBox="1"/>
              <p:nvPr/>
            </p:nvSpPr>
            <p:spPr>
              <a:xfrm>
                <a:off x="8760333" y="3398520"/>
                <a:ext cx="1340489" cy="469392"/>
              </a:xfrm>
              <a:prstGeom prst="rect">
                <a:avLst/>
              </a:prstGeom>
              <a:noFill/>
              <a:ln>
                <a:noFill/>
              </a:ln>
            </p:spPr>
            <p:txBody>
              <a:bodyPr wrap="none" lIns="0" tIns="0" rIns="0" bIns="0" anchor="t" anchorCtr="0">
                <a:spAutoFit/>
              </a:bodyPr>
              <a:lstStyle/>
              <a:p>
                <a:pPr algn="l"/>
                <a:r>
                  <a:rPr lang="en-IE" sz="2400">
                    <a:solidFill>
                      <a:schemeClr val="accent1"/>
                    </a:solidFill>
                    <a:latin typeface="+mn-lt"/>
                    <a:ea typeface="+mn-ea"/>
                    <a:cs typeface="+mn-cs"/>
                  </a:rPr>
                  <a:t>Follow-up</a:t>
                </a:r>
              </a:p>
            </p:txBody>
          </p:sp>
        </p:grpSp>
        <p:sp>
          <p:nvSpPr>
            <p:cNvPr id="18" name="TextBox 18"/>
            <p:cNvSpPr txBox="1"/>
            <p:nvPr/>
          </p:nvSpPr>
          <p:spPr>
            <a:xfrm>
              <a:off x="448056" y="4558665"/>
              <a:ext cx="7016462" cy="352044"/>
            </a:xfrm>
            <a:prstGeom prst="rect">
              <a:avLst/>
            </a:prstGeom>
            <a:noFill/>
            <a:ln>
              <a:noFill/>
            </a:ln>
          </p:spPr>
          <p:txBody>
            <a:bodyPr wrap="none" lIns="0" tIns="0" rIns="0" bIns="0" anchor="t" anchorCtr="0">
              <a:spAutoFit/>
            </a:bodyPr>
            <a:lstStyle/>
            <a:p>
              <a:pPr algn="l"/>
              <a:r>
                <a:rPr lang="en-IE" sz="1800">
                  <a:solidFill>
                    <a:schemeClr val="accent5"/>
                  </a:solidFill>
                  <a:latin typeface="+mn-lt"/>
                  <a:ea typeface="+mn-ea"/>
                  <a:cs typeface="+mn-cs"/>
                </a:rPr>
                <a:t>Dates, regulation, PDF page and the inspector’s wording stay attached.</a:t>
              </a:r>
            </a:p>
          </p:txBody>
        </p:sp>
      </p:grpSp>
      <p:grpSp>
        <p:nvGrpSpPr>
          <p:cNvPr id="24" name="product-boundary"/>
          <p:cNvGrpSpPr/>
          <p:nvPr/>
        </p:nvGrpSpPr>
        <p:grpSpPr>
          <a:xfrm>
            <a:off x="480781" y="5427345"/>
            <a:ext cx="6440967" cy="469392"/>
            <a:chOff x="480781" y="5427345"/>
            <a:chExt cx="6440967" cy="469392"/>
          </a:xfrm>
        </p:grpSpPr>
        <p:grpSp>
          <p:nvGrpSpPr>
            <p:cNvPr id="22" name="Group 22"/>
            <p:cNvGrpSpPr/>
            <p:nvPr/>
          </p:nvGrpSpPr>
          <p:grpSpPr>
            <a:xfrm>
              <a:off x="480781" y="5453062"/>
              <a:ext cx="279010" cy="257176"/>
              <a:chOff x="480781" y="5453062"/>
              <a:chExt cx="279010" cy="257176"/>
            </a:xfrm>
          </p:grpSpPr>
          <p:sp>
            <p:nvSpPr>
              <p:cNvPr id="20" name="Freeform 20"/>
              <p:cNvSpPr/>
              <p:nvPr/>
            </p:nvSpPr>
            <p:spPr>
              <a:xfrm>
                <a:off x="480781" y="5453062"/>
                <a:ext cx="279010" cy="254975"/>
              </a:xfrm>
              <a:custGeom>
                <a:avLst/>
                <a:gdLst/>
                <a:ahLst/>
                <a:cxnLst/>
                <a:rect l="l" t="t" r="r" b="b"/>
                <a:pathLst>
                  <a:path w="279010" h="254975">
                    <a:moveTo>
                      <a:pt x="140154" y="254975"/>
                    </a:moveTo>
                    <a:cubicBezTo>
                      <a:pt x="50649" y="227230"/>
                      <a:pt x="0" y="132765"/>
                      <a:pt x="26425" y="42862"/>
                    </a:cubicBezTo>
                    <a:cubicBezTo>
                      <a:pt x="70939" y="44899"/>
                      <a:pt x="114496" y="29526"/>
                      <a:pt x="147869" y="0"/>
                    </a:cubicBezTo>
                    <a:cubicBezTo>
                      <a:pt x="181242" y="29526"/>
                      <a:pt x="224800" y="44899"/>
                      <a:pt x="269313" y="42862"/>
                    </a:cubicBezTo>
                    <a:cubicBezTo>
                      <a:pt x="279010" y="75854"/>
                      <a:pt x="278561" y="110999"/>
                      <a:pt x="268027" y="143732"/>
                    </a:cubicBezTo>
                  </a:path>
                </a:pathLst>
              </a:custGeom>
              <a:noFill/>
              <a:ln w="28575">
                <a:solidFill>
                  <a:schemeClr val="accent2"/>
                </a:solidFill>
              </a:ln>
            </p:spPr>
          </p:sp>
          <p:sp>
            <p:nvSpPr>
              <p:cNvPr id="21" name="Freeform 21"/>
              <p:cNvSpPr/>
              <p:nvPr/>
            </p:nvSpPr>
            <p:spPr>
              <a:xfrm>
                <a:off x="671512" y="5653088"/>
                <a:ext cx="85725" cy="57150"/>
              </a:xfrm>
              <a:custGeom>
                <a:avLst/>
                <a:gdLst/>
                <a:ahLst/>
                <a:cxnLst/>
                <a:rect l="l" t="t" r="r" b="b"/>
                <a:pathLst>
                  <a:path w="85725" h="57150">
                    <a:moveTo>
                      <a:pt x="0" y="28575"/>
                    </a:moveTo>
                    <a:lnTo>
                      <a:pt x="28575" y="57150"/>
                    </a:lnTo>
                    <a:lnTo>
                      <a:pt x="85725" y="0"/>
                    </a:lnTo>
                  </a:path>
                </a:pathLst>
              </a:custGeom>
              <a:noFill/>
              <a:ln w="28575">
                <a:solidFill>
                  <a:schemeClr val="accent2"/>
                </a:solidFill>
              </a:ln>
            </p:spPr>
          </p:sp>
        </p:grpSp>
        <p:sp>
          <p:nvSpPr>
            <p:cNvPr id="23" name="TextBox 23"/>
            <p:cNvSpPr txBox="1"/>
            <p:nvPr/>
          </p:nvSpPr>
          <p:spPr>
            <a:xfrm>
              <a:off x="978408" y="5427345"/>
              <a:ext cx="5943340" cy="469392"/>
            </a:xfrm>
            <a:prstGeom prst="rect">
              <a:avLst/>
            </a:prstGeom>
            <a:noFill/>
            <a:ln>
              <a:noFill/>
            </a:ln>
          </p:spPr>
          <p:txBody>
            <a:bodyPr wrap="none" lIns="0" tIns="0" rIns="0" bIns="0" anchor="t" anchorCtr="0">
              <a:spAutoFit/>
            </a:bodyPr>
            <a:lstStyle/>
            <a:p>
              <a:pPr algn="l"/>
              <a:r>
                <a:rPr lang="en-IE" sz="2400">
                  <a:solidFill>
                    <a:schemeClr val="dk1"/>
                  </a:solidFill>
                  <a:latin typeface="+mn-lt"/>
                  <a:ea typeface="+mn-ea"/>
                  <a:cs typeface="+mn-cs"/>
                </a:rPr>
                <a:t>No home ranking, score or recommendation.</a:t>
              </a:r>
            </a:p>
          </p:txBody>
        </p:sp>
      </p:grpSp>
      <p:grpSp>
        <p:nvGrpSpPr>
          <p:cNvPr id="27" name="footer"/>
          <p:cNvGrpSpPr/>
          <p:nvPr/>
        </p:nvGrpSpPr>
        <p:grpSpPr>
          <a:xfrm>
            <a:off x="451104" y="6347460"/>
            <a:ext cx="11289792" cy="234696"/>
            <a:chOff x="451104" y="6347460"/>
            <a:chExt cx="11289792" cy="234696"/>
          </a:xfrm>
        </p:grpSpPr>
        <p:sp>
          <p:nvSpPr>
            <p:cNvPr id="25" name="TextBox 25"/>
            <p:cNvSpPr txBox="1"/>
            <p:nvPr/>
          </p:nvSpPr>
          <p:spPr>
            <a:xfrm>
              <a:off x="451104" y="6347460"/>
              <a:ext cx="2441680" cy="234696"/>
            </a:xfrm>
            <a:prstGeom prst="rect">
              <a:avLst/>
            </a:prstGeom>
            <a:noFill/>
            <a:ln>
              <a:noFill/>
            </a:ln>
          </p:spPr>
          <p:txBody>
            <a:bodyPr wrap="none" lIns="0" tIns="0" rIns="0" bIns="0" anchor="t" anchorCtr="0">
              <a:spAutoFit/>
            </a:bodyPr>
            <a:lstStyle/>
            <a:p>
              <a:pPr algn="l"/>
              <a:r>
                <a:rPr lang="en-IE" sz="1200">
                  <a:solidFill>
                    <a:schemeClr val="accent5"/>
                  </a:solidFill>
                  <a:latin typeface="+mn-lt"/>
                  <a:ea typeface="+mn-ea"/>
                  <a:cs typeface="+mn-cs"/>
                </a:rPr>
                <a:t>CLEARCARE / PROPOSED PRODUCT</a:t>
              </a:r>
            </a:p>
          </p:txBody>
        </p:sp>
        <p:sp>
          <p:nvSpPr>
            <p:cNvPr id="26" name="TextBox 26"/>
            <p:cNvSpPr txBox="1"/>
            <p:nvPr/>
          </p:nvSpPr>
          <p:spPr>
            <a:xfrm>
              <a:off x="11564963" y="6347460"/>
              <a:ext cx="175933" cy="234696"/>
            </a:xfrm>
            <a:prstGeom prst="rect">
              <a:avLst/>
            </a:prstGeom>
            <a:noFill/>
            <a:ln>
              <a:noFill/>
            </a:ln>
          </p:spPr>
          <p:txBody>
            <a:bodyPr wrap="none" lIns="0" tIns="0" rIns="0" bIns="0" anchor="t" anchorCtr="0">
              <a:spAutoFit/>
            </a:bodyPr>
            <a:lstStyle/>
            <a:p>
              <a:pPr algn="r"/>
              <a:r>
                <a:rPr lang="en-IE" sz="1200">
                  <a:solidFill>
                    <a:schemeClr val="accent5"/>
                  </a:solidFill>
                  <a:latin typeface="+mn-lt"/>
                  <a:ea typeface="+mn-ea"/>
                  <a:cs typeface="+mn-cs"/>
                </a:rPr>
                <a:t>03</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page-title"/>
          <p:cNvGrpSpPr/>
          <p:nvPr/>
        </p:nvGrpSpPr>
        <p:grpSpPr>
          <a:xfrm>
            <a:off x="438150" y="413385"/>
            <a:ext cx="7709133" cy="819150"/>
            <a:chOff x="438150" y="413385"/>
            <a:chExt cx="7709133" cy="819150"/>
          </a:xfrm>
        </p:grpSpPr>
        <p:sp>
          <p:nvSpPr>
            <p:cNvPr id="2" name="TextBox 2"/>
            <p:cNvSpPr txBox="1"/>
            <p:nvPr/>
          </p:nvSpPr>
          <p:spPr>
            <a:xfrm>
              <a:off x="438150" y="413385"/>
              <a:ext cx="7709133" cy="819150"/>
            </a:xfrm>
            <a:prstGeom prst="rect">
              <a:avLst/>
            </a:prstGeom>
            <a:noFill/>
            <a:ln>
              <a:noFill/>
            </a:ln>
          </p:spPr>
          <p:txBody>
            <a:bodyPr wrap="none" lIns="0" tIns="0" rIns="0" bIns="0" anchor="t" anchorCtr="0">
              <a:spAutoFit/>
            </a:bodyPr>
            <a:lstStyle/>
            <a:p>
              <a:pPr algn="l"/>
              <a:r>
                <a:rPr lang="en-IE" sz="4200">
                  <a:solidFill>
                    <a:schemeClr val="accent1"/>
                  </a:solidFill>
                  <a:latin typeface="+mj-lt"/>
                  <a:ea typeface="+mj-ea"/>
                  <a:cs typeface="+mj-cs"/>
                </a:rPr>
                <a:t>Goal and delivery milestones</a:t>
              </a:r>
            </a:p>
          </p:txBody>
        </p:sp>
      </p:grpSp>
      <p:grpSp>
        <p:nvGrpSpPr>
          <p:cNvPr id="5" name="goal"/>
          <p:cNvGrpSpPr/>
          <p:nvPr/>
        </p:nvGrpSpPr>
        <p:grpSpPr>
          <a:xfrm>
            <a:off x="444246" y="1572578"/>
            <a:ext cx="6351767" cy="927354"/>
            <a:chOff x="444246" y="1572578"/>
            <a:chExt cx="6351767" cy="927354"/>
          </a:xfrm>
        </p:grpSpPr>
        <p:sp>
          <p:nvSpPr>
            <p:cNvPr id="4" name="TextBox 4"/>
            <p:cNvSpPr txBox="1"/>
            <p:nvPr/>
          </p:nvSpPr>
          <p:spPr>
            <a:xfrm>
              <a:off x="444246" y="1572578"/>
              <a:ext cx="6351767" cy="927354"/>
            </a:xfrm>
            <a:prstGeom prst="rect">
              <a:avLst/>
            </a:prstGeom>
            <a:noFill/>
            <a:ln>
              <a:noFill/>
            </a:ln>
          </p:spPr>
          <p:txBody>
            <a:bodyPr wrap="none" lIns="0" tIns="0" rIns="0" bIns="0" anchor="t" anchorCtr="0">
              <a:spAutoFit/>
            </a:bodyPr>
            <a:lstStyle/>
            <a:p>
              <a:pPr algn="l">
                <a:lnSpc>
                  <a:spcPts val="3375"/>
                </a:lnSpc>
              </a:pPr>
              <a:r>
                <a:rPr lang="en-IE" sz="2550">
                  <a:solidFill>
                    <a:schemeClr val="dk1"/>
                  </a:solidFill>
                  <a:latin typeface="+mn-lt"/>
                  <a:ea typeface="+mn-ea"/>
                  <a:cs typeface="+mn-cs"/>
                </a:rPr>
                <a:t>Can a family answer the evidence question</a:t>
              </a:r>
              <a:br/>
              <a:r>
                <a:rPr lang="en-IE" sz="2550" b="1">
                  <a:solidFill>
                    <a:schemeClr val="accent2"/>
                  </a:solidFill>
                  <a:latin typeface="+mn-lt"/>
                  <a:ea typeface="+mn-ea"/>
                  <a:cs typeface="+mn-cs"/>
                </a:rPr>
                <a:t>faster and more accurately</a:t>
              </a:r>
              <a:r>
                <a:rPr lang="en-IE" sz="2550">
                  <a:solidFill>
                    <a:schemeClr val="dk1"/>
                  </a:solidFill>
                  <a:latin typeface="+mn-lt"/>
                  <a:ea typeface="+mn-ea"/>
                  <a:cs typeface="+mn-cs"/>
                </a:rPr>
                <a:t> than with the PDFs?</a:t>
              </a:r>
            </a:p>
          </p:txBody>
        </p:sp>
      </p:grpSp>
      <p:grpSp>
        <p:nvGrpSpPr>
          <p:cNvPr id="11" name="evaluation"/>
          <p:cNvGrpSpPr/>
          <p:nvPr/>
        </p:nvGrpSpPr>
        <p:grpSpPr>
          <a:xfrm>
            <a:off x="445008" y="2809875"/>
            <a:ext cx="11280267" cy="1043559"/>
            <a:chOff x="445008" y="2809875"/>
            <a:chExt cx="11280267" cy="1043559"/>
          </a:xfrm>
        </p:grpSpPr>
        <p:sp>
          <p:nvSpPr>
            <p:cNvPr id="6" name="Line 6"/>
            <p:cNvSpPr/>
            <p:nvPr/>
          </p:nvSpPr>
          <p:spPr>
            <a:xfrm>
              <a:off x="466725" y="2809875"/>
              <a:ext cx="11258550" cy="9525"/>
            </a:xfrm>
            <a:custGeom>
              <a:avLst/>
              <a:gdLst/>
              <a:ahLst/>
              <a:cxnLst/>
              <a:rect l="l" t="t" r="r" b="b"/>
              <a:pathLst>
                <a:path w="11258550" h="9525">
                  <a:moveTo>
                    <a:pt x="0" y="0"/>
                  </a:moveTo>
                  <a:lnTo>
                    <a:pt x="11258550" y="0"/>
                  </a:lnTo>
                </a:path>
              </a:pathLst>
            </a:custGeom>
            <a:noFill/>
            <a:ln w="19050">
              <a:solidFill>
                <a:schemeClr val="accent6"/>
              </a:solidFill>
            </a:ln>
          </p:spPr>
        </p:sp>
        <p:sp>
          <p:nvSpPr>
            <p:cNvPr id="7" name="TextBox 7"/>
            <p:cNvSpPr txBox="1"/>
            <p:nvPr/>
          </p:nvSpPr>
          <p:spPr>
            <a:xfrm>
              <a:off x="445008" y="3017520"/>
              <a:ext cx="2322209" cy="469392"/>
            </a:xfrm>
            <a:prstGeom prst="rect">
              <a:avLst/>
            </a:prstGeom>
            <a:noFill/>
            <a:ln>
              <a:noFill/>
            </a:ln>
          </p:spPr>
          <p:txBody>
            <a:bodyPr wrap="none" lIns="0" tIns="0" rIns="0" bIns="0" anchor="t" anchorCtr="0">
              <a:spAutoFit/>
            </a:bodyPr>
            <a:lstStyle/>
            <a:p>
              <a:pPr algn="l"/>
              <a:r>
                <a:rPr lang="en-IE" sz="2400">
                  <a:solidFill>
                    <a:schemeClr val="accent1"/>
                  </a:solidFill>
                  <a:latin typeface="+mn-lt"/>
                  <a:ea typeface="+mn-ea"/>
                  <a:cs typeface="+mn-cs"/>
                </a:rPr>
                <a:t>Parser evaluation</a:t>
              </a:r>
            </a:p>
          </p:txBody>
        </p:sp>
        <p:sp>
          <p:nvSpPr>
            <p:cNvPr id="8" name="TextBox 8"/>
            <p:cNvSpPr txBox="1"/>
            <p:nvPr/>
          </p:nvSpPr>
          <p:spPr>
            <a:xfrm>
              <a:off x="448056" y="3501390"/>
              <a:ext cx="4668675" cy="352044"/>
            </a:xfrm>
            <a:prstGeom prst="rect">
              <a:avLst/>
            </a:prstGeom>
            <a:noFill/>
            <a:ln>
              <a:noFill/>
            </a:ln>
          </p:spPr>
          <p:txBody>
            <a:bodyPr wrap="none" lIns="0" tIns="0" rIns="0" bIns="0" anchor="t" anchorCtr="0">
              <a:spAutoFit/>
            </a:bodyPr>
            <a:lstStyle/>
            <a:p>
              <a:pPr algn="l"/>
              <a:r>
                <a:rPr lang="en-IE" sz="1800">
                  <a:solidFill>
                    <a:schemeClr val="accent5"/>
                  </a:solidFill>
                  <a:latin typeface="+mn-lt"/>
                  <a:ea typeface="+mn-ea"/>
                  <a:cs typeface="+mn-cs"/>
                </a:rPr>
                <a:t>Hand-labelled gold set; abstain when uncertain</a:t>
              </a:r>
            </a:p>
          </p:txBody>
        </p:sp>
        <p:sp>
          <p:nvSpPr>
            <p:cNvPr id="9" name="TextBox 9"/>
            <p:cNvSpPr txBox="1"/>
            <p:nvPr/>
          </p:nvSpPr>
          <p:spPr>
            <a:xfrm>
              <a:off x="6636258" y="3017520"/>
              <a:ext cx="1433617" cy="469392"/>
            </a:xfrm>
            <a:prstGeom prst="rect">
              <a:avLst/>
            </a:prstGeom>
            <a:noFill/>
            <a:ln>
              <a:noFill/>
            </a:ln>
          </p:spPr>
          <p:txBody>
            <a:bodyPr wrap="none" lIns="0" tIns="0" rIns="0" bIns="0" anchor="t" anchorCtr="0">
              <a:spAutoFit/>
            </a:bodyPr>
            <a:lstStyle/>
            <a:p>
              <a:pPr algn="l"/>
              <a:r>
                <a:rPr lang="en-IE" sz="2400">
                  <a:solidFill>
                    <a:schemeClr val="accent1"/>
                  </a:solidFill>
                  <a:latin typeface="+mn-lt"/>
                  <a:ea typeface="+mn-ea"/>
                  <a:cs typeface="+mn-cs"/>
                </a:rPr>
                <a:t>User study</a:t>
              </a:r>
            </a:p>
          </p:txBody>
        </p:sp>
        <p:sp>
          <p:nvSpPr>
            <p:cNvPr id="10" name="TextBox 10"/>
            <p:cNvSpPr txBox="1"/>
            <p:nvPr/>
          </p:nvSpPr>
          <p:spPr>
            <a:xfrm>
              <a:off x="6639306" y="3501390"/>
              <a:ext cx="3947081" cy="352044"/>
            </a:xfrm>
            <a:prstGeom prst="rect">
              <a:avLst/>
            </a:prstGeom>
            <a:noFill/>
            <a:ln>
              <a:noFill/>
            </a:ln>
          </p:spPr>
          <p:txBody>
            <a:bodyPr wrap="none" lIns="0" tIns="0" rIns="0" bIns="0" anchor="t" anchorCtr="0">
              <a:spAutoFit/>
            </a:bodyPr>
            <a:lstStyle/>
            <a:p>
              <a:pPr algn="l"/>
              <a:r>
                <a:rPr lang="en-IE" sz="1800">
                  <a:solidFill>
                    <a:schemeClr val="accent5"/>
                  </a:solidFill>
                  <a:latin typeface="+mn-lt"/>
                  <a:ea typeface="+mn-ea"/>
                  <a:cs typeface="+mn-cs"/>
                </a:rPr>
                <a:t>Evidence tasks against the original PDFs</a:t>
              </a:r>
            </a:p>
          </p:txBody>
        </p:sp>
      </p:grpSp>
      <p:grpSp>
        <p:nvGrpSpPr>
          <p:cNvPr id="25" name="milestones"/>
          <p:cNvGrpSpPr/>
          <p:nvPr/>
        </p:nvGrpSpPr>
        <p:grpSpPr>
          <a:xfrm>
            <a:off x="445008" y="4533900"/>
            <a:ext cx="10714487" cy="1167384"/>
            <a:chOff x="445008" y="4533900"/>
            <a:chExt cx="10714487" cy="1167384"/>
          </a:xfrm>
        </p:grpSpPr>
        <p:sp>
          <p:nvSpPr>
            <p:cNvPr id="12" name="Line 12"/>
            <p:cNvSpPr/>
            <p:nvPr/>
          </p:nvSpPr>
          <p:spPr>
            <a:xfrm>
              <a:off x="552450" y="4600575"/>
              <a:ext cx="10591800" cy="9525"/>
            </a:xfrm>
            <a:custGeom>
              <a:avLst/>
              <a:gdLst/>
              <a:ahLst/>
              <a:cxnLst/>
              <a:rect l="l" t="t" r="r" b="b"/>
              <a:pathLst>
                <a:path w="10591800" h="9525">
                  <a:moveTo>
                    <a:pt x="0" y="0"/>
                  </a:moveTo>
                  <a:lnTo>
                    <a:pt x="10591800" y="0"/>
                  </a:lnTo>
                </a:path>
              </a:pathLst>
            </a:custGeom>
            <a:noFill/>
            <a:ln w="19050">
              <a:solidFill>
                <a:schemeClr val="accent3"/>
              </a:solidFill>
            </a:ln>
          </p:spPr>
        </p:sp>
        <p:grpSp>
          <p:nvGrpSpPr>
            <p:cNvPr id="16" name="Group 16"/>
            <p:cNvGrpSpPr/>
            <p:nvPr/>
          </p:nvGrpSpPr>
          <p:grpSpPr>
            <a:xfrm>
              <a:off x="523875" y="4533900"/>
              <a:ext cx="8515350" cy="133350"/>
              <a:chOff x="523875" y="4533900"/>
              <a:chExt cx="8515350" cy="133350"/>
            </a:xfrm>
          </p:grpSpPr>
          <p:sp>
            <p:nvSpPr>
              <p:cNvPr id="13" name="Ellipse 13"/>
              <p:cNvSpPr/>
              <p:nvPr/>
            </p:nvSpPr>
            <p:spPr>
              <a:xfrm>
                <a:off x="523875" y="4533900"/>
                <a:ext cx="133350" cy="133350"/>
              </a:xfrm>
              <a:prstGeom prst="ellipse">
                <a:avLst/>
              </a:prstGeom>
              <a:solidFill>
                <a:schemeClr val="accent2"/>
              </a:solidFill>
              <a:ln>
                <a:noFill/>
              </a:ln>
            </p:spPr>
          </p:sp>
          <p:sp>
            <p:nvSpPr>
              <p:cNvPr id="14" name="Ellipse 14"/>
              <p:cNvSpPr/>
              <p:nvPr/>
            </p:nvSpPr>
            <p:spPr>
              <a:xfrm>
                <a:off x="5076825" y="4533900"/>
                <a:ext cx="133350" cy="133350"/>
              </a:xfrm>
              <a:prstGeom prst="ellipse">
                <a:avLst/>
              </a:prstGeom>
              <a:solidFill>
                <a:schemeClr val="accent2"/>
              </a:solidFill>
              <a:ln>
                <a:noFill/>
              </a:ln>
            </p:spPr>
          </p:sp>
          <p:sp>
            <p:nvSpPr>
              <p:cNvPr id="15" name="Ellipse 15"/>
              <p:cNvSpPr/>
              <p:nvPr/>
            </p:nvSpPr>
            <p:spPr>
              <a:xfrm>
                <a:off x="8905875" y="4533900"/>
                <a:ext cx="133350" cy="133350"/>
              </a:xfrm>
              <a:prstGeom prst="ellipse">
                <a:avLst/>
              </a:prstGeom>
              <a:solidFill>
                <a:schemeClr val="accent2"/>
              </a:solidFill>
              <a:ln>
                <a:noFill/>
              </a:ln>
            </p:spPr>
          </p:sp>
        </p:grpSp>
        <p:grpSp>
          <p:nvGrpSpPr>
            <p:cNvPr id="20" name="Group 20"/>
            <p:cNvGrpSpPr/>
            <p:nvPr/>
          </p:nvGrpSpPr>
          <p:grpSpPr>
            <a:xfrm>
              <a:off x="445008" y="4836795"/>
              <a:ext cx="10714487" cy="469392"/>
              <a:chOff x="445008" y="4836795"/>
              <a:chExt cx="10714487" cy="469392"/>
            </a:xfrm>
          </p:grpSpPr>
          <p:sp>
            <p:nvSpPr>
              <p:cNvPr id="17" name="TextBox 17"/>
              <p:cNvSpPr txBox="1"/>
              <p:nvPr/>
            </p:nvSpPr>
            <p:spPr>
              <a:xfrm>
                <a:off x="445008" y="4836795"/>
                <a:ext cx="2038388" cy="469392"/>
              </a:xfrm>
              <a:prstGeom prst="rect">
                <a:avLst/>
              </a:prstGeom>
              <a:noFill/>
              <a:ln>
                <a:noFill/>
              </a:ln>
            </p:spPr>
            <p:txBody>
              <a:bodyPr wrap="none" lIns="0" tIns="0" rIns="0" bIns="0" anchor="t" anchorCtr="0">
                <a:spAutoFit/>
              </a:bodyPr>
              <a:lstStyle/>
              <a:p>
                <a:pPr algn="l"/>
                <a:r>
                  <a:rPr lang="en-IE" sz="2400">
                    <a:solidFill>
                      <a:schemeClr val="accent1"/>
                    </a:solidFill>
                    <a:latin typeface="+mn-lt"/>
                    <a:ea typeface="+mn-ea"/>
                    <a:cs typeface="+mn-cs"/>
                  </a:rPr>
                  <a:t>Week 7 · 5 Nov</a:t>
                </a:r>
              </a:p>
            </p:txBody>
          </p:sp>
          <p:sp>
            <p:nvSpPr>
              <p:cNvPr id="18" name="TextBox 18"/>
              <p:cNvSpPr txBox="1"/>
              <p:nvPr/>
            </p:nvSpPr>
            <p:spPr>
              <a:xfrm>
                <a:off x="4988433" y="4836795"/>
                <a:ext cx="1197145" cy="469392"/>
              </a:xfrm>
              <a:prstGeom prst="rect">
                <a:avLst/>
              </a:prstGeom>
              <a:noFill/>
              <a:ln>
                <a:noFill/>
              </a:ln>
            </p:spPr>
            <p:txBody>
              <a:bodyPr wrap="none" lIns="0" tIns="0" rIns="0" bIns="0" anchor="t" anchorCtr="0">
                <a:spAutoFit/>
              </a:bodyPr>
              <a:lstStyle/>
              <a:p>
                <a:pPr algn="l"/>
                <a:r>
                  <a:rPr lang="en-IE" sz="2400">
                    <a:solidFill>
                      <a:schemeClr val="accent1"/>
                    </a:solidFill>
                    <a:latin typeface="+mn-lt"/>
                    <a:ea typeface="+mn-ea"/>
                    <a:cs typeface="+mn-cs"/>
                  </a:rPr>
                  <a:t>Week 10</a:t>
                </a:r>
              </a:p>
            </p:txBody>
          </p:sp>
          <p:sp>
            <p:nvSpPr>
              <p:cNvPr id="19" name="TextBox 19"/>
              <p:cNvSpPr txBox="1"/>
              <p:nvPr/>
            </p:nvSpPr>
            <p:spPr>
              <a:xfrm>
                <a:off x="8817483" y="4836795"/>
                <a:ext cx="2342012" cy="469392"/>
              </a:xfrm>
              <a:prstGeom prst="rect">
                <a:avLst/>
              </a:prstGeom>
              <a:noFill/>
              <a:ln>
                <a:noFill/>
              </a:ln>
            </p:spPr>
            <p:txBody>
              <a:bodyPr wrap="none" lIns="0" tIns="0" rIns="0" bIns="0" anchor="t" anchorCtr="0">
                <a:spAutoFit/>
              </a:bodyPr>
              <a:lstStyle/>
              <a:p>
                <a:pPr algn="l"/>
                <a:r>
                  <a:rPr lang="en-IE" sz="2400">
                    <a:solidFill>
                      <a:schemeClr val="accent1"/>
                    </a:solidFill>
                    <a:latin typeface="+mn-lt"/>
                    <a:ea typeface="+mn-ea"/>
                    <a:cs typeface="+mn-cs"/>
                  </a:rPr>
                  <a:t>Week 12 · 10 Dec</a:t>
                </a:r>
              </a:p>
            </p:txBody>
          </p:sp>
        </p:grpSp>
        <p:grpSp>
          <p:nvGrpSpPr>
            <p:cNvPr id="24" name="Group 24"/>
            <p:cNvGrpSpPr/>
            <p:nvPr/>
          </p:nvGrpSpPr>
          <p:grpSpPr>
            <a:xfrm>
              <a:off x="448056" y="5349240"/>
              <a:ext cx="9487580" cy="352044"/>
              <a:chOff x="448056" y="5349240"/>
              <a:chExt cx="9487580" cy="352044"/>
            </a:xfrm>
          </p:grpSpPr>
          <p:sp>
            <p:nvSpPr>
              <p:cNvPr id="21" name="TextBox 21"/>
              <p:cNvSpPr txBox="1"/>
              <p:nvPr/>
            </p:nvSpPr>
            <p:spPr>
              <a:xfrm>
                <a:off x="448056" y="5349240"/>
                <a:ext cx="2400647" cy="352044"/>
              </a:xfrm>
              <a:prstGeom prst="rect">
                <a:avLst/>
              </a:prstGeom>
              <a:noFill/>
              <a:ln>
                <a:noFill/>
              </a:ln>
            </p:spPr>
            <p:txBody>
              <a:bodyPr wrap="none" lIns="0" tIns="0" rIns="0" bIns="0" anchor="t" anchorCtr="0">
                <a:spAutoFit/>
              </a:bodyPr>
              <a:lstStyle/>
              <a:p>
                <a:pPr algn="l"/>
                <a:r>
                  <a:rPr lang="en-IE" sz="1800">
                    <a:solidFill>
                      <a:schemeClr val="accent5"/>
                    </a:solidFill>
                    <a:latin typeface="+mn-lt"/>
                    <a:ea typeface="+mn-ea"/>
                    <a:cs typeface="+mn-cs"/>
                  </a:rPr>
                  <a:t>Dublin MVP, end to end</a:t>
                </a:r>
              </a:p>
            </p:txBody>
          </p:sp>
          <p:sp>
            <p:nvSpPr>
              <p:cNvPr id="22" name="TextBox 22"/>
              <p:cNvSpPr txBox="1"/>
              <p:nvPr/>
            </p:nvSpPr>
            <p:spPr>
              <a:xfrm>
                <a:off x="4991481" y="5349240"/>
                <a:ext cx="2024095" cy="352044"/>
              </a:xfrm>
              <a:prstGeom prst="rect">
                <a:avLst/>
              </a:prstGeom>
              <a:noFill/>
              <a:ln>
                <a:noFill/>
              </a:ln>
            </p:spPr>
            <p:txBody>
              <a:bodyPr wrap="none" lIns="0" tIns="0" rIns="0" bIns="0" anchor="t" anchorCtr="0">
                <a:spAutoFit/>
              </a:bodyPr>
              <a:lstStyle/>
              <a:p>
                <a:pPr algn="l"/>
                <a:r>
                  <a:rPr lang="en-IE" sz="1800">
                    <a:solidFill>
                      <a:schemeClr val="accent5"/>
                    </a:solidFill>
                    <a:latin typeface="+mn-lt"/>
                    <a:ea typeface="+mn-ea"/>
                    <a:cs typeface="+mn-cs"/>
                  </a:rPr>
                  <a:t>All counties planned</a:t>
                </a:r>
              </a:p>
            </p:txBody>
          </p:sp>
          <p:sp>
            <p:nvSpPr>
              <p:cNvPr id="23" name="TextBox 23"/>
              <p:cNvSpPr txBox="1"/>
              <p:nvPr/>
            </p:nvSpPr>
            <p:spPr>
              <a:xfrm>
                <a:off x="8820531" y="5349240"/>
                <a:ext cx="1115105" cy="352044"/>
              </a:xfrm>
              <a:prstGeom prst="rect">
                <a:avLst/>
              </a:prstGeom>
              <a:noFill/>
              <a:ln>
                <a:noFill/>
              </a:ln>
            </p:spPr>
            <p:txBody>
              <a:bodyPr wrap="none" lIns="0" tIns="0" rIns="0" bIns="0" anchor="t" anchorCtr="0">
                <a:spAutoFit/>
              </a:bodyPr>
              <a:lstStyle/>
              <a:p>
                <a:pPr algn="l"/>
                <a:r>
                  <a:rPr lang="en-IE" sz="1800">
                    <a:solidFill>
                      <a:schemeClr val="accent5"/>
                    </a:solidFill>
                    <a:latin typeface="+mn-lt"/>
                    <a:ea typeface="+mn-ea"/>
                    <a:cs typeface="+mn-cs"/>
                  </a:rPr>
                  <a:t>Final demo</a:t>
                </a:r>
              </a:p>
            </p:txBody>
          </p:sp>
        </p:grpSp>
      </p:grpSp>
      <p:grpSp>
        <p:nvGrpSpPr>
          <p:cNvPr id="29" name="footer"/>
          <p:cNvGrpSpPr/>
          <p:nvPr/>
        </p:nvGrpSpPr>
        <p:grpSpPr>
          <a:xfrm>
            <a:off x="451104" y="6156960"/>
            <a:ext cx="11289792" cy="463296"/>
            <a:chOff x="451104" y="6156960"/>
            <a:chExt cx="11289792" cy="463296"/>
          </a:xfrm>
        </p:grpSpPr>
        <p:sp>
          <p:nvSpPr>
            <p:cNvPr id="26" name="TextBox 26"/>
            <p:cNvSpPr txBox="1"/>
            <p:nvPr/>
          </p:nvSpPr>
          <p:spPr>
            <a:xfrm>
              <a:off x="451104" y="6156960"/>
              <a:ext cx="4982609" cy="234696"/>
            </a:xfrm>
            <a:prstGeom prst="rect">
              <a:avLst/>
            </a:prstGeom>
            <a:noFill/>
            <a:ln>
              <a:noFill/>
            </a:ln>
          </p:spPr>
          <p:txBody>
            <a:bodyPr wrap="none" lIns="0" tIns="0" rIns="0" bIns="0" anchor="t" anchorCtr="0">
              <a:spAutoFit/>
            </a:bodyPr>
            <a:lstStyle/>
            <a:p>
              <a:pPr algn="l"/>
              <a:r>
                <a:rPr lang="en-IE" sz="1200">
                  <a:solidFill>
                    <a:schemeClr val="accent5"/>
                  </a:solidFill>
                  <a:latin typeface="+mn-lt"/>
                  <a:ea typeface="+mn-ea"/>
                  <a:cs typeface="+mn-cs"/>
                </a:rPr>
                <a:t>Planned milestones. Week 4 precision results determine the product scope.</a:t>
              </a:r>
            </a:p>
          </p:txBody>
        </p:sp>
        <p:sp>
          <p:nvSpPr>
            <p:cNvPr id="27" name="TextBox 27"/>
            <p:cNvSpPr txBox="1"/>
            <p:nvPr/>
          </p:nvSpPr>
          <p:spPr>
            <a:xfrm>
              <a:off x="451104" y="6385560"/>
              <a:ext cx="3025999" cy="234696"/>
            </a:xfrm>
            <a:prstGeom prst="rect">
              <a:avLst/>
            </a:prstGeom>
            <a:noFill/>
            <a:ln>
              <a:noFill/>
            </a:ln>
          </p:spPr>
          <p:txBody>
            <a:bodyPr wrap="none" lIns="0" tIns="0" rIns="0" bIns="0" anchor="t" anchorCtr="0">
              <a:spAutoFit/>
            </a:bodyPr>
            <a:lstStyle/>
            <a:p>
              <a:pPr algn="l"/>
              <a:r>
                <a:rPr lang="en-IE" sz="1200">
                  <a:solidFill>
                    <a:schemeClr val="accent5"/>
                  </a:solidFill>
                  <a:latin typeface="+mn-lt"/>
                  <a:ea typeface="+mn-ea"/>
                  <a:cs typeface="+mn-cs"/>
                </a:rPr>
                <a:t>Source: Week 1 project material, 23 Sep 2026</a:t>
              </a:r>
            </a:p>
          </p:txBody>
        </p:sp>
        <p:sp>
          <p:nvSpPr>
            <p:cNvPr id="28" name="TextBox 28"/>
            <p:cNvSpPr txBox="1"/>
            <p:nvPr/>
          </p:nvSpPr>
          <p:spPr>
            <a:xfrm>
              <a:off x="11564963" y="6385560"/>
              <a:ext cx="175933" cy="234696"/>
            </a:xfrm>
            <a:prstGeom prst="rect">
              <a:avLst/>
            </a:prstGeom>
            <a:noFill/>
            <a:ln>
              <a:noFill/>
            </a:ln>
          </p:spPr>
          <p:txBody>
            <a:bodyPr wrap="none" lIns="0" tIns="0" rIns="0" bIns="0" anchor="t" anchorCtr="0">
              <a:spAutoFit/>
            </a:bodyPr>
            <a:lstStyle/>
            <a:p>
              <a:pPr algn="r"/>
              <a:r>
                <a:rPr lang="en-IE" sz="1200">
                  <a:solidFill>
                    <a:schemeClr val="accent5"/>
                  </a:solidFill>
                  <a:latin typeface="+mn-lt"/>
                  <a:ea typeface="+mn-ea"/>
                  <a:cs typeface="+mn-cs"/>
                </a:rPr>
                <a:t>04</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page-title"/>
          <p:cNvGrpSpPr/>
          <p:nvPr/>
        </p:nvGrpSpPr>
        <p:grpSpPr>
          <a:xfrm>
            <a:off x="438150" y="413385"/>
            <a:ext cx="7322117" cy="819150"/>
            <a:chOff x="438150" y="413385"/>
            <a:chExt cx="7322117" cy="819150"/>
          </a:xfrm>
        </p:grpSpPr>
        <p:sp>
          <p:nvSpPr>
            <p:cNvPr id="2" name="TextBox 2"/>
            <p:cNvSpPr txBox="1"/>
            <p:nvPr/>
          </p:nvSpPr>
          <p:spPr>
            <a:xfrm>
              <a:off x="438150" y="413385"/>
              <a:ext cx="7322117" cy="819150"/>
            </a:xfrm>
            <a:prstGeom prst="rect">
              <a:avLst/>
            </a:prstGeom>
            <a:noFill/>
            <a:ln>
              <a:noFill/>
            </a:ln>
          </p:spPr>
          <p:txBody>
            <a:bodyPr wrap="none" lIns="0" tIns="0" rIns="0" bIns="0" anchor="t" anchorCtr="0">
              <a:spAutoFit/>
            </a:bodyPr>
            <a:lstStyle/>
            <a:p>
              <a:pPr algn="l"/>
              <a:r>
                <a:rPr lang="en-IE" sz="4200">
                  <a:solidFill>
                    <a:schemeClr val="accent1"/>
                  </a:solidFill>
                  <a:latin typeface="+mj-lt"/>
                  <a:ea typeface="+mj-ea"/>
                  <a:cs typeface="+mj-cs"/>
                </a:rPr>
                <a:t>Search and build a shortlist</a:t>
              </a:r>
            </a:p>
          </p:txBody>
        </p:sp>
      </p:grpSp>
      <p:grpSp>
        <p:nvGrpSpPr>
          <p:cNvPr id="5" name="product-view"/>
          <p:cNvGrpSpPr/>
          <p:nvPr/>
        </p:nvGrpSpPr>
        <p:grpSpPr>
          <a:xfrm>
            <a:off x="457200" y="1543050"/>
            <a:ext cx="7924800" cy="4953000"/>
            <a:chOff x="457200" y="1543050"/>
            <a:chExt cx="7924800" cy="4953000"/>
          </a:xfrm>
        </p:grpSpPr>
        <p:pic>
          <p:nvPicPr>
            <p:cNvPr id="4" name="Image 4"/>
            <p:cNvPicPr>
              <a:picLocks noChangeAspect="1"/>
            </p:cNvPicPr>
            <p:nvPr/>
          </p:nvPicPr>
          <p:blipFill>
            <a:blip r:embed="rId3"/>
            <a:stretch>
              <a:fillRect/>
            </a:stretch>
          </p:blipFill>
          <p:spPr>
            <a:xfrm>
              <a:off x="457200" y="1543050"/>
              <a:ext cx="7924800" cy="4953000"/>
            </a:xfrm>
            <a:prstGeom prst="rect">
              <a:avLst/>
            </a:prstGeom>
          </p:spPr>
        </p:pic>
      </p:grpSp>
      <p:grpSp>
        <p:nvGrpSpPr>
          <p:cNvPr id="12" name="shortlist-purpose"/>
          <p:cNvGrpSpPr/>
          <p:nvPr/>
        </p:nvGrpSpPr>
        <p:grpSpPr>
          <a:xfrm>
            <a:off x="8827008" y="1766887"/>
            <a:ext cx="2649672" cy="3153347"/>
            <a:chOff x="8827008" y="1766887"/>
            <a:chExt cx="2649672" cy="3153347"/>
          </a:xfrm>
        </p:grpSpPr>
        <p:grpSp>
          <p:nvGrpSpPr>
            <p:cNvPr id="8" name="Group 8"/>
            <p:cNvGrpSpPr/>
            <p:nvPr/>
          </p:nvGrpSpPr>
          <p:grpSpPr>
            <a:xfrm>
              <a:off x="8891587" y="1766887"/>
              <a:ext cx="314325" cy="314325"/>
              <a:chOff x="8891587" y="1766887"/>
              <a:chExt cx="314325" cy="314325"/>
            </a:xfrm>
          </p:grpSpPr>
          <p:sp>
            <p:nvSpPr>
              <p:cNvPr id="6" name="Freeform 6"/>
              <p:cNvSpPr/>
              <p:nvPr/>
            </p:nvSpPr>
            <p:spPr>
              <a:xfrm>
                <a:off x="8891587" y="1766887"/>
                <a:ext cx="244475" cy="244475"/>
              </a:xfrm>
              <a:custGeom>
                <a:avLst/>
                <a:gdLst/>
                <a:ahLst/>
                <a:cxnLst/>
                <a:rect l="l" t="t" r="r" b="b"/>
                <a:pathLst>
                  <a:path w="244475" h="244475">
                    <a:moveTo>
                      <a:pt x="0" y="122237"/>
                    </a:moveTo>
                    <a:cubicBezTo>
                      <a:pt x="0" y="189747"/>
                      <a:pt x="54727" y="244475"/>
                      <a:pt x="122237" y="244475"/>
                    </a:cubicBezTo>
                    <a:cubicBezTo>
                      <a:pt x="189747" y="244475"/>
                      <a:pt x="244475" y="189747"/>
                      <a:pt x="244475" y="122237"/>
                    </a:cubicBezTo>
                    <a:cubicBezTo>
                      <a:pt x="244475" y="54727"/>
                      <a:pt x="189747" y="0"/>
                      <a:pt x="122237" y="0"/>
                    </a:cubicBezTo>
                    <a:cubicBezTo>
                      <a:pt x="54727" y="0"/>
                      <a:pt x="0" y="54727"/>
                      <a:pt x="0" y="122237"/>
                    </a:cubicBezTo>
                  </a:path>
                </a:pathLst>
              </a:custGeom>
              <a:noFill/>
              <a:ln w="34925">
                <a:solidFill>
                  <a:schemeClr val="accent2"/>
                </a:solidFill>
              </a:ln>
            </p:spPr>
          </p:sp>
          <p:sp>
            <p:nvSpPr>
              <p:cNvPr id="7" name="Freeform 7"/>
              <p:cNvSpPr/>
              <p:nvPr/>
            </p:nvSpPr>
            <p:spPr>
              <a:xfrm>
                <a:off x="9101137" y="1976437"/>
                <a:ext cx="104775" cy="104775"/>
              </a:xfrm>
              <a:custGeom>
                <a:avLst/>
                <a:gdLst/>
                <a:ahLst/>
                <a:cxnLst/>
                <a:rect l="l" t="t" r="r" b="b"/>
                <a:pathLst>
                  <a:path w="104775" h="104775">
                    <a:moveTo>
                      <a:pt x="104775" y="104775"/>
                    </a:moveTo>
                    <a:lnTo>
                      <a:pt x="0" y="0"/>
                    </a:lnTo>
                  </a:path>
                </a:pathLst>
              </a:custGeom>
              <a:noFill/>
              <a:ln w="34925">
                <a:solidFill>
                  <a:schemeClr val="accent2"/>
                </a:solidFill>
              </a:ln>
            </p:spPr>
          </p:sp>
        </p:grpSp>
        <p:sp>
          <p:nvSpPr>
            <p:cNvPr id="9" name="TextBox 9"/>
            <p:cNvSpPr txBox="1"/>
            <p:nvPr/>
          </p:nvSpPr>
          <p:spPr>
            <a:xfrm>
              <a:off x="8827008" y="2407920"/>
              <a:ext cx="1757202" cy="869442"/>
            </a:xfrm>
            <a:prstGeom prst="rect">
              <a:avLst/>
            </a:prstGeom>
            <a:noFill/>
            <a:ln>
              <a:noFill/>
            </a:ln>
          </p:spPr>
          <p:txBody>
            <a:bodyPr wrap="none" lIns="0" tIns="0" rIns="0" bIns="0" anchor="t" anchorCtr="0">
              <a:spAutoFit/>
            </a:bodyPr>
            <a:lstStyle/>
            <a:p>
              <a:pPr algn="l">
                <a:lnSpc>
                  <a:spcPts val="3150"/>
                </a:lnSpc>
              </a:pPr>
              <a:r>
                <a:rPr lang="en-IE" sz="2400">
                  <a:solidFill>
                    <a:schemeClr val="accent1"/>
                  </a:solidFill>
                  <a:latin typeface="+mn-lt"/>
                  <a:ea typeface="+mn-ea"/>
                  <a:cs typeface="+mn-cs"/>
                </a:rPr>
                <a:t>Name, county</a:t>
              </a:r>
              <a:br/>
              <a:r>
                <a:rPr lang="en-IE" sz="2400">
                  <a:solidFill>
                    <a:schemeClr val="accent1"/>
                  </a:solidFill>
                  <a:latin typeface="+mn-lt"/>
                  <a:ea typeface="+mn-ea"/>
                  <a:cs typeface="+mn-cs"/>
                </a:rPr>
                <a:t>or Eircode</a:t>
              </a:r>
            </a:p>
          </p:txBody>
        </p:sp>
        <p:sp>
          <p:nvSpPr>
            <p:cNvPr id="10" name="TextBox 10"/>
            <p:cNvSpPr txBox="1"/>
            <p:nvPr/>
          </p:nvSpPr>
          <p:spPr>
            <a:xfrm>
              <a:off x="8827008" y="3550920"/>
              <a:ext cx="1660307" cy="869442"/>
            </a:xfrm>
            <a:prstGeom prst="rect">
              <a:avLst/>
            </a:prstGeom>
            <a:noFill/>
            <a:ln>
              <a:noFill/>
            </a:ln>
          </p:spPr>
          <p:txBody>
            <a:bodyPr wrap="none" lIns="0" tIns="0" rIns="0" bIns="0" anchor="t" anchorCtr="0">
              <a:spAutoFit/>
            </a:bodyPr>
            <a:lstStyle/>
            <a:p>
              <a:pPr algn="l">
                <a:lnSpc>
                  <a:spcPts val="3150"/>
                </a:lnSpc>
              </a:pPr>
              <a:r>
                <a:rPr lang="en-IE" sz="2400">
                  <a:solidFill>
                    <a:schemeClr val="accent1"/>
                  </a:solidFill>
                  <a:latin typeface="+mn-lt"/>
                  <a:ea typeface="+mn-ea"/>
                  <a:cs typeface="+mn-cs"/>
                </a:rPr>
                <a:t>Choose up to</a:t>
              </a:r>
              <a:br/>
              <a:r>
                <a:rPr lang="en-IE" sz="2400">
                  <a:solidFill>
                    <a:schemeClr val="accent1"/>
                  </a:solidFill>
                  <a:latin typeface="+mn-lt"/>
                  <a:ea typeface="+mn-ea"/>
                  <a:cs typeface="+mn-cs"/>
                </a:rPr>
                <a:t>three homes</a:t>
              </a:r>
            </a:p>
          </p:txBody>
        </p:sp>
        <p:sp>
          <p:nvSpPr>
            <p:cNvPr id="11" name="TextBox 11"/>
            <p:cNvSpPr txBox="1"/>
            <p:nvPr/>
          </p:nvSpPr>
          <p:spPr>
            <a:xfrm>
              <a:off x="8830056" y="4568190"/>
              <a:ext cx="2646624" cy="352044"/>
            </a:xfrm>
            <a:prstGeom prst="rect">
              <a:avLst/>
            </a:prstGeom>
            <a:noFill/>
            <a:ln>
              <a:noFill/>
            </a:ln>
          </p:spPr>
          <p:txBody>
            <a:bodyPr wrap="none" lIns="0" tIns="0" rIns="0" bIns="0" anchor="t" anchorCtr="0">
              <a:spAutoFit/>
            </a:bodyPr>
            <a:lstStyle/>
            <a:p>
              <a:pPr algn="l"/>
              <a:r>
                <a:rPr lang="en-IE" sz="1800">
                  <a:solidFill>
                    <a:schemeClr val="accent5"/>
                  </a:solidFill>
                  <a:latin typeface="+mn-lt"/>
                  <a:ea typeface="+mn-ea"/>
                  <a:cs typeface="+mn-cs"/>
                </a:rPr>
                <a:t>The grid is the destination.</a:t>
              </a:r>
            </a:p>
          </p:txBody>
        </p:sp>
      </p:grpSp>
      <p:grpSp>
        <p:nvGrpSpPr>
          <p:cNvPr id="15" name="wireframe-disclosure"/>
          <p:cNvGrpSpPr/>
          <p:nvPr/>
        </p:nvGrpSpPr>
        <p:grpSpPr>
          <a:xfrm>
            <a:off x="8830056" y="5320665"/>
            <a:ext cx="2257882" cy="1028319"/>
            <a:chOff x="8830056" y="5320665"/>
            <a:chExt cx="2257882" cy="1028319"/>
          </a:xfrm>
        </p:grpSpPr>
        <p:sp>
          <p:nvSpPr>
            <p:cNvPr id="13" name="TextBox 13"/>
            <p:cNvSpPr txBox="1"/>
            <p:nvPr/>
          </p:nvSpPr>
          <p:spPr>
            <a:xfrm>
              <a:off x="8830056" y="5320665"/>
              <a:ext cx="1353085" cy="352044"/>
            </a:xfrm>
            <a:prstGeom prst="rect">
              <a:avLst/>
            </a:prstGeom>
            <a:noFill/>
            <a:ln>
              <a:noFill/>
            </a:ln>
          </p:spPr>
          <p:txBody>
            <a:bodyPr wrap="none" lIns="0" tIns="0" rIns="0" bIns="0" anchor="t" anchorCtr="0">
              <a:spAutoFit/>
            </a:bodyPr>
            <a:lstStyle/>
            <a:p>
              <a:pPr algn="l"/>
              <a:r>
                <a:rPr lang="en-IE" sz="1800" b="1">
                  <a:solidFill>
                    <a:schemeClr val="accent5"/>
                  </a:solidFill>
                  <a:latin typeface="+mn-lt"/>
                  <a:ea typeface="+mn-ea"/>
                  <a:cs typeface="+mn-cs"/>
                </a:rPr>
                <a:t>WIREFRAME</a:t>
              </a:r>
            </a:p>
          </p:txBody>
        </p:sp>
        <p:sp>
          <p:nvSpPr>
            <p:cNvPr id="14" name="TextBox 14"/>
            <p:cNvSpPr txBox="1"/>
            <p:nvPr/>
          </p:nvSpPr>
          <p:spPr>
            <a:xfrm>
              <a:off x="8830056" y="5692140"/>
              <a:ext cx="2257882" cy="656844"/>
            </a:xfrm>
            <a:prstGeom prst="rect">
              <a:avLst/>
            </a:prstGeom>
            <a:noFill/>
            <a:ln>
              <a:noFill/>
            </a:ln>
          </p:spPr>
          <p:txBody>
            <a:bodyPr wrap="none" lIns="0" tIns="0" rIns="0" bIns="0" anchor="t" anchorCtr="0">
              <a:spAutoFit/>
            </a:bodyPr>
            <a:lstStyle/>
            <a:p>
              <a:pPr algn="l">
                <a:lnSpc>
                  <a:spcPts val="2400"/>
                </a:lnSpc>
              </a:pPr>
              <a:r>
                <a:rPr lang="en-IE" sz="1800">
                  <a:solidFill>
                    <a:schemeClr val="accent5"/>
                  </a:solidFill>
                  <a:latin typeface="+mn-lt"/>
                  <a:ea typeface="+mn-ea"/>
                  <a:cs typeface="+mn-cs"/>
                </a:rPr>
                <a:t>Layout and copy change</a:t>
              </a:r>
              <a:br/>
              <a:r>
                <a:rPr lang="en-IE" sz="1800">
                  <a:solidFill>
                    <a:schemeClr val="accent5"/>
                  </a:solidFill>
                  <a:latin typeface="+mn-lt"/>
                  <a:ea typeface="+mn-ea"/>
                  <a:cs typeface="+mn-cs"/>
                </a:rPr>
                <a:t>after the Week 6 pilot.</a:t>
              </a:r>
            </a:p>
          </p:txBody>
        </p:sp>
      </p:grpSp>
      <p:sp>
        <p:nvSpPr>
          <p:cNvPr id="16" name="TextBox 16"/>
          <p:cNvSpPr txBox="1"/>
          <p:nvPr/>
        </p:nvSpPr>
        <p:spPr>
          <a:xfrm>
            <a:off x="11564963" y="6557010"/>
            <a:ext cx="175933" cy="234696"/>
          </a:xfrm>
          <a:prstGeom prst="rect">
            <a:avLst/>
          </a:prstGeom>
          <a:noFill/>
          <a:ln>
            <a:noFill/>
          </a:ln>
        </p:spPr>
        <p:txBody>
          <a:bodyPr wrap="none" lIns="0" tIns="0" rIns="0" bIns="0" anchor="t" anchorCtr="0">
            <a:spAutoFit/>
          </a:bodyPr>
          <a:lstStyle/>
          <a:p>
            <a:pPr algn="r"/>
            <a:r>
              <a:rPr lang="en-IE" sz="1200">
                <a:solidFill>
                  <a:schemeClr val="accent5"/>
                </a:solidFill>
                <a:latin typeface="+mn-lt"/>
                <a:ea typeface="+mn-ea"/>
                <a:cs typeface="+mn-cs"/>
              </a:rPr>
              <a:t>05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page-title"/>
          <p:cNvGrpSpPr/>
          <p:nvPr/>
        </p:nvGrpSpPr>
        <p:grpSpPr>
          <a:xfrm>
            <a:off x="438150" y="413385"/>
            <a:ext cx="8904543" cy="819150"/>
            <a:chOff x="438150" y="413385"/>
            <a:chExt cx="8904543" cy="819150"/>
          </a:xfrm>
        </p:grpSpPr>
        <p:sp>
          <p:nvSpPr>
            <p:cNvPr id="2" name="TextBox 2"/>
            <p:cNvSpPr txBox="1"/>
            <p:nvPr/>
          </p:nvSpPr>
          <p:spPr>
            <a:xfrm>
              <a:off x="438150" y="413385"/>
              <a:ext cx="8904543" cy="819150"/>
            </a:xfrm>
            <a:prstGeom prst="rect">
              <a:avLst/>
            </a:prstGeom>
            <a:noFill/>
            <a:ln>
              <a:noFill/>
            </a:ln>
          </p:spPr>
          <p:txBody>
            <a:bodyPr wrap="none" lIns="0" tIns="0" rIns="0" bIns="0" anchor="t" anchorCtr="0">
              <a:spAutoFit/>
            </a:bodyPr>
            <a:lstStyle/>
            <a:p>
              <a:pPr algn="l"/>
              <a:r>
                <a:rPr lang="en-IE" sz="4200">
                  <a:solidFill>
                    <a:schemeClr val="accent1"/>
                  </a:solidFill>
                  <a:latin typeface="+mj-lt"/>
                  <a:ea typeface="+mj-ea"/>
                  <a:cs typeface="+mj-cs"/>
                </a:rPr>
                <a:t>Compare, then open the evidence</a:t>
              </a:r>
            </a:p>
          </p:txBody>
        </p:sp>
      </p:grpSp>
      <p:grpSp>
        <p:nvGrpSpPr>
          <p:cNvPr id="5" name="product-view"/>
          <p:cNvGrpSpPr/>
          <p:nvPr/>
        </p:nvGrpSpPr>
        <p:grpSpPr>
          <a:xfrm>
            <a:off x="457200" y="1543050"/>
            <a:ext cx="7467600" cy="4667250"/>
            <a:chOff x="457200" y="1543050"/>
            <a:chExt cx="7467600" cy="4667250"/>
          </a:xfrm>
        </p:grpSpPr>
        <p:pic>
          <p:nvPicPr>
            <p:cNvPr id="4" name="Image 4"/>
            <p:cNvPicPr>
              <a:picLocks noChangeAspect="1"/>
            </p:cNvPicPr>
            <p:nvPr/>
          </p:nvPicPr>
          <p:blipFill>
            <a:blip r:embed="rId3"/>
            <a:stretch>
              <a:fillRect/>
            </a:stretch>
          </p:blipFill>
          <p:spPr>
            <a:xfrm>
              <a:off x="457200" y="1543050"/>
              <a:ext cx="7467600" cy="4667250"/>
            </a:xfrm>
            <a:prstGeom prst="rect">
              <a:avLst/>
            </a:prstGeom>
          </p:spPr>
        </p:pic>
      </p:grpSp>
      <p:grpSp>
        <p:nvGrpSpPr>
          <p:cNvPr id="10" name="evidence-view"/>
          <p:cNvGrpSpPr/>
          <p:nvPr/>
        </p:nvGrpSpPr>
        <p:grpSpPr>
          <a:xfrm>
            <a:off x="8096250" y="1748790"/>
            <a:ext cx="3638550" cy="3457194"/>
            <a:chOff x="8096250" y="1748790"/>
            <a:chExt cx="3638550" cy="3457194"/>
          </a:xfrm>
        </p:grpSpPr>
        <p:sp>
          <p:nvSpPr>
            <p:cNvPr id="6" name="TextBox 6"/>
            <p:cNvSpPr txBox="1"/>
            <p:nvPr/>
          </p:nvSpPr>
          <p:spPr>
            <a:xfrm>
              <a:off x="8353806" y="1748790"/>
              <a:ext cx="3250871" cy="352044"/>
            </a:xfrm>
            <a:prstGeom prst="rect">
              <a:avLst/>
            </a:prstGeom>
            <a:noFill/>
            <a:ln>
              <a:noFill/>
            </a:ln>
          </p:spPr>
          <p:txBody>
            <a:bodyPr wrap="none" lIns="0" tIns="0" rIns="0" bIns="0" anchor="t" anchorCtr="0">
              <a:spAutoFit/>
            </a:bodyPr>
            <a:lstStyle/>
            <a:p>
              <a:pPr algn="l"/>
              <a:r>
                <a:rPr lang="en-IE" sz="1800">
                  <a:solidFill>
                    <a:schemeClr val="accent1"/>
                  </a:solidFill>
                  <a:latin typeface="+mn-lt"/>
                  <a:ea typeface="+mn-ea"/>
                  <a:cs typeface="+mn-cs"/>
                </a:rPr>
                <a:t>ONE MARK, SOURCE EVIDENCE</a:t>
              </a:r>
            </a:p>
          </p:txBody>
        </p:sp>
        <p:sp>
          <p:nvSpPr>
            <p:cNvPr id="7" name="Line 7"/>
            <p:cNvSpPr/>
            <p:nvPr/>
          </p:nvSpPr>
          <p:spPr>
            <a:xfrm>
              <a:off x="8096250" y="2571750"/>
              <a:ext cx="295275" cy="1"/>
            </a:xfrm>
            <a:prstGeom prst="line">
              <a:avLst/>
            </a:prstGeom>
            <a:noFill/>
            <a:ln w="19050">
              <a:solidFill>
                <a:schemeClr val="accent2"/>
              </a:solidFill>
              <a:tailEnd type="arrow" w="lg" len="lg"/>
            </a:ln>
          </p:spPr>
        </p:sp>
        <p:pic>
          <p:nvPicPr>
            <p:cNvPr id="8" name="Image 8"/>
            <p:cNvPicPr>
              <a:picLocks noChangeAspect="1"/>
            </p:cNvPicPr>
            <p:nvPr/>
          </p:nvPicPr>
          <p:blipFill>
            <a:blip r:embed="rId4"/>
            <a:stretch>
              <a:fillRect/>
            </a:stretch>
          </p:blipFill>
          <p:spPr>
            <a:xfrm>
              <a:off x="8458200" y="2238375"/>
              <a:ext cx="3276600" cy="2047875"/>
            </a:xfrm>
            <a:prstGeom prst="rect">
              <a:avLst/>
            </a:prstGeom>
          </p:spPr>
        </p:pic>
        <p:sp>
          <p:nvSpPr>
            <p:cNvPr id="9" name="TextBox 9"/>
            <p:cNvSpPr txBox="1"/>
            <p:nvPr/>
          </p:nvSpPr>
          <p:spPr>
            <a:xfrm>
              <a:off x="8353806" y="4549140"/>
              <a:ext cx="2986225" cy="656844"/>
            </a:xfrm>
            <a:prstGeom prst="rect">
              <a:avLst/>
            </a:prstGeom>
            <a:noFill/>
            <a:ln>
              <a:noFill/>
            </a:ln>
          </p:spPr>
          <p:txBody>
            <a:bodyPr wrap="none" lIns="0" tIns="0" rIns="0" bIns="0" anchor="t" anchorCtr="0">
              <a:spAutoFit/>
            </a:bodyPr>
            <a:lstStyle/>
            <a:p>
              <a:pPr algn="l">
                <a:lnSpc>
                  <a:spcPts val="2400"/>
                </a:lnSpc>
              </a:pPr>
              <a:r>
                <a:rPr lang="en-IE" sz="1800">
                  <a:solidFill>
                    <a:schemeClr val="dk1"/>
                  </a:solidFill>
                  <a:latin typeface="+mn-lt"/>
                  <a:ea typeface="+mn-ea"/>
                  <a:cs typeface="+mn-cs"/>
                </a:rPr>
                <a:t>Inspector text and PDF page.</a:t>
              </a:r>
              <a:br/>
              <a:r>
                <a:rPr lang="en-IE" sz="1800">
                  <a:solidFill>
                    <a:schemeClr val="dk1"/>
                  </a:solidFill>
                  <a:latin typeface="+mn-lt"/>
                  <a:ea typeface="+mn-ea"/>
                  <a:cs typeface="+mn-cs"/>
                </a:rPr>
                <a:t>Provider plan and later findings.</a:t>
              </a:r>
            </a:p>
          </p:txBody>
        </p:sp>
      </p:grpSp>
      <p:grpSp>
        <p:nvGrpSpPr>
          <p:cNvPr id="13" name="evidence-rule"/>
          <p:cNvGrpSpPr/>
          <p:nvPr/>
        </p:nvGrpSpPr>
        <p:grpSpPr>
          <a:xfrm>
            <a:off x="8353806" y="5520690"/>
            <a:ext cx="3095866" cy="675894"/>
            <a:chOff x="8353806" y="5520690"/>
            <a:chExt cx="3095866" cy="675894"/>
          </a:xfrm>
        </p:grpSpPr>
        <p:sp>
          <p:nvSpPr>
            <p:cNvPr id="11" name="TextBox 11"/>
            <p:cNvSpPr txBox="1"/>
            <p:nvPr/>
          </p:nvSpPr>
          <p:spPr>
            <a:xfrm>
              <a:off x="8353806" y="5520690"/>
              <a:ext cx="3095866" cy="352044"/>
            </a:xfrm>
            <a:prstGeom prst="rect">
              <a:avLst/>
            </a:prstGeom>
            <a:noFill/>
            <a:ln>
              <a:noFill/>
            </a:ln>
          </p:spPr>
          <p:txBody>
            <a:bodyPr wrap="none" lIns="0" tIns="0" rIns="0" bIns="0" anchor="t" anchorCtr="0">
              <a:spAutoFit/>
            </a:bodyPr>
            <a:lstStyle/>
            <a:p>
              <a:pPr algn="l"/>
              <a:r>
                <a:rPr lang="en-IE" sz="1800" b="1">
                  <a:solidFill>
                    <a:schemeClr val="accent2"/>
                  </a:solidFill>
                  <a:latin typeface="+mn-lt"/>
                  <a:ea typeface="+mn-ea"/>
                  <a:cs typeface="+mn-cs"/>
                </a:rPr>
                <a:t>No source, no published mark.</a:t>
              </a:r>
            </a:p>
          </p:txBody>
        </p:sp>
        <p:sp>
          <p:nvSpPr>
            <p:cNvPr id="12" name="TextBox 12"/>
            <p:cNvSpPr txBox="1"/>
            <p:nvPr/>
          </p:nvSpPr>
          <p:spPr>
            <a:xfrm>
              <a:off x="8353806" y="5844540"/>
              <a:ext cx="2912516" cy="352044"/>
            </a:xfrm>
            <a:prstGeom prst="rect">
              <a:avLst/>
            </a:prstGeom>
            <a:noFill/>
            <a:ln>
              <a:noFill/>
            </a:ln>
          </p:spPr>
          <p:txBody>
            <a:bodyPr wrap="none" lIns="0" tIns="0" rIns="0" bIns="0" anchor="t" anchorCtr="0">
              <a:spAutoFit/>
            </a:bodyPr>
            <a:lstStyle/>
            <a:p>
              <a:pPr algn="l"/>
              <a:r>
                <a:rPr lang="en-IE" sz="1800">
                  <a:solidFill>
                    <a:schemeClr val="accent5"/>
                  </a:solidFill>
                  <a:latin typeface="+mn-lt"/>
                  <a:ea typeface="+mn-ea"/>
                  <a:cs typeface="+mn-cs"/>
                </a:rPr>
                <a:t>States use words and shapes.</a:t>
              </a:r>
            </a:p>
          </p:txBody>
        </p:sp>
      </p:grpSp>
      <p:grpSp>
        <p:nvGrpSpPr>
          <p:cNvPr id="16" name="footer"/>
          <p:cNvGrpSpPr/>
          <p:nvPr/>
        </p:nvGrpSpPr>
        <p:grpSpPr>
          <a:xfrm>
            <a:off x="451104" y="6423660"/>
            <a:ext cx="11289792" cy="234696"/>
            <a:chOff x="451104" y="6423660"/>
            <a:chExt cx="11289792" cy="234696"/>
          </a:xfrm>
        </p:grpSpPr>
        <p:sp>
          <p:nvSpPr>
            <p:cNvPr id="14" name="TextBox 14"/>
            <p:cNvSpPr txBox="1"/>
            <p:nvPr/>
          </p:nvSpPr>
          <p:spPr>
            <a:xfrm>
              <a:off x="451104" y="6423660"/>
              <a:ext cx="6143500" cy="234696"/>
            </a:xfrm>
            <a:prstGeom prst="rect">
              <a:avLst/>
            </a:prstGeom>
            <a:noFill/>
            <a:ln>
              <a:noFill/>
            </a:ln>
          </p:spPr>
          <p:txBody>
            <a:bodyPr wrap="none" lIns="0" tIns="0" rIns="0" bIns="0" anchor="t" anchorCtr="0">
              <a:spAutoFit/>
            </a:bodyPr>
            <a:lstStyle/>
            <a:p>
              <a:pPr algn="l"/>
              <a:r>
                <a:rPr lang="en-IE" sz="1200">
                  <a:solidFill>
                    <a:schemeClr val="accent5"/>
                  </a:solidFill>
                  <a:latin typeface="+mn-lt"/>
                  <a:ea typeface="+mn-ea"/>
                  <a:cs typeface="+mn-cs"/>
                </a:rPr>
                <a:t>WIREFRAMES / Illustrative judgments. “Not assessed” and “not comparable” remain explicit.</a:t>
              </a:r>
            </a:p>
          </p:txBody>
        </p:sp>
        <p:sp>
          <p:nvSpPr>
            <p:cNvPr id="15" name="TextBox 15"/>
            <p:cNvSpPr txBox="1"/>
            <p:nvPr/>
          </p:nvSpPr>
          <p:spPr>
            <a:xfrm>
              <a:off x="11564963" y="6423660"/>
              <a:ext cx="175933" cy="234696"/>
            </a:xfrm>
            <a:prstGeom prst="rect">
              <a:avLst/>
            </a:prstGeom>
            <a:noFill/>
            <a:ln>
              <a:noFill/>
            </a:ln>
          </p:spPr>
          <p:txBody>
            <a:bodyPr wrap="none" lIns="0" tIns="0" rIns="0" bIns="0" anchor="t" anchorCtr="0">
              <a:spAutoFit/>
            </a:bodyPr>
            <a:lstStyle/>
            <a:p>
              <a:pPr algn="r"/>
              <a:r>
                <a:rPr lang="en-IE" sz="1200">
                  <a:solidFill>
                    <a:schemeClr val="accent5"/>
                  </a:solidFill>
                  <a:latin typeface="+mn-lt"/>
                  <a:ea typeface="+mn-ea"/>
                  <a:cs typeface="+mn-cs"/>
                </a:rPr>
                <a:t>06</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page-title"/>
          <p:cNvGrpSpPr/>
          <p:nvPr/>
        </p:nvGrpSpPr>
        <p:grpSpPr>
          <a:xfrm>
            <a:off x="438150" y="413385"/>
            <a:ext cx="9296956" cy="819150"/>
            <a:chOff x="438150" y="413385"/>
            <a:chExt cx="9296956" cy="819150"/>
          </a:xfrm>
        </p:grpSpPr>
        <p:sp>
          <p:nvSpPr>
            <p:cNvPr id="2" name="TextBox 2"/>
            <p:cNvSpPr txBox="1"/>
            <p:nvPr/>
          </p:nvSpPr>
          <p:spPr>
            <a:xfrm>
              <a:off x="438150" y="413385"/>
              <a:ext cx="9296956" cy="819150"/>
            </a:xfrm>
            <a:prstGeom prst="rect">
              <a:avLst/>
            </a:prstGeom>
            <a:noFill/>
            <a:ln>
              <a:noFill/>
            </a:ln>
          </p:spPr>
          <p:txBody>
            <a:bodyPr wrap="none" lIns="0" tIns="0" rIns="0" bIns="0" anchor="t" anchorCtr="0">
              <a:spAutoFit/>
            </a:bodyPr>
            <a:lstStyle/>
            <a:p>
              <a:pPr algn="l"/>
              <a:r>
                <a:rPr lang="en-IE" sz="4200">
                  <a:solidFill>
                    <a:schemeClr val="accent1"/>
                  </a:solidFill>
                  <a:latin typeface="+mj-lt"/>
                  <a:ea typeface="+mj-ea"/>
                  <a:cs typeface="+mj-cs"/>
                </a:rPr>
                <a:t>The technical work behind the grid</a:t>
              </a:r>
            </a:p>
          </p:txBody>
        </p:sp>
      </p:grpSp>
      <p:grpSp>
        <p:nvGrpSpPr>
          <p:cNvPr id="25" name="system"/>
          <p:cNvGrpSpPr/>
          <p:nvPr/>
        </p:nvGrpSpPr>
        <p:grpSpPr>
          <a:xfrm>
            <a:off x="448056" y="1762125"/>
            <a:ext cx="10611026" cy="2186559"/>
            <a:chOff x="448056" y="1762125"/>
            <a:chExt cx="10611026" cy="2186559"/>
          </a:xfrm>
        </p:grpSpPr>
        <p:sp>
          <p:nvSpPr>
            <p:cNvPr id="4" name="Freeform 4"/>
            <p:cNvSpPr/>
            <p:nvPr/>
          </p:nvSpPr>
          <p:spPr>
            <a:xfrm>
              <a:off x="457200" y="1809750"/>
              <a:ext cx="2238375" cy="1047750"/>
            </a:xfrm>
            <a:prstGeom prst="flowChartDocument">
              <a:avLst/>
            </a:prstGeom>
            <a:solidFill>
              <a:schemeClr val="lt2"/>
            </a:solidFill>
            <a:ln>
              <a:noFill/>
            </a:ln>
          </p:spPr>
        </p:sp>
        <p:grpSp>
          <p:nvGrpSpPr>
            <p:cNvPr id="8" name="Group 8"/>
            <p:cNvGrpSpPr/>
            <p:nvPr/>
          </p:nvGrpSpPr>
          <p:grpSpPr>
            <a:xfrm>
              <a:off x="448056" y="2141220"/>
              <a:ext cx="2759204" cy="1759839"/>
              <a:chOff x="448056" y="2141220"/>
              <a:chExt cx="2759204" cy="1759839"/>
            </a:xfrm>
          </p:grpSpPr>
          <p:sp>
            <p:nvSpPr>
              <p:cNvPr id="5" name="TextBox 5"/>
              <p:cNvSpPr txBox="1"/>
              <p:nvPr/>
            </p:nvSpPr>
            <p:spPr>
              <a:xfrm>
                <a:off x="664083" y="2141220"/>
                <a:ext cx="1494339" cy="469392"/>
              </a:xfrm>
              <a:prstGeom prst="rect">
                <a:avLst/>
              </a:prstGeom>
              <a:noFill/>
              <a:ln>
                <a:noFill/>
              </a:ln>
            </p:spPr>
            <p:txBody>
              <a:bodyPr wrap="none" lIns="0" tIns="0" rIns="0" bIns="0" anchor="t" anchorCtr="0">
                <a:spAutoFit/>
              </a:bodyPr>
              <a:lstStyle/>
              <a:p>
                <a:pPr algn="l"/>
                <a:r>
                  <a:rPr lang="en-IE" sz="2400">
                    <a:solidFill>
                      <a:schemeClr val="accent1"/>
                    </a:solidFill>
                    <a:latin typeface="+mn-lt"/>
                    <a:ea typeface="+mn-ea"/>
                    <a:cs typeface="+mn-cs"/>
                  </a:rPr>
                  <a:t>HIQA PDFs</a:t>
                </a:r>
              </a:p>
            </p:txBody>
          </p:sp>
          <p:sp>
            <p:nvSpPr>
              <p:cNvPr id="6" name="TextBox 6"/>
              <p:cNvSpPr txBox="1"/>
              <p:nvPr/>
            </p:nvSpPr>
            <p:spPr>
              <a:xfrm>
                <a:off x="448056" y="3177540"/>
                <a:ext cx="2759204" cy="352044"/>
              </a:xfrm>
              <a:prstGeom prst="rect">
                <a:avLst/>
              </a:prstGeom>
              <a:noFill/>
              <a:ln>
                <a:noFill/>
              </a:ln>
            </p:spPr>
            <p:txBody>
              <a:bodyPr wrap="none" lIns="0" tIns="0" rIns="0" bIns="0" anchor="t" anchorCtr="0">
                <a:spAutoFit/>
              </a:bodyPr>
              <a:lstStyle/>
              <a:p>
                <a:pPr algn="l"/>
                <a:r>
                  <a:rPr lang="en-IE" sz="1800">
                    <a:solidFill>
                      <a:schemeClr val="accent1"/>
                    </a:solidFill>
                    <a:latin typeface="+mn-lt"/>
                    <a:ea typeface="+mn-ea"/>
                    <a:cs typeface="+mn-cs"/>
                  </a:rPr>
                  <a:t>Register + company records</a:t>
                </a:r>
              </a:p>
            </p:txBody>
          </p:sp>
          <p:sp>
            <p:nvSpPr>
              <p:cNvPr id="7" name="TextBox 7"/>
              <p:cNvSpPr txBox="1"/>
              <p:nvPr/>
            </p:nvSpPr>
            <p:spPr>
              <a:xfrm>
                <a:off x="448056" y="3549015"/>
                <a:ext cx="2369650" cy="352044"/>
              </a:xfrm>
              <a:prstGeom prst="rect">
                <a:avLst/>
              </a:prstGeom>
              <a:noFill/>
              <a:ln>
                <a:noFill/>
              </a:ln>
            </p:spPr>
            <p:txBody>
              <a:bodyPr wrap="none" lIns="0" tIns="0" rIns="0" bIns="0" anchor="t" anchorCtr="0">
                <a:spAutoFit/>
              </a:bodyPr>
              <a:lstStyle/>
              <a:p>
                <a:pPr algn="l"/>
                <a:r>
                  <a:rPr lang="en-IE" sz="1800">
                    <a:solidFill>
                      <a:schemeClr val="accent5"/>
                    </a:solidFill>
                    <a:latin typeface="+mn-lt"/>
                    <a:ea typeface="+mn-ea"/>
                    <a:cs typeface="+mn-cs"/>
                  </a:rPr>
                  <a:t>Daily identity snapshots</a:t>
                </a:r>
              </a:p>
            </p:txBody>
          </p:sp>
        </p:grpSp>
        <p:sp>
          <p:nvSpPr>
            <p:cNvPr id="9" name="Line 9"/>
            <p:cNvSpPr/>
            <p:nvPr/>
          </p:nvSpPr>
          <p:spPr>
            <a:xfrm>
              <a:off x="2743200" y="2333625"/>
              <a:ext cx="419100" cy="1"/>
            </a:xfrm>
            <a:prstGeom prst="line">
              <a:avLst/>
            </a:prstGeom>
            <a:noFill/>
            <a:ln w="19050">
              <a:solidFill>
                <a:schemeClr val="accent3"/>
              </a:solidFill>
              <a:tailEnd type="arrow" w="lg" len="lg"/>
            </a:ln>
          </p:spPr>
        </p:sp>
        <p:sp>
          <p:nvSpPr>
            <p:cNvPr id="10" name="Rectangle 10"/>
            <p:cNvSpPr/>
            <p:nvPr/>
          </p:nvSpPr>
          <p:spPr>
            <a:xfrm>
              <a:off x="3314700" y="1762125"/>
              <a:ext cx="4191000" cy="1352550"/>
            </a:xfrm>
            <a:prstGeom prst="rect">
              <a:avLst/>
            </a:prstGeom>
            <a:solidFill>
              <a:schemeClr val="lt2"/>
            </a:solidFill>
            <a:ln>
              <a:noFill/>
            </a:ln>
          </p:spPr>
        </p:sp>
        <p:sp>
          <p:nvSpPr>
            <p:cNvPr id="11" name="TextBox 11"/>
            <p:cNvSpPr txBox="1"/>
            <p:nvPr/>
          </p:nvSpPr>
          <p:spPr>
            <a:xfrm>
              <a:off x="3512058" y="1969770"/>
              <a:ext cx="2972725" cy="469392"/>
            </a:xfrm>
            <a:prstGeom prst="rect">
              <a:avLst/>
            </a:prstGeom>
            <a:noFill/>
            <a:ln>
              <a:noFill/>
            </a:ln>
          </p:spPr>
          <p:txBody>
            <a:bodyPr wrap="none" lIns="0" tIns="0" rIns="0" bIns="0" anchor="t" anchorCtr="0">
              <a:spAutoFit/>
            </a:bodyPr>
            <a:lstStyle/>
            <a:p>
              <a:pPr algn="l"/>
              <a:r>
                <a:rPr lang="en-IE" sz="2400">
                  <a:solidFill>
                    <a:schemeClr val="accent1"/>
                  </a:solidFill>
                  <a:latin typeface="+mn-lt"/>
                  <a:ea typeface="+mn-ea"/>
                  <a:cs typeface="+mn-cs"/>
                </a:rPr>
                <a:t>Archive, extract, parse</a:t>
              </a:r>
            </a:p>
          </p:txBody>
        </p:sp>
        <p:sp>
          <p:nvSpPr>
            <p:cNvPr id="12" name="TextBox 12"/>
            <p:cNvSpPr txBox="1"/>
            <p:nvPr/>
          </p:nvSpPr>
          <p:spPr>
            <a:xfrm>
              <a:off x="3515106" y="2453640"/>
              <a:ext cx="2315197" cy="352044"/>
            </a:xfrm>
            <a:prstGeom prst="rect">
              <a:avLst/>
            </a:prstGeom>
            <a:noFill/>
            <a:ln>
              <a:noFill/>
            </a:ln>
          </p:spPr>
          <p:txBody>
            <a:bodyPr wrap="none" lIns="0" tIns="0" rIns="0" bIns="0" anchor="t" anchorCtr="0">
              <a:spAutoFit/>
            </a:bodyPr>
            <a:lstStyle/>
            <a:p>
              <a:pPr algn="l"/>
              <a:r>
                <a:rPr lang="en-IE" sz="1800">
                  <a:solidFill>
                    <a:schemeClr val="accent2"/>
                  </a:solidFill>
                  <a:latin typeface="+mn-lt"/>
                  <a:ea typeface="+mn-ea"/>
                  <a:cs typeface="+mn-cs"/>
                </a:rPr>
                <a:t>Review uncertain fields</a:t>
              </a:r>
            </a:p>
          </p:txBody>
        </p:sp>
        <p:sp>
          <p:nvSpPr>
            <p:cNvPr id="13" name="TextBox 13"/>
            <p:cNvSpPr txBox="1"/>
            <p:nvPr/>
          </p:nvSpPr>
          <p:spPr>
            <a:xfrm>
              <a:off x="3515106" y="2767965"/>
              <a:ext cx="3120517" cy="352044"/>
            </a:xfrm>
            <a:prstGeom prst="rect">
              <a:avLst/>
            </a:prstGeom>
            <a:noFill/>
            <a:ln>
              <a:noFill/>
            </a:ln>
          </p:spPr>
          <p:txBody>
            <a:bodyPr wrap="none" lIns="0" tIns="0" rIns="0" bIns="0" anchor="t" anchorCtr="0">
              <a:spAutoFit/>
            </a:bodyPr>
            <a:lstStyle/>
            <a:p>
              <a:pPr algn="l"/>
              <a:r>
                <a:rPr lang="en-IE" sz="1800">
                  <a:solidFill>
                    <a:schemeClr val="accent5"/>
                  </a:solidFill>
                  <a:latin typeface="+mn-lt"/>
                  <a:ea typeface="+mn-ea"/>
                  <a:cs typeface="+mn-cs"/>
                </a:rPr>
                <a:t>Link finding, plan and follow-up</a:t>
              </a:r>
            </a:p>
          </p:txBody>
        </p:sp>
        <p:sp>
          <p:nvSpPr>
            <p:cNvPr id="14" name="Line 14"/>
            <p:cNvSpPr/>
            <p:nvPr/>
          </p:nvSpPr>
          <p:spPr>
            <a:xfrm>
              <a:off x="2752725" y="3429000"/>
              <a:ext cx="4810125" cy="9525"/>
            </a:xfrm>
            <a:custGeom>
              <a:avLst/>
              <a:gdLst/>
              <a:ahLst/>
              <a:cxnLst/>
              <a:rect l="l" t="t" r="r" b="b"/>
              <a:pathLst>
                <a:path w="4810125" h="9525">
                  <a:moveTo>
                    <a:pt x="0" y="0"/>
                  </a:moveTo>
                  <a:lnTo>
                    <a:pt x="4810125" y="0"/>
                  </a:lnTo>
                </a:path>
              </a:pathLst>
            </a:custGeom>
            <a:noFill/>
            <a:ln w="19050">
              <a:solidFill>
                <a:schemeClr val="accent3"/>
              </a:solidFill>
            </a:ln>
          </p:spPr>
        </p:sp>
        <p:sp>
          <p:nvSpPr>
            <p:cNvPr id="15" name="Line 15"/>
            <p:cNvSpPr/>
            <p:nvPr/>
          </p:nvSpPr>
          <p:spPr>
            <a:xfrm flipV="1">
              <a:off x="7562850" y="2886075"/>
              <a:ext cx="514350" cy="542925"/>
            </a:xfrm>
            <a:prstGeom prst="line">
              <a:avLst/>
            </a:prstGeom>
            <a:noFill/>
            <a:ln w="19050">
              <a:solidFill>
                <a:schemeClr val="accent3"/>
              </a:solidFill>
              <a:tailEnd type="arrow" w="lg" len="lg"/>
            </a:ln>
          </p:spPr>
        </p:sp>
        <p:sp>
          <p:nvSpPr>
            <p:cNvPr id="16" name="TextBox 16"/>
            <p:cNvSpPr txBox="1"/>
            <p:nvPr/>
          </p:nvSpPr>
          <p:spPr>
            <a:xfrm>
              <a:off x="3610356" y="3596640"/>
              <a:ext cx="1654504" cy="352044"/>
            </a:xfrm>
            <a:prstGeom prst="rect">
              <a:avLst/>
            </a:prstGeom>
            <a:noFill/>
            <a:ln>
              <a:noFill/>
            </a:ln>
          </p:spPr>
          <p:txBody>
            <a:bodyPr wrap="none" lIns="0" tIns="0" rIns="0" bIns="0" anchor="t" anchorCtr="0">
              <a:spAutoFit/>
            </a:bodyPr>
            <a:lstStyle/>
            <a:p>
              <a:pPr algn="l"/>
              <a:r>
                <a:rPr lang="en-IE" sz="1800">
                  <a:solidFill>
                    <a:schemeClr val="accent5"/>
                  </a:solidFill>
                  <a:latin typeface="+mn-lt"/>
                  <a:ea typeface="+mn-ea"/>
                  <a:cs typeface="+mn-cs"/>
                </a:rPr>
                <a:t>Entity resolution</a:t>
              </a:r>
            </a:p>
          </p:txBody>
        </p:sp>
        <p:sp>
          <p:nvSpPr>
            <p:cNvPr id="17" name="Line 17"/>
            <p:cNvSpPr/>
            <p:nvPr/>
          </p:nvSpPr>
          <p:spPr>
            <a:xfrm>
              <a:off x="7591425" y="2381250"/>
              <a:ext cx="523875" cy="1"/>
            </a:xfrm>
            <a:prstGeom prst="line">
              <a:avLst/>
            </a:prstGeom>
            <a:noFill/>
            <a:ln w="19050">
              <a:solidFill>
                <a:schemeClr val="accent3"/>
              </a:solidFill>
              <a:tailEnd type="arrow" w="lg" len="lg"/>
            </a:ln>
          </p:spPr>
        </p:sp>
        <p:sp>
          <p:nvSpPr>
            <p:cNvPr id="18" name="Freeform 18"/>
            <p:cNvSpPr/>
            <p:nvPr/>
          </p:nvSpPr>
          <p:spPr>
            <a:xfrm>
              <a:off x="8286750" y="1905000"/>
              <a:ext cx="1333500" cy="1143000"/>
            </a:xfrm>
            <a:prstGeom prst="can">
              <a:avLst/>
            </a:prstGeom>
            <a:solidFill>
              <a:schemeClr val="lt2"/>
            </a:solidFill>
            <a:ln w="19050">
              <a:solidFill>
                <a:schemeClr val="accent3"/>
              </a:solidFill>
            </a:ln>
          </p:spPr>
        </p:sp>
        <p:sp>
          <p:nvSpPr>
            <p:cNvPr id="19" name="TextBox 19"/>
            <p:cNvSpPr txBox="1"/>
            <p:nvPr/>
          </p:nvSpPr>
          <p:spPr>
            <a:xfrm>
              <a:off x="8369492" y="2377440"/>
              <a:ext cx="1168017" cy="352044"/>
            </a:xfrm>
            <a:prstGeom prst="rect">
              <a:avLst/>
            </a:prstGeom>
            <a:noFill/>
            <a:ln>
              <a:noFill/>
            </a:ln>
          </p:spPr>
          <p:txBody>
            <a:bodyPr wrap="none" lIns="0" tIns="0" rIns="0" bIns="0" anchor="t" anchorCtr="0">
              <a:spAutoFit/>
            </a:bodyPr>
            <a:lstStyle/>
            <a:p>
              <a:pPr algn="ctr"/>
              <a:r>
                <a:rPr lang="en-IE" sz="1800">
                  <a:solidFill>
                    <a:schemeClr val="accent1"/>
                  </a:solidFill>
                  <a:latin typeface="+mn-lt"/>
                  <a:ea typeface="+mn-ea"/>
                  <a:cs typeface="+mn-cs"/>
                </a:rPr>
                <a:t>PostgreSQL</a:t>
              </a:r>
            </a:p>
          </p:txBody>
        </p:sp>
        <p:sp>
          <p:nvSpPr>
            <p:cNvPr id="20" name="Line 20"/>
            <p:cNvSpPr/>
            <p:nvPr/>
          </p:nvSpPr>
          <p:spPr>
            <a:xfrm>
              <a:off x="9725025" y="2428875"/>
              <a:ext cx="371475" cy="1"/>
            </a:xfrm>
            <a:prstGeom prst="line">
              <a:avLst/>
            </a:prstGeom>
            <a:noFill/>
            <a:ln w="19050">
              <a:solidFill>
                <a:schemeClr val="accent3"/>
              </a:solidFill>
              <a:tailEnd type="arrow" w="lg" len="lg"/>
            </a:ln>
          </p:spPr>
        </p:sp>
        <p:sp>
          <p:nvSpPr>
            <p:cNvPr id="21" name="TextBox 21"/>
            <p:cNvSpPr txBox="1"/>
            <p:nvPr/>
          </p:nvSpPr>
          <p:spPr>
            <a:xfrm>
              <a:off x="10287381" y="2186940"/>
              <a:ext cx="771701" cy="352044"/>
            </a:xfrm>
            <a:prstGeom prst="rect">
              <a:avLst/>
            </a:prstGeom>
            <a:noFill/>
            <a:ln>
              <a:noFill/>
            </a:ln>
          </p:spPr>
          <p:txBody>
            <a:bodyPr wrap="none" lIns="0" tIns="0" rIns="0" bIns="0" anchor="t" anchorCtr="0">
              <a:spAutoFit/>
            </a:bodyPr>
            <a:lstStyle/>
            <a:p>
              <a:pPr algn="l"/>
              <a:r>
                <a:rPr lang="en-IE" sz="1800">
                  <a:solidFill>
                    <a:schemeClr val="accent1"/>
                  </a:solidFill>
                  <a:latin typeface="+mn-lt"/>
                  <a:ea typeface="+mn-ea"/>
                  <a:cs typeface="+mn-cs"/>
                </a:rPr>
                <a:t>FastAPI</a:t>
              </a:r>
            </a:p>
          </p:txBody>
        </p:sp>
        <p:sp>
          <p:nvSpPr>
            <p:cNvPr id="22" name="Line 22"/>
            <p:cNvSpPr/>
            <p:nvPr/>
          </p:nvSpPr>
          <p:spPr>
            <a:xfrm>
              <a:off x="10810875" y="2590800"/>
              <a:ext cx="1" cy="314325"/>
            </a:xfrm>
            <a:prstGeom prst="line">
              <a:avLst/>
            </a:prstGeom>
            <a:noFill/>
            <a:ln w="19050">
              <a:solidFill>
                <a:schemeClr val="accent3"/>
              </a:solidFill>
              <a:tailEnd type="arrow" w="lg" len="lg"/>
            </a:ln>
          </p:spPr>
        </p:sp>
        <p:sp>
          <p:nvSpPr>
            <p:cNvPr id="23" name="TextBox 23"/>
            <p:cNvSpPr txBox="1"/>
            <p:nvPr/>
          </p:nvSpPr>
          <p:spPr>
            <a:xfrm>
              <a:off x="10287381" y="3101340"/>
              <a:ext cx="701706" cy="352044"/>
            </a:xfrm>
            <a:prstGeom prst="rect">
              <a:avLst/>
            </a:prstGeom>
            <a:noFill/>
            <a:ln>
              <a:noFill/>
            </a:ln>
          </p:spPr>
          <p:txBody>
            <a:bodyPr wrap="none" lIns="0" tIns="0" rIns="0" bIns="0" anchor="t" anchorCtr="0">
              <a:spAutoFit/>
            </a:bodyPr>
            <a:lstStyle/>
            <a:p>
              <a:pPr algn="l"/>
              <a:r>
                <a:rPr lang="en-IE" sz="1800">
                  <a:solidFill>
                    <a:schemeClr val="accent1"/>
                  </a:solidFill>
                  <a:latin typeface="+mn-lt"/>
                  <a:ea typeface="+mn-ea"/>
                  <a:cs typeface="+mn-cs"/>
                </a:rPr>
                <a:t>Next.js</a:t>
              </a:r>
            </a:p>
          </p:txBody>
        </p:sp>
        <p:sp>
          <p:nvSpPr>
            <p:cNvPr id="24" name="TextBox 24"/>
            <p:cNvSpPr txBox="1"/>
            <p:nvPr/>
          </p:nvSpPr>
          <p:spPr>
            <a:xfrm>
              <a:off x="8420481" y="3596640"/>
              <a:ext cx="2385453" cy="352044"/>
            </a:xfrm>
            <a:prstGeom prst="rect">
              <a:avLst/>
            </a:prstGeom>
            <a:noFill/>
            <a:ln>
              <a:noFill/>
            </a:ln>
          </p:spPr>
          <p:txBody>
            <a:bodyPr wrap="none" lIns="0" tIns="0" rIns="0" bIns="0" anchor="t" anchorCtr="0">
              <a:spAutoFit/>
            </a:bodyPr>
            <a:lstStyle/>
            <a:p>
              <a:pPr algn="l"/>
              <a:r>
                <a:rPr lang="en-IE" sz="1800">
                  <a:solidFill>
                    <a:schemeClr val="accent5"/>
                  </a:solidFill>
                  <a:latin typeface="+mn-lt"/>
                  <a:ea typeface="+mn-ea"/>
                  <a:cs typeface="+mn-cs"/>
                </a:rPr>
                <a:t>Homes / grid / evidence</a:t>
              </a:r>
            </a:p>
          </p:txBody>
        </p:sp>
      </p:grpSp>
      <p:grpSp>
        <p:nvGrpSpPr>
          <p:cNvPr id="37" name="hard-problems"/>
          <p:cNvGrpSpPr/>
          <p:nvPr/>
        </p:nvGrpSpPr>
        <p:grpSpPr>
          <a:xfrm>
            <a:off x="445008" y="4410075"/>
            <a:ext cx="11280267" cy="1367409"/>
            <a:chOff x="445008" y="4410075"/>
            <a:chExt cx="11280267" cy="1367409"/>
          </a:xfrm>
        </p:grpSpPr>
        <p:sp>
          <p:nvSpPr>
            <p:cNvPr id="26" name="Line 26"/>
            <p:cNvSpPr/>
            <p:nvPr/>
          </p:nvSpPr>
          <p:spPr>
            <a:xfrm>
              <a:off x="466725" y="4410075"/>
              <a:ext cx="11258550" cy="9525"/>
            </a:xfrm>
            <a:custGeom>
              <a:avLst/>
              <a:gdLst/>
              <a:ahLst/>
              <a:cxnLst/>
              <a:rect l="l" t="t" r="r" b="b"/>
              <a:pathLst>
                <a:path w="11258550" h="9525">
                  <a:moveTo>
                    <a:pt x="0" y="0"/>
                  </a:moveTo>
                  <a:lnTo>
                    <a:pt x="11258550" y="0"/>
                  </a:lnTo>
                </a:path>
              </a:pathLst>
            </a:custGeom>
            <a:noFill/>
            <a:ln w="19050">
              <a:solidFill>
                <a:schemeClr val="accent6"/>
              </a:solidFill>
            </a:ln>
          </p:spPr>
        </p:sp>
        <p:grpSp>
          <p:nvGrpSpPr>
            <p:cNvPr id="31" name="Group 31"/>
            <p:cNvGrpSpPr/>
            <p:nvPr/>
          </p:nvGrpSpPr>
          <p:grpSpPr>
            <a:xfrm>
              <a:off x="445008" y="4627245"/>
              <a:ext cx="9881401" cy="469392"/>
              <a:chOff x="445008" y="4627245"/>
              <a:chExt cx="9881401" cy="469392"/>
            </a:xfrm>
          </p:grpSpPr>
          <p:sp>
            <p:nvSpPr>
              <p:cNvPr id="27" name="TextBox 27"/>
              <p:cNvSpPr txBox="1"/>
              <p:nvPr/>
            </p:nvSpPr>
            <p:spPr>
              <a:xfrm>
                <a:off x="445008" y="4627245"/>
                <a:ext cx="949992" cy="469392"/>
              </a:xfrm>
              <a:prstGeom prst="rect">
                <a:avLst/>
              </a:prstGeom>
              <a:noFill/>
              <a:ln>
                <a:noFill/>
              </a:ln>
            </p:spPr>
            <p:txBody>
              <a:bodyPr wrap="none" lIns="0" tIns="0" rIns="0" bIns="0" anchor="t" anchorCtr="0">
                <a:spAutoFit/>
              </a:bodyPr>
              <a:lstStyle/>
              <a:p>
                <a:pPr algn="l"/>
                <a:r>
                  <a:rPr lang="en-IE" sz="2400">
                    <a:solidFill>
                      <a:schemeClr val="accent1"/>
                    </a:solidFill>
                    <a:latin typeface="+mn-lt"/>
                    <a:ea typeface="+mn-ea"/>
                    <a:cs typeface="+mn-cs"/>
                  </a:rPr>
                  <a:t>Extract</a:t>
                </a:r>
              </a:p>
            </p:txBody>
          </p:sp>
          <p:sp>
            <p:nvSpPr>
              <p:cNvPr id="28" name="TextBox 28"/>
              <p:cNvSpPr txBox="1"/>
              <p:nvPr/>
            </p:nvSpPr>
            <p:spPr>
              <a:xfrm>
                <a:off x="3378708" y="4627245"/>
                <a:ext cx="558437" cy="469392"/>
              </a:xfrm>
              <a:prstGeom prst="rect">
                <a:avLst/>
              </a:prstGeom>
              <a:noFill/>
              <a:ln>
                <a:noFill/>
              </a:ln>
            </p:spPr>
            <p:txBody>
              <a:bodyPr wrap="none" lIns="0" tIns="0" rIns="0" bIns="0" anchor="t" anchorCtr="0">
                <a:spAutoFit/>
              </a:bodyPr>
              <a:lstStyle/>
              <a:p>
                <a:pPr algn="l"/>
                <a:r>
                  <a:rPr lang="en-IE" sz="2400">
                    <a:solidFill>
                      <a:schemeClr val="accent1"/>
                    </a:solidFill>
                    <a:latin typeface="+mn-lt"/>
                    <a:ea typeface="+mn-ea"/>
                    <a:cs typeface="+mn-cs"/>
                  </a:rPr>
                  <a:t>Link</a:t>
                </a:r>
              </a:p>
            </p:txBody>
          </p:sp>
          <p:sp>
            <p:nvSpPr>
              <p:cNvPr id="29" name="TextBox 29"/>
              <p:cNvSpPr txBox="1"/>
              <p:nvPr/>
            </p:nvSpPr>
            <p:spPr>
              <a:xfrm>
                <a:off x="6236208" y="4627245"/>
                <a:ext cx="1046367" cy="469392"/>
              </a:xfrm>
              <a:prstGeom prst="rect">
                <a:avLst/>
              </a:prstGeom>
              <a:noFill/>
              <a:ln>
                <a:noFill/>
              </a:ln>
            </p:spPr>
            <p:txBody>
              <a:bodyPr wrap="none" lIns="0" tIns="0" rIns="0" bIns="0" anchor="t" anchorCtr="0">
                <a:spAutoFit/>
              </a:bodyPr>
              <a:lstStyle/>
              <a:p>
                <a:pPr algn="l"/>
                <a:r>
                  <a:rPr lang="en-IE" sz="2400">
                    <a:solidFill>
                      <a:schemeClr val="accent1"/>
                    </a:solidFill>
                    <a:latin typeface="+mn-lt"/>
                    <a:ea typeface="+mn-ea"/>
                    <a:cs typeface="+mn-cs"/>
                  </a:rPr>
                  <a:t>Resolve</a:t>
                </a:r>
              </a:p>
            </p:txBody>
          </p:sp>
          <p:sp>
            <p:nvSpPr>
              <p:cNvPr id="30" name="TextBox 30"/>
              <p:cNvSpPr txBox="1"/>
              <p:nvPr/>
            </p:nvSpPr>
            <p:spPr>
              <a:xfrm>
                <a:off x="9093708" y="4627245"/>
                <a:ext cx="1232701" cy="469392"/>
              </a:xfrm>
              <a:prstGeom prst="rect">
                <a:avLst/>
              </a:prstGeom>
              <a:noFill/>
              <a:ln>
                <a:noFill/>
              </a:ln>
            </p:spPr>
            <p:txBody>
              <a:bodyPr wrap="none" lIns="0" tIns="0" rIns="0" bIns="0" anchor="t" anchorCtr="0">
                <a:spAutoFit/>
              </a:bodyPr>
              <a:lstStyle/>
              <a:p>
                <a:pPr algn="l"/>
                <a:r>
                  <a:rPr lang="en-IE" sz="2400">
                    <a:solidFill>
                      <a:schemeClr val="accent1"/>
                    </a:solidFill>
                    <a:latin typeface="+mn-lt"/>
                    <a:ea typeface="+mn-ea"/>
                    <a:cs typeface="+mn-cs"/>
                  </a:rPr>
                  <a:t>Compare</a:t>
                </a:r>
              </a:p>
            </p:txBody>
          </p:sp>
        </p:grpSp>
        <p:grpSp>
          <p:nvGrpSpPr>
            <p:cNvPr id="36" name="Group 36"/>
            <p:cNvGrpSpPr/>
            <p:nvPr/>
          </p:nvGrpSpPr>
          <p:grpSpPr>
            <a:xfrm>
              <a:off x="448056" y="5120640"/>
              <a:ext cx="10602750" cy="656844"/>
              <a:chOff x="448056" y="5120640"/>
              <a:chExt cx="10602750" cy="656844"/>
            </a:xfrm>
          </p:grpSpPr>
          <p:sp>
            <p:nvSpPr>
              <p:cNvPr id="32" name="TextBox 32"/>
              <p:cNvSpPr txBox="1"/>
              <p:nvPr/>
            </p:nvSpPr>
            <p:spPr>
              <a:xfrm>
                <a:off x="448056" y="5120640"/>
                <a:ext cx="1623883" cy="656844"/>
              </a:xfrm>
              <a:prstGeom prst="rect">
                <a:avLst/>
              </a:prstGeom>
              <a:noFill/>
              <a:ln>
                <a:noFill/>
              </a:ln>
            </p:spPr>
            <p:txBody>
              <a:bodyPr wrap="none" lIns="0" tIns="0" rIns="0" bIns="0" anchor="t" anchorCtr="0">
                <a:spAutoFit/>
              </a:bodyPr>
              <a:lstStyle/>
              <a:p>
                <a:pPr algn="l">
                  <a:lnSpc>
                    <a:spcPts val="2400"/>
                  </a:lnSpc>
                </a:pPr>
                <a:r>
                  <a:rPr lang="en-IE" sz="1800">
                    <a:solidFill>
                      <a:schemeClr val="accent5"/>
                    </a:solidFill>
                    <a:latin typeface="+mn-lt"/>
                    <a:ea typeface="+mn-ea"/>
                    <a:cs typeface="+mn-cs"/>
                  </a:rPr>
                  <a:t>Abstain when</a:t>
                </a:r>
                <a:br/>
                <a:r>
                  <a:rPr lang="en-IE" sz="1800">
                    <a:solidFill>
                      <a:schemeClr val="accent5"/>
                    </a:solidFill>
                    <a:latin typeface="+mn-lt"/>
                    <a:ea typeface="+mn-ea"/>
                    <a:cs typeface="+mn-cs"/>
                  </a:rPr>
                  <a:t>confidence is low</a:t>
                </a:r>
              </a:p>
            </p:txBody>
          </p:sp>
          <p:sp>
            <p:nvSpPr>
              <p:cNvPr id="33" name="TextBox 33"/>
              <p:cNvSpPr txBox="1"/>
              <p:nvPr/>
            </p:nvSpPr>
            <p:spPr>
              <a:xfrm>
                <a:off x="3381756" y="5120640"/>
                <a:ext cx="1563464" cy="656844"/>
              </a:xfrm>
              <a:prstGeom prst="rect">
                <a:avLst/>
              </a:prstGeom>
              <a:noFill/>
              <a:ln>
                <a:noFill/>
              </a:ln>
            </p:spPr>
            <p:txBody>
              <a:bodyPr wrap="none" lIns="0" tIns="0" rIns="0" bIns="0" anchor="t" anchorCtr="0">
                <a:spAutoFit/>
              </a:bodyPr>
              <a:lstStyle/>
              <a:p>
                <a:pPr algn="l">
                  <a:lnSpc>
                    <a:spcPts val="2400"/>
                  </a:lnSpc>
                </a:pPr>
                <a:r>
                  <a:rPr lang="en-IE" sz="1800">
                    <a:solidFill>
                      <a:schemeClr val="accent5"/>
                    </a:solidFill>
                    <a:latin typeface="+mn-lt"/>
                    <a:ea typeface="+mn-ea"/>
                    <a:cs typeface="+mn-cs"/>
                  </a:rPr>
                  <a:t>Finding, promise</a:t>
                </a:r>
                <a:br/>
                <a:r>
                  <a:rPr lang="en-IE" sz="1800">
                    <a:solidFill>
                      <a:schemeClr val="accent5"/>
                    </a:solidFill>
                    <a:latin typeface="+mn-lt"/>
                    <a:ea typeface="+mn-ea"/>
                    <a:cs typeface="+mn-cs"/>
                  </a:rPr>
                  <a:t>and follow-up</a:t>
                </a:r>
              </a:p>
            </p:txBody>
          </p:sp>
          <p:sp>
            <p:nvSpPr>
              <p:cNvPr id="34" name="TextBox 34"/>
              <p:cNvSpPr txBox="1"/>
              <p:nvPr/>
            </p:nvSpPr>
            <p:spPr>
              <a:xfrm>
                <a:off x="6239256" y="5120640"/>
                <a:ext cx="1303637" cy="656844"/>
              </a:xfrm>
              <a:prstGeom prst="rect">
                <a:avLst/>
              </a:prstGeom>
              <a:noFill/>
              <a:ln>
                <a:noFill/>
              </a:ln>
            </p:spPr>
            <p:txBody>
              <a:bodyPr wrap="none" lIns="0" tIns="0" rIns="0" bIns="0" anchor="t" anchorCtr="0">
                <a:spAutoFit/>
              </a:bodyPr>
              <a:lstStyle/>
              <a:p>
                <a:pPr algn="l">
                  <a:lnSpc>
                    <a:spcPts val="2400"/>
                  </a:lnSpc>
                </a:pPr>
                <a:r>
                  <a:rPr lang="en-IE" sz="1800">
                    <a:solidFill>
                      <a:schemeClr val="accent5"/>
                    </a:solidFill>
                    <a:latin typeface="+mn-lt"/>
                    <a:ea typeface="+mn-ea"/>
                    <a:cs typeface="+mn-cs"/>
                  </a:rPr>
                  <a:t>Renamed and</a:t>
                </a:r>
                <a:br/>
                <a:r>
                  <a:rPr lang="en-IE" sz="1800">
                    <a:solidFill>
                      <a:schemeClr val="accent5"/>
                    </a:solidFill>
                    <a:latin typeface="+mn-lt"/>
                    <a:ea typeface="+mn-ea"/>
                    <a:cs typeface="+mn-cs"/>
                  </a:rPr>
                  <a:t>sold homes</a:t>
                </a:r>
              </a:p>
            </p:txBody>
          </p:sp>
          <p:sp>
            <p:nvSpPr>
              <p:cNvPr id="35" name="TextBox 35"/>
              <p:cNvSpPr txBox="1"/>
              <p:nvPr/>
            </p:nvSpPr>
            <p:spPr>
              <a:xfrm>
                <a:off x="9096756" y="5120640"/>
                <a:ext cx="1954050" cy="656844"/>
              </a:xfrm>
              <a:prstGeom prst="rect">
                <a:avLst/>
              </a:prstGeom>
              <a:noFill/>
              <a:ln>
                <a:noFill/>
              </a:ln>
            </p:spPr>
            <p:txBody>
              <a:bodyPr wrap="none" lIns="0" tIns="0" rIns="0" bIns="0" anchor="t" anchorCtr="0">
                <a:spAutoFit/>
              </a:bodyPr>
              <a:lstStyle/>
              <a:p>
                <a:pPr algn="l">
                  <a:lnSpc>
                    <a:spcPts val="2400"/>
                  </a:lnSpc>
                </a:pPr>
                <a:r>
                  <a:rPr lang="en-IE" sz="1800">
                    <a:solidFill>
                      <a:schemeClr val="accent5"/>
                    </a:solidFill>
                    <a:latin typeface="+mn-lt"/>
                    <a:ea typeface="+mn-ea"/>
                    <a:cs typeface="+mn-cs"/>
                  </a:rPr>
                  <a:t>Dates and regulation</a:t>
                </a:r>
                <a:br/>
                <a:r>
                  <a:rPr lang="en-IE" sz="1800">
                    <a:solidFill>
                      <a:schemeClr val="accent5"/>
                    </a:solidFill>
                    <a:latin typeface="+mn-lt"/>
                    <a:ea typeface="+mn-ea"/>
                    <a:cs typeface="+mn-cs"/>
                  </a:rPr>
                  <a:t>coverage matter</a:t>
                </a:r>
              </a:p>
            </p:txBody>
          </p:sp>
        </p:grpSp>
      </p:grpSp>
      <p:grpSp>
        <p:nvGrpSpPr>
          <p:cNvPr id="40" name="footer"/>
          <p:cNvGrpSpPr/>
          <p:nvPr/>
        </p:nvGrpSpPr>
        <p:grpSpPr>
          <a:xfrm>
            <a:off x="451104" y="6309360"/>
            <a:ext cx="11289792" cy="234696"/>
            <a:chOff x="451104" y="6309360"/>
            <a:chExt cx="11289792" cy="234696"/>
          </a:xfrm>
        </p:grpSpPr>
        <p:sp>
          <p:nvSpPr>
            <p:cNvPr id="38" name="TextBox 38"/>
            <p:cNvSpPr txBox="1"/>
            <p:nvPr/>
          </p:nvSpPr>
          <p:spPr>
            <a:xfrm>
              <a:off x="451104" y="6309360"/>
              <a:ext cx="5521448" cy="184666"/>
            </a:xfrm>
            <a:prstGeom prst="rect">
              <a:avLst/>
            </a:prstGeom>
            <a:noFill/>
            <a:ln>
              <a:noFill/>
            </a:ln>
          </p:spPr>
          <p:txBody>
            <a:bodyPr wrap="none" lIns="0" tIns="0" rIns="0" bIns="0" anchor="t" anchorCtr="0">
              <a:spAutoFit/>
            </a:bodyPr>
            <a:lstStyle/>
            <a:p>
              <a:pPr algn="l"/>
              <a:r>
                <a:rPr lang="en-IE" sz="1200">
                  <a:solidFill>
                    <a:schemeClr val="accent5"/>
                  </a:solidFill>
                  <a:latin typeface="+mn-lt"/>
                  <a:ea typeface="+mn-ea"/>
                  <a:cs typeface="+mn-cs"/>
                </a:rPr>
                <a:t>PROPOSED SYSTEM / Original report files stay archived</a:t>
              </a:r>
              <a:r>
                <a:rPr lang="en-IE" sz="1200">
                  <a:solidFill>
                    <a:schemeClr val="accent5"/>
                  </a:solidFill>
                </a:rPr>
                <a:t>.</a:t>
              </a:r>
              <a:r>
                <a:rPr lang="en-IE" sz="1200">
                  <a:solidFill>
                    <a:schemeClr val="accent5"/>
                  </a:solidFill>
                  <a:latin typeface="+mn-lt"/>
                  <a:ea typeface="+mn-ea"/>
                  <a:cs typeface="+mn-cs"/>
                </a:rPr>
                <a:t> </a:t>
              </a:r>
              <a:r>
                <a:rPr lang="en-IE" sz="1200">
                  <a:solidFill>
                    <a:schemeClr val="accent5"/>
                  </a:solidFill>
                </a:rPr>
                <a:t>Doubtful</a:t>
              </a:r>
              <a:r>
                <a:rPr lang="en-IE" sz="1200">
                  <a:solidFill>
                    <a:schemeClr val="accent5"/>
                  </a:solidFill>
                  <a:latin typeface="+mn-lt"/>
                  <a:ea typeface="+mn-ea"/>
                  <a:cs typeface="+mn-cs"/>
                </a:rPr>
                <a:t> judgments enter review.</a:t>
              </a:r>
            </a:p>
          </p:txBody>
        </p:sp>
        <p:sp>
          <p:nvSpPr>
            <p:cNvPr id="39" name="TextBox 39"/>
            <p:cNvSpPr txBox="1"/>
            <p:nvPr/>
          </p:nvSpPr>
          <p:spPr>
            <a:xfrm>
              <a:off x="11564963" y="6309360"/>
              <a:ext cx="175933" cy="234696"/>
            </a:xfrm>
            <a:prstGeom prst="rect">
              <a:avLst/>
            </a:prstGeom>
            <a:noFill/>
            <a:ln>
              <a:noFill/>
            </a:ln>
          </p:spPr>
          <p:txBody>
            <a:bodyPr wrap="none" lIns="0" tIns="0" rIns="0" bIns="0" anchor="t" anchorCtr="0">
              <a:spAutoFit/>
            </a:bodyPr>
            <a:lstStyle/>
            <a:p>
              <a:pPr algn="r"/>
              <a:r>
                <a:rPr lang="en-IE" sz="1200">
                  <a:solidFill>
                    <a:schemeClr val="accent5"/>
                  </a:solidFill>
                  <a:latin typeface="+mn-lt"/>
                  <a:ea typeface="+mn-ea"/>
                  <a:cs typeface="+mn-cs"/>
                </a:rPr>
                <a:t>07</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a:extLst>
            <a:ext uri="{FF2B5EF4-FFF2-40B4-BE49-F238E27FC236}">
              <a16:creationId xmlns:a16="http://schemas.microsoft.com/office/drawing/2014/main" id="{25251196-9C61-F63C-8905-21EE61DBD981}"/>
            </a:ext>
          </a:extLst>
        </p:cNvPr>
        <p:cNvGrpSpPr/>
        <p:nvPr/>
      </p:nvGrpSpPr>
      <p:grpSpPr>
        <a:xfrm>
          <a:off x="0" y="0"/>
          <a:ext cx="0" cy="0"/>
          <a:chOff x="0" y="0"/>
          <a:chExt cx="0" cy="0"/>
        </a:xfrm>
      </p:grpSpPr>
      <p:grpSp>
        <p:nvGrpSpPr>
          <p:cNvPr id="3" name="page-title">
            <a:extLst>
              <a:ext uri="{FF2B5EF4-FFF2-40B4-BE49-F238E27FC236}">
                <a16:creationId xmlns:a16="http://schemas.microsoft.com/office/drawing/2014/main" id="{55D151E5-9A33-B680-B0C1-2975A3E8D3E4}"/>
              </a:ext>
            </a:extLst>
          </p:cNvPr>
          <p:cNvGrpSpPr/>
          <p:nvPr/>
        </p:nvGrpSpPr>
        <p:grpSpPr>
          <a:xfrm>
            <a:off x="438150" y="413385"/>
            <a:ext cx="9242915" cy="646331"/>
            <a:chOff x="438150" y="413385"/>
            <a:chExt cx="9242915" cy="646331"/>
          </a:xfrm>
        </p:grpSpPr>
        <p:sp>
          <p:nvSpPr>
            <p:cNvPr id="2" name="TextBox 2">
              <a:extLst>
                <a:ext uri="{FF2B5EF4-FFF2-40B4-BE49-F238E27FC236}">
                  <a16:creationId xmlns:a16="http://schemas.microsoft.com/office/drawing/2014/main" id="{05BB9F6C-CFCB-908C-6727-48B203EC7D5A}"/>
                </a:ext>
              </a:extLst>
            </p:cNvPr>
            <p:cNvSpPr txBox="1"/>
            <p:nvPr/>
          </p:nvSpPr>
          <p:spPr>
            <a:xfrm>
              <a:off x="438150" y="413385"/>
              <a:ext cx="9242915" cy="646331"/>
            </a:xfrm>
            <a:prstGeom prst="rect">
              <a:avLst/>
            </a:prstGeom>
            <a:noFill/>
            <a:ln>
              <a:noFill/>
            </a:ln>
          </p:spPr>
          <p:txBody>
            <a:bodyPr wrap="none" lIns="0" tIns="0" rIns="0" bIns="0" anchor="t" anchorCtr="0">
              <a:spAutoFit/>
            </a:bodyPr>
            <a:lstStyle/>
            <a:p>
              <a:r>
                <a:rPr lang="en-IE" sz="4200">
                  <a:solidFill>
                    <a:schemeClr val="accent1"/>
                  </a:solidFill>
                  <a:latin typeface="+mj-lt"/>
                  <a:ea typeface="+mj-ea"/>
                  <a:cs typeface="+mj-cs"/>
                </a:rPr>
                <a:t>Project Management and Methodology</a:t>
              </a:r>
              <a:endParaRPr lang="en-US">
                <a:solidFill>
                  <a:schemeClr val="accent1"/>
                </a:solidFill>
              </a:endParaRPr>
            </a:p>
          </p:txBody>
        </p:sp>
      </p:grpSp>
      <p:grpSp>
        <p:nvGrpSpPr>
          <p:cNvPr id="7" name="likun">
            <a:extLst>
              <a:ext uri="{FF2B5EF4-FFF2-40B4-BE49-F238E27FC236}">
                <a16:creationId xmlns:a16="http://schemas.microsoft.com/office/drawing/2014/main" id="{6B46EDCC-52B2-4E7A-B43E-A569D19E6382}"/>
              </a:ext>
            </a:extLst>
          </p:cNvPr>
          <p:cNvGrpSpPr/>
          <p:nvPr/>
        </p:nvGrpSpPr>
        <p:grpSpPr>
          <a:xfrm>
            <a:off x="445008" y="1626870"/>
            <a:ext cx="11280267" cy="573405"/>
            <a:chOff x="445008" y="1626870"/>
            <a:chExt cx="11280267" cy="573405"/>
          </a:xfrm>
        </p:grpSpPr>
        <p:sp>
          <p:nvSpPr>
            <p:cNvPr id="4" name="TextBox 4">
              <a:extLst>
                <a:ext uri="{FF2B5EF4-FFF2-40B4-BE49-F238E27FC236}">
                  <a16:creationId xmlns:a16="http://schemas.microsoft.com/office/drawing/2014/main" id="{0B56BD6D-8F9E-E5DE-7646-64030CF20BDF}"/>
                </a:ext>
              </a:extLst>
            </p:cNvPr>
            <p:cNvSpPr txBox="1"/>
            <p:nvPr/>
          </p:nvSpPr>
          <p:spPr>
            <a:xfrm>
              <a:off x="445008" y="1626870"/>
              <a:ext cx="964431" cy="369332"/>
            </a:xfrm>
            <a:prstGeom prst="rect">
              <a:avLst/>
            </a:prstGeom>
            <a:noFill/>
            <a:ln>
              <a:noFill/>
            </a:ln>
          </p:spPr>
          <p:txBody>
            <a:bodyPr wrap="none" lIns="0" tIns="0" rIns="0" bIns="0" anchor="t" anchorCtr="0">
              <a:spAutoFit/>
            </a:bodyPr>
            <a:lstStyle/>
            <a:p>
              <a:r>
                <a:rPr lang="en-IE" sz="2400" b="1">
                  <a:solidFill>
                    <a:schemeClr val="accent2"/>
                  </a:solidFill>
                </a:rPr>
                <a:t>Process</a:t>
              </a:r>
              <a:endParaRPr lang="en-US">
                <a:solidFill>
                  <a:schemeClr val="accent2"/>
                </a:solidFill>
              </a:endParaRPr>
            </a:p>
          </p:txBody>
        </p:sp>
        <p:sp>
          <p:nvSpPr>
            <p:cNvPr id="5" name="TextBox 5">
              <a:extLst>
                <a:ext uri="{FF2B5EF4-FFF2-40B4-BE49-F238E27FC236}">
                  <a16:creationId xmlns:a16="http://schemas.microsoft.com/office/drawing/2014/main" id="{12C78705-05B1-24F4-9B9C-C8BEC2D0D216}"/>
                </a:ext>
              </a:extLst>
            </p:cNvPr>
            <p:cNvSpPr txBox="1"/>
            <p:nvPr/>
          </p:nvSpPr>
          <p:spPr>
            <a:xfrm>
              <a:off x="2491359" y="1626870"/>
              <a:ext cx="931345" cy="369332"/>
            </a:xfrm>
            <a:prstGeom prst="rect">
              <a:avLst/>
            </a:prstGeom>
            <a:noFill/>
            <a:ln>
              <a:noFill/>
            </a:ln>
          </p:spPr>
          <p:txBody>
            <a:bodyPr wrap="none" lIns="0" tIns="0" rIns="0" bIns="0" anchor="t" anchorCtr="0">
              <a:spAutoFit/>
            </a:bodyPr>
            <a:lstStyle/>
            <a:p>
              <a:pPr algn="l"/>
              <a:r>
                <a:rPr lang="en-IE" sz="2400">
                  <a:solidFill>
                    <a:schemeClr val="dk1"/>
                  </a:solidFill>
                </a:rPr>
                <a:t>SCRUM</a:t>
              </a:r>
              <a:endParaRPr lang="en-US"/>
            </a:p>
          </p:txBody>
        </p:sp>
        <p:sp>
          <p:nvSpPr>
            <p:cNvPr id="6" name="Line 6">
              <a:extLst>
                <a:ext uri="{FF2B5EF4-FFF2-40B4-BE49-F238E27FC236}">
                  <a16:creationId xmlns:a16="http://schemas.microsoft.com/office/drawing/2014/main" id="{6167F447-898F-4F36-8634-AF299B669D61}"/>
                </a:ext>
              </a:extLst>
            </p:cNvPr>
            <p:cNvSpPr/>
            <p:nvPr/>
          </p:nvSpPr>
          <p:spPr>
            <a:xfrm>
              <a:off x="466725" y="2190750"/>
              <a:ext cx="11258550" cy="9525"/>
            </a:xfrm>
            <a:custGeom>
              <a:avLst/>
              <a:gdLst/>
              <a:ahLst/>
              <a:cxnLst/>
              <a:rect l="l" t="t" r="r" b="b"/>
              <a:pathLst>
                <a:path w="11258550" h="9525">
                  <a:moveTo>
                    <a:pt x="0" y="0"/>
                  </a:moveTo>
                  <a:lnTo>
                    <a:pt x="11258550" y="0"/>
                  </a:lnTo>
                </a:path>
              </a:pathLst>
            </a:custGeom>
            <a:noFill/>
            <a:ln w="9525">
              <a:solidFill>
                <a:schemeClr val="accent6"/>
              </a:solidFill>
            </a:ln>
          </p:spPr>
        </p:sp>
      </p:grpSp>
      <p:grpSp>
        <p:nvGrpSpPr>
          <p:cNvPr id="11" name="aswin">
            <a:extLst>
              <a:ext uri="{FF2B5EF4-FFF2-40B4-BE49-F238E27FC236}">
                <a16:creationId xmlns:a16="http://schemas.microsoft.com/office/drawing/2014/main" id="{207DD1FA-08CE-1306-60E2-C50DDDC18703}"/>
              </a:ext>
            </a:extLst>
          </p:cNvPr>
          <p:cNvGrpSpPr/>
          <p:nvPr/>
        </p:nvGrpSpPr>
        <p:grpSpPr>
          <a:xfrm>
            <a:off x="445008" y="2398395"/>
            <a:ext cx="11280267" cy="573405"/>
            <a:chOff x="445008" y="2398395"/>
            <a:chExt cx="11280267" cy="573405"/>
          </a:xfrm>
        </p:grpSpPr>
        <p:sp>
          <p:nvSpPr>
            <p:cNvPr id="8" name="TextBox 8">
              <a:extLst>
                <a:ext uri="{FF2B5EF4-FFF2-40B4-BE49-F238E27FC236}">
                  <a16:creationId xmlns:a16="http://schemas.microsoft.com/office/drawing/2014/main" id="{8F2ACF97-6581-B1A1-9C61-3C65161FE2B1}"/>
                </a:ext>
              </a:extLst>
            </p:cNvPr>
            <p:cNvSpPr txBox="1"/>
            <p:nvPr/>
          </p:nvSpPr>
          <p:spPr>
            <a:xfrm>
              <a:off x="445008" y="2398395"/>
              <a:ext cx="649217" cy="369332"/>
            </a:xfrm>
            <a:prstGeom prst="rect">
              <a:avLst/>
            </a:prstGeom>
            <a:noFill/>
            <a:ln>
              <a:noFill/>
            </a:ln>
          </p:spPr>
          <p:txBody>
            <a:bodyPr wrap="none" lIns="0" tIns="0" rIns="0" bIns="0" anchor="t" anchorCtr="0">
              <a:spAutoFit/>
            </a:bodyPr>
            <a:lstStyle/>
            <a:p>
              <a:r>
                <a:rPr lang="en-IE" sz="2400" b="1">
                  <a:solidFill>
                    <a:schemeClr val="accent2"/>
                  </a:solidFill>
                </a:rPr>
                <a:t>Code</a:t>
              </a:r>
              <a:endParaRPr lang="en-US">
                <a:solidFill>
                  <a:schemeClr val="accent2"/>
                </a:solidFill>
              </a:endParaRPr>
            </a:p>
          </p:txBody>
        </p:sp>
        <p:sp>
          <p:nvSpPr>
            <p:cNvPr id="9" name="TextBox 9">
              <a:extLst>
                <a:ext uri="{FF2B5EF4-FFF2-40B4-BE49-F238E27FC236}">
                  <a16:creationId xmlns:a16="http://schemas.microsoft.com/office/drawing/2014/main" id="{555CAA11-F137-74B3-812B-40DC4E1C2868}"/>
                </a:ext>
              </a:extLst>
            </p:cNvPr>
            <p:cNvSpPr txBox="1"/>
            <p:nvPr/>
          </p:nvSpPr>
          <p:spPr>
            <a:xfrm>
              <a:off x="2491359" y="2398395"/>
              <a:ext cx="883255" cy="369332"/>
            </a:xfrm>
            <a:prstGeom prst="rect">
              <a:avLst/>
            </a:prstGeom>
            <a:noFill/>
            <a:ln>
              <a:noFill/>
            </a:ln>
          </p:spPr>
          <p:txBody>
            <a:bodyPr wrap="none" lIns="0" tIns="0" rIns="0" bIns="0" anchor="t" anchorCtr="0">
              <a:spAutoFit/>
            </a:bodyPr>
            <a:lstStyle/>
            <a:p>
              <a:pPr algn="l"/>
              <a:r>
                <a:rPr lang="en-IE" sz="2400">
                  <a:solidFill>
                    <a:schemeClr val="dk1"/>
                  </a:solidFill>
                </a:rPr>
                <a:t>GitHub</a:t>
              </a:r>
              <a:endParaRPr lang="en-US"/>
            </a:p>
          </p:txBody>
        </p:sp>
        <p:sp>
          <p:nvSpPr>
            <p:cNvPr id="10" name="Line 10">
              <a:extLst>
                <a:ext uri="{FF2B5EF4-FFF2-40B4-BE49-F238E27FC236}">
                  <a16:creationId xmlns:a16="http://schemas.microsoft.com/office/drawing/2014/main" id="{D9B70E14-D4DB-93D2-79D4-0767DE63A217}"/>
                </a:ext>
              </a:extLst>
            </p:cNvPr>
            <p:cNvSpPr/>
            <p:nvPr/>
          </p:nvSpPr>
          <p:spPr>
            <a:xfrm>
              <a:off x="466725" y="2962275"/>
              <a:ext cx="11258550" cy="9525"/>
            </a:xfrm>
            <a:custGeom>
              <a:avLst/>
              <a:gdLst/>
              <a:ahLst/>
              <a:cxnLst/>
              <a:rect l="l" t="t" r="r" b="b"/>
              <a:pathLst>
                <a:path w="11258550" h="9525">
                  <a:moveTo>
                    <a:pt x="0" y="0"/>
                  </a:moveTo>
                  <a:lnTo>
                    <a:pt x="11258550" y="0"/>
                  </a:lnTo>
                </a:path>
              </a:pathLst>
            </a:custGeom>
            <a:noFill/>
            <a:ln w="9525">
              <a:solidFill>
                <a:schemeClr val="accent6"/>
              </a:solidFill>
            </a:ln>
          </p:spPr>
        </p:sp>
      </p:grpSp>
      <p:grpSp>
        <p:nvGrpSpPr>
          <p:cNvPr id="15" name="waseel">
            <a:extLst>
              <a:ext uri="{FF2B5EF4-FFF2-40B4-BE49-F238E27FC236}">
                <a16:creationId xmlns:a16="http://schemas.microsoft.com/office/drawing/2014/main" id="{1DEAC612-B5DA-9C23-D423-1DFE3D867519}"/>
              </a:ext>
            </a:extLst>
          </p:cNvPr>
          <p:cNvGrpSpPr/>
          <p:nvPr/>
        </p:nvGrpSpPr>
        <p:grpSpPr>
          <a:xfrm>
            <a:off x="445008" y="3169920"/>
            <a:ext cx="11280267" cy="573405"/>
            <a:chOff x="445008" y="3169920"/>
            <a:chExt cx="11280267" cy="573405"/>
          </a:xfrm>
        </p:grpSpPr>
        <p:sp>
          <p:nvSpPr>
            <p:cNvPr id="12" name="TextBox 12">
              <a:extLst>
                <a:ext uri="{FF2B5EF4-FFF2-40B4-BE49-F238E27FC236}">
                  <a16:creationId xmlns:a16="http://schemas.microsoft.com/office/drawing/2014/main" id="{67DA7FED-C668-1D01-A8A3-ECA200031846}"/>
                </a:ext>
              </a:extLst>
            </p:cNvPr>
            <p:cNvSpPr txBox="1"/>
            <p:nvPr/>
          </p:nvSpPr>
          <p:spPr>
            <a:xfrm>
              <a:off x="445008" y="3169920"/>
              <a:ext cx="1771254" cy="369332"/>
            </a:xfrm>
            <a:prstGeom prst="rect">
              <a:avLst/>
            </a:prstGeom>
            <a:noFill/>
            <a:ln>
              <a:noFill/>
            </a:ln>
          </p:spPr>
          <p:txBody>
            <a:bodyPr wrap="none" lIns="0" tIns="0" rIns="0" bIns="0" anchor="t" anchorCtr="0">
              <a:spAutoFit/>
            </a:bodyPr>
            <a:lstStyle/>
            <a:p>
              <a:r>
                <a:rPr lang="en-IE" sz="2400" b="1">
                  <a:solidFill>
                    <a:schemeClr val="accent2"/>
                  </a:solidFill>
                </a:rPr>
                <a:t>Issue Tracking</a:t>
              </a:r>
            </a:p>
          </p:txBody>
        </p:sp>
        <p:sp>
          <p:nvSpPr>
            <p:cNvPr id="13" name="TextBox 13">
              <a:extLst>
                <a:ext uri="{FF2B5EF4-FFF2-40B4-BE49-F238E27FC236}">
                  <a16:creationId xmlns:a16="http://schemas.microsoft.com/office/drawing/2014/main" id="{654D3565-E22B-FC60-8928-EC63A380A767}"/>
                </a:ext>
              </a:extLst>
            </p:cNvPr>
            <p:cNvSpPr txBox="1"/>
            <p:nvPr/>
          </p:nvSpPr>
          <p:spPr>
            <a:xfrm>
              <a:off x="2491359" y="3169920"/>
              <a:ext cx="519373" cy="369332"/>
            </a:xfrm>
            <a:prstGeom prst="rect">
              <a:avLst/>
            </a:prstGeom>
            <a:noFill/>
            <a:ln>
              <a:noFill/>
            </a:ln>
          </p:spPr>
          <p:txBody>
            <a:bodyPr wrap="none" lIns="0" tIns="0" rIns="0" bIns="0" anchor="t" anchorCtr="0">
              <a:spAutoFit/>
            </a:bodyPr>
            <a:lstStyle/>
            <a:p>
              <a:pPr algn="l"/>
              <a:r>
                <a:rPr lang="en-IE" sz="2400">
                  <a:solidFill>
                    <a:schemeClr val="dk1"/>
                  </a:solidFill>
                </a:rPr>
                <a:t>JIRA</a:t>
              </a:r>
              <a:endParaRPr lang="en-IE" sz="2400">
                <a:solidFill>
                  <a:schemeClr val="dk1"/>
                </a:solidFill>
                <a:latin typeface="+mn-lt"/>
                <a:ea typeface="+mn-ea"/>
                <a:cs typeface="+mn-cs"/>
              </a:endParaRPr>
            </a:p>
          </p:txBody>
        </p:sp>
        <p:sp>
          <p:nvSpPr>
            <p:cNvPr id="14" name="Line 14">
              <a:extLst>
                <a:ext uri="{FF2B5EF4-FFF2-40B4-BE49-F238E27FC236}">
                  <a16:creationId xmlns:a16="http://schemas.microsoft.com/office/drawing/2014/main" id="{93B844F6-A3A4-0629-A52F-8F75BD241AAB}"/>
                </a:ext>
              </a:extLst>
            </p:cNvPr>
            <p:cNvSpPr/>
            <p:nvPr/>
          </p:nvSpPr>
          <p:spPr>
            <a:xfrm>
              <a:off x="466725" y="3733800"/>
              <a:ext cx="11258550" cy="9525"/>
            </a:xfrm>
            <a:custGeom>
              <a:avLst/>
              <a:gdLst/>
              <a:ahLst/>
              <a:cxnLst/>
              <a:rect l="l" t="t" r="r" b="b"/>
              <a:pathLst>
                <a:path w="11258550" h="9525">
                  <a:moveTo>
                    <a:pt x="0" y="0"/>
                  </a:moveTo>
                  <a:lnTo>
                    <a:pt x="11258550" y="0"/>
                  </a:lnTo>
                </a:path>
              </a:pathLst>
            </a:custGeom>
            <a:noFill/>
            <a:ln w="9525">
              <a:solidFill>
                <a:schemeClr val="accent6"/>
              </a:solidFill>
            </a:ln>
          </p:spPr>
        </p:sp>
      </p:grpSp>
      <p:grpSp>
        <p:nvGrpSpPr>
          <p:cNvPr id="19" name="twila">
            <a:extLst>
              <a:ext uri="{FF2B5EF4-FFF2-40B4-BE49-F238E27FC236}">
                <a16:creationId xmlns:a16="http://schemas.microsoft.com/office/drawing/2014/main" id="{2AE6813B-BF82-6DEA-7FDE-9F33494FEE21}"/>
              </a:ext>
            </a:extLst>
          </p:cNvPr>
          <p:cNvGrpSpPr/>
          <p:nvPr/>
        </p:nvGrpSpPr>
        <p:grpSpPr>
          <a:xfrm>
            <a:off x="445008" y="3941445"/>
            <a:ext cx="11280267" cy="573405"/>
            <a:chOff x="445008" y="3941445"/>
            <a:chExt cx="11280267" cy="573405"/>
          </a:xfrm>
        </p:grpSpPr>
        <p:sp>
          <p:nvSpPr>
            <p:cNvPr id="16" name="TextBox 16">
              <a:extLst>
                <a:ext uri="{FF2B5EF4-FFF2-40B4-BE49-F238E27FC236}">
                  <a16:creationId xmlns:a16="http://schemas.microsoft.com/office/drawing/2014/main" id="{B127D64C-656D-4141-0741-74D17AE25500}"/>
                </a:ext>
              </a:extLst>
            </p:cNvPr>
            <p:cNvSpPr txBox="1"/>
            <p:nvPr/>
          </p:nvSpPr>
          <p:spPr>
            <a:xfrm>
              <a:off x="445008" y="3941445"/>
              <a:ext cx="764953" cy="369332"/>
            </a:xfrm>
            <a:prstGeom prst="rect">
              <a:avLst/>
            </a:prstGeom>
            <a:noFill/>
            <a:ln>
              <a:noFill/>
            </a:ln>
          </p:spPr>
          <p:txBody>
            <a:bodyPr wrap="none" lIns="0" tIns="0" rIns="0" bIns="0" anchor="t" anchorCtr="0">
              <a:spAutoFit/>
            </a:bodyPr>
            <a:lstStyle/>
            <a:p>
              <a:pPr algn="l"/>
              <a:r>
                <a:rPr lang="en-IE" sz="2400" b="1">
                  <a:solidFill>
                    <a:schemeClr val="accent2"/>
                  </a:solidFill>
                </a:rPr>
                <a:t>Sprint</a:t>
              </a:r>
              <a:endParaRPr lang="en-IE" sz="2400" b="1">
                <a:solidFill>
                  <a:schemeClr val="accent2"/>
                </a:solidFill>
                <a:latin typeface="+mn-lt"/>
                <a:ea typeface="+mn-ea"/>
                <a:cs typeface="+mn-cs"/>
              </a:endParaRPr>
            </a:p>
          </p:txBody>
        </p:sp>
        <p:sp>
          <p:nvSpPr>
            <p:cNvPr id="17" name="TextBox 17">
              <a:extLst>
                <a:ext uri="{FF2B5EF4-FFF2-40B4-BE49-F238E27FC236}">
                  <a16:creationId xmlns:a16="http://schemas.microsoft.com/office/drawing/2014/main" id="{DC0604AA-ECBF-9B09-4354-981FADCC298E}"/>
                </a:ext>
              </a:extLst>
            </p:cNvPr>
            <p:cNvSpPr txBox="1"/>
            <p:nvPr/>
          </p:nvSpPr>
          <p:spPr>
            <a:xfrm>
              <a:off x="2491359" y="3941445"/>
              <a:ext cx="6834050" cy="369332"/>
            </a:xfrm>
            <a:prstGeom prst="rect">
              <a:avLst/>
            </a:prstGeom>
            <a:noFill/>
            <a:ln>
              <a:noFill/>
            </a:ln>
          </p:spPr>
          <p:txBody>
            <a:bodyPr wrap="none" lIns="0" tIns="0" rIns="0" bIns="0" anchor="t" anchorCtr="0">
              <a:spAutoFit/>
            </a:bodyPr>
            <a:lstStyle/>
            <a:p>
              <a:r>
                <a:rPr lang="en-IE" sz="2400">
                  <a:solidFill>
                    <a:schemeClr val="dk1"/>
                  </a:solidFill>
                </a:rPr>
                <a:t>1 week long sprint with sprint planning on every Friday</a:t>
              </a:r>
              <a:endParaRPr lang="en-US">
                <a:solidFill>
                  <a:schemeClr val="dk1"/>
                </a:solidFill>
              </a:endParaRPr>
            </a:p>
          </p:txBody>
        </p:sp>
        <p:sp>
          <p:nvSpPr>
            <p:cNvPr id="18" name="Line 18">
              <a:extLst>
                <a:ext uri="{FF2B5EF4-FFF2-40B4-BE49-F238E27FC236}">
                  <a16:creationId xmlns:a16="http://schemas.microsoft.com/office/drawing/2014/main" id="{B41894A5-1076-AE29-51F0-5523A4643C74}"/>
                </a:ext>
              </a:extLst>
            </p:cNvPr>
            <p:cNvSpPr/>
            <p:nvPr/>
          </p:nvSpPr>
          <p:spPr>
            <a:xfrm>
              <a:off x="466725" y="4505325"/>
              <a:ext cx="11258550" cy="9525"/>
            </a:xfrm>
            <a:custGeom>
              <a:avLst/>
              <a:gdLst/>
              <a:ahLst/>
              <a:cxnLst/>
              <a:rect l="l" t="t" r="r" b="b"/>
              <a:pathLst>
                <a:path w="11258550" h="9525">
                  <a:moveTo>
                    <a:pt x="0" y="0"/>
                  </a:moveTo>
                  <a:lnTo>
                    <a:pt x="11258550" y="0"/>
                  </a:lnTo>
                </a:path>
              </a:pathLst>
            </a:custGeom>
            <a:noFill/>
            <a:ln w="9525">
              <a:solidFill>
                <a:schemeClr val="accent6"/>
              </a:solidFill>
            </a:ln>
          </p:spPr>
        </p:sp>
      </p:grpSp>
      <p:grpSp>
        <p:nvGrpSpPr>
          <p:cNvPr id="24" name="twila">
            <a:extLst>
              <a:ext uri="{FF2B5EF4-FFF2-40B4-BE49-F238E27FC236}">
                <a16:creationId xmlns:a16="http://schemas.microsoft.com/office/drawing/2014/main" id="{960C0600-3996-0B08-40CD-97416874B47A}"/>
              </a:ext>
            </a:extLst>
          </p:cNvPr>
          <p:cNvGrpSpPr/>
          <p:nvPr/>
        </p:nvGrpSpPr>
        <p:grpSpPr>
          <a:xfrm>
            <a:off x="438912" y="4703444"/>
            <a:ext cx="11280267" cy="573405"/>
            <a:chOff x="445008" y="3941445"/>
            <a:chExt cx="11280267" cy="573405"/>
          </a:xfrm>
        </p:grpSpPr>
        <p:sp>
          <p:nvSpPr>
            <p:cNvPr id="25" name="TextBox 16">
              <a:extLst>
                <a:ext uri="{FF2B5EF4-FFF2-40B4-BE49-F238E27FC236}">
                  <a16:creationId xmlns:a16="http://schemas.microsoft.com/office/drawing/2014/main" id="{FCD09B52-6971-35E6-56A5-42E14EA77DF8}"/>
                </a:ext>
              </a:extLst>
            </p:cNvPr>
            <p:cNvSpPr txBox="1"/>
            <p:nvPr/>
          </p:nvSpPr>
          <p:spPr>
            <a:xfrm>
              <a:off x="445008" y="3941445"/>
              <a:ext cx="1253869" cy="369332"/>
            </a:xfrm>
            <a:prstGeom prst="rect">
              <a:avLst/>
            </a:prstGeom>
            <a:noFill/>
            <a:ln>
              <a:noFill/>
            </a:ln>
          </p:spPr>
          <p:txBody>
            <a:bodyPr wrap="none" lIns="0" tIns="0" rIns="0" bIns="0" anchor="t" anchorCtr="0">
              <a:spAutoFit/>
            </a:bodyPr>
            <a:lstStyle/>
            <a:p>
              <a:r>
                <a:rPr lang="en-IE" sz="2400" b="1">
                  <a:solidFill>
                    <a:schemeClr val="accent2"/>
                  </a:solidFill>
                </a:rPr>
                <a:t>Stand ups</a:t>
              </a:r>
              <a:endParaRPr lang="en-IE" sz="2400" b="1">
                <a:solidFill>
                  <a:schemeClr val="accent2"/>
                </a:solidFill>
                <a:latin typeface="+mn-lt"/>
                <a:ea typeface="+mn-ea"/>
                <a:cs typeface="+mn-cs"/>
              </a:endParaRPr>
            </a:p>
          </p:txBody>
        </p:sp>
        <p:sp>
          <p:nvSpPr>
            <p:cNvPr id="29" name="TextBox 17">
              <a:extLst>
                <a:ext uri="{FF2B5EF4-FFF2-40B4-BE49-F238E27FC236}">
                  <a16:creationId xmlns:a16="http://schemas.microsoft.com/office/drawing/2014/main" id="{C37E0440-0658-F52D-DE24-D8CFEF873477}"/>
                </a:ext>
              </a:extLst>
            </p:cNvPr>
            <p:cNvSpPr txBox="1"/>
            <p:nvPr/>
          </p:nvSpPr>
          <p:spPr>
            <a:xfrm>
              <a:off x="2491359" y="3941445"/>
              <a:ext cx="6146747" cy="369332"/>
            </a:xfrm>
            <a:prstGeom prst="rect">
              <a:avLst/>
            </a:prstGeom>
            <a:noFill/>
            <a:ln>
              <a:noFill/>
            </a:ln>
          </p:spPr>
          <p:txBody>
            <a:bodyPr wrap="none" lIns="0" tIns="0" rIns="0" bIns="0" anchor="t" anchorCtr="0">
              <a:spAutoFit/>
            </a:bodyPr>
            <a:lstStyle/>
            <a:p>
              <a:r>
                <a:rPr lang="en-IE" sz="2400">
                  <a:solidFill>
                    <a:schemeClr val="dk1"/>
                  </a:solidFill>
                </a:rPr>
                <a:t>Around 15 minutes long standups every morning </a:t>
              </a:r>
            </a:p>
          </p:txBody>
        </p:sp>
        <p:sp>
          <p:nvSpPr>
            <p:cNvPr id="30" name="Line 18">
              <a:extLst>
                <a:ext uri="{FF2B5EF4-FFF2-40B4-BE49-F238E27FC236}">
                  <a16:creationId xmlns:a16="http://schemas.microsoft.com/office/drawing/2014/main" id="{527258D8-2A0C-0028-98A3-5F590D9392E9}"/>
                </a:ext>
              </a:extLst>
            </p:cNvPr>
            <p:cNvSpPr/>
            <p:nvPr/>
          </p:nvSpPr>
          <p:spPr>
            <a:xfrm>
              <a:off x="466725" y="4505325"/>
              <a:ext cx="11258550" cy="9525"/>
            </a:xfrm>
            <a:custGeom>
              <a:avLst/>
              <a:gdLst/>
              <a:ahLst/>
              <a:cxnLst/>
              <a:rect l="l" t="t" r="r" b="b"/>
              <a:pathLst>
                <a:path w="11258550" h="9525">
                  <a:moveTo>
                    <a:pt x="0" y="0"/>
                  </a:moveTo>
                  <a:lnTo>
                    <a:pt x="11258550" y="0"/>
                  </a:lnTo>
                </a:path>
              </a:pathLst>
            </a:custGeom>
            <a:noFill/>
            <a:ln w="9525">
              <a:solidFill>
                <a:schemeClr val="accent6"/>
              </a:solidFill>
            </a:ln>
          </p:spPr>
        </p:sp>
      </p:grpSp>
    </p:spTree>
    <p:extLst>
      <p:ext uri="{BB962C8B-B14F-4D97-AF65-F5344CB8AC3E}">
        <p14:creationId xmlns:p14="http://schemas.microsoft.com/office/powerpoint/2010/main" val="582771355"/>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page-title"/>
          <p:cNvGrpSpPr/>
          <p:nvPr/>
        </p:nvGrpSpPr>
        <p:grpSpPr>
          <a:xfrm>
            <a:off x="438150" y="413385"/>
            <a:ext cx="9477481" cy="819150"/>
            <a:chOff x="438150" y="413385"/>
            <a:chExt cx="9477481" cy="819150"/>
          </a:xfrm>
        </p:grpSpPr>
        <p:sp>
          <p:nvSpPr>
            <p:cNvPr id="2" name="TextBox 2"/>
            <p:cNvSpPr txBox="1"/>
            <p:nvPr/>
          </p:nvSpPr>
          <p:spPr>
            <a:xfrm>
              <a:off x="438150" y="413385"/>
              <a:ext cx="9477481" cy="819150"/>
            </a:xfrm>
            <a:prstGeom prst="rect">
              <a:avLst/>
            </a:prstGeom>
            <a:noFill/>
            <a:ln>
              <a:noFill/>
            </a:ln>
          </p:spPr>
          <p:txBody>
            <a:bodyPr wrap="none" lIns="0" tIns="0" rIns="0" bIns="0" anchor="t" anchorCtr="0">
              <a:spAutoFit/>
            </a:bodyPr>
            <a:lstStyle/>
            <a:p>
              <a:pPr algn="l"/>
              <a:r>
                <a:rPr lang="en-IE" sz="4200">
                  <a:solidFill>
                    <a:schemeClr val="accent1"/>
                  </a:solidFill>
                  <a:latin typeface="+mj-lt"/>
                  <a:ea typeface="+mj-ea"/>
                  <a:cs typeface="+mj-cs"/>
                </a:rPr>
                <a:t>Week 2: one owner, one deliverable</a:t>
              </a:r>
            </a:p>
          </p:txBody>
        </p:sp>
      </p:grpSp>
      <p:grpSp>
        <p:nvGrpSpPr>
          <p:cNvPr id="7" name="likun"/>
          <p:cNvGrpSpPr/>
          <p:nvPr/>
        </p:nvGrpSpPr>
        <p:grpSpPr>
          <a:xfrm>
            <a:off x="445008" y="1626870"/>
            <a:ext cx="11280267" cy="573405"/>
            <a:chOff x="445008" y="1626870"/>
            <a:chExt cx="11280267" cy="573405"/>
          </a:xfrm>
        </p:grpSpPr>
        <p:sp>
          <p:nvSpPr>
            <p:cNvPr id="4" name="TextBox 4"/>
            <p:cNvSpPr txBox="1"/>
            <p:nvPr/>
          </p:nvSpPr>
          <p:spPr>
            <a:xfrm>
              <a:off x="445008" y="1626870"/>
              <a:ext cx="750315" cy="469392"/>
            </a:xfrm>
            <a:prstGeom prst="rect">
              <a:avLst/>
            </a:prstGeom>
            <a:noFill/>
            <a:ln>
              <a:noFill/>
            </a:ln>
          </p:spPr>
          <p:txBody>
            <a:bodyPr wrap="none" lIns="0" tIns="0" rIns="0" bIns="0" anchor="t" anchorCtr="0">
              <a:spAutoFit/>
            </a:bodyPr>
            <a:lstStyle/>
            <a:p>
              <a:pPr algn="l"/>
              <a:r>
                <a:rPr lang="en-IE" sz="2400" b="1">
                  <a:solidFill>
                    <a:schemeClr val="accent2"/>
                  </a:solidFill>
                  <a:latin typeface="+mn-lt"/>
                  <a:ea typeface="+mn-ea"/>
                  <a:cs typeface="+mn-cs"/>
                </a:rPr>
                <a:t>Likun</a:t>
              </a:r>
            </a:p>
          </p:txBody>
        </p:sp>
        <p:sp>
          <p:nvSpPr>
            <p:cNvPr id="5" name="TextBox 5"/>
            <p:cNvSpPr txBox="1"/>
            <p:nvPr/>
          </p:nvSpPr>
          <p:spPr>
            <a:xfrm>
              <a:off x="2454783" y="1626870"/>
              <a:ext cx="4264437" cy="369332"/>
            </a:xfrm>
            <a:prstGeom prst="rect">
              <a:avLst/>
            </a:prstGeom>
            <a:noFill/>
            <a:ln>
              <a:noFill/>
            </a:ln>
          </p:spPr>
          <p:txBody>
            <a:bodyPr wrap="none" lIns="0" tIns="0" rIns="0" bIns="0" anchor="t" anchorCtr="0">
              <a:spAutoFit/>
            </a:bodyPr>
            <a:lstStyle/>
            <a:p>
              <a:r>
                <a:rPr lang="en-IE" sz="2400">
                  <a:solidFill>
                    <a:schemeClr val="dk1"/>
                  </a:solidFill>
                </a:rPr>
                <a:t>Frontend draft </a:t>
              </a:r>
              <a:r>
                <a:rPr lang="en-IE" sz="2400">
                  <a:solidFill>
                    <a:schemeClr val="dk1"/>
                  </a:solidFill>
                  <a:latin typeface="+mn-lt"/>
                  <a:ea typeface="+mn-ea"/>
                  <a:cs typeface="+mn-cs"/>
                </a:rPr>
                <a:t>and </a:t>
              </a:r>
              <a:r>
                <a:rPr lang="en-IE" sz="2400" err="1">
                  <a:solidFill>
                    <a:schemeClr val="dk1"/>
                  </a:solidFill>
                  <a:latin typeface="+mn-lt"/>
                  <a:ea typeface="+mn-ea"/>
                  <a:cs typeface="+mn-cs"/>
                </a:rPr>
                <a:t>Vercel</a:t>
              </a:r>
              <a:r>
                <a:rPr lang="en-IE" sz="2400">
                  <a:solidFill>
                    <a:schemeClr val="dk1"/>
                  </a:solidFill>
                  <a:latin typeface="+mn-lt"/>
                  <a:ea typeface="+mn-ea"/>
                  <a:cs typeface="+mn-cs"/>
                </a:rPr>
                <a:t> preview</a:t>
              </a:r>
            </a:p>
          </p:txBody>
        </p:sp>
        <p:sp>
          <p:nvSpPr>
            <p:cNvPr id="6" name="Line 6"/>
            <p:cNvSpPr/>
            <p:nvPr/>
          </p:nvSpPr>
          <p:spPr>
            <a:xfrm>
              <a:off x="466725" y="2190750"/>
              <a:ext cx="11258550" cy="9525"/>
            </a:xfrm>
            <a:custGeom>
              <a:avLst/>
              <a:gdLst/>
              <a:ahLst/>
              <a:cxnLst/>
              <a:rect l="l" t="t" r="r" b="b"/>
              <a:pathLst>
                <a:path w="11258550" h="9525">
                  <a:moveTo>
                    <a:pt x="0" y="0"/>
                  </a:moveTo>
                  <a:lnTo>
                    <a:pt x="11258550" y="0"/>
                  </a:lnTo>
                </a:path>
              </a:pathLst>
            </a:custGeom>
            <a:noFill/>
            <a:ln w="9525">
              <a:solidFill>
                <a:schemeClr val="accent6"/>
              </a:solidFill>
            </a:ln>
          </p:spPr>
        </p:sp>
      </p:grpSp>
      <p:grpSp>
        <p:nvGrpSpPr>
          <p:cNvPr id="11" name="aswin"/>
          <p:cNvGrpSpPr/>
          <p:nvPr/>
        </p:nvGrpSpPr>
        <p:grpSpPr>
          <a:xfrm>
            <a:off x="445008" y="2398395"/>
            <a:ext cx="11280267" cy="573405"/>
            <a:chOff x="445008" y="2398395"/>
            <a:chExt cx="11280267" cy="573405"/>
          </a:xfrm>
        </p:grpSpPr>
        <p:sp>
          <p:nvSpPr>
            <p:cNvPr id="8" name="TextBox 8"/>
            <p:cNvSpPr txBox="1"/>
            <p:nvPr/>
          </p:nvSpPr>
          <p:spPr>
            <a:xfrm>
              <a:off x="445008" y="2398395"/>
              <a:ext cx="851769" cy="469392"/>
            </a:xfrm>
            <a:prstGeom prst="rect">
              <a:avLst/>
            </a:prstGeom>
            <a:noFill/>
            <a:ln>
              <a:noFill/>
            </a:ln>
          </p:spPr>
          <p:txBody>
            <a:bodyPr wrap="none" lIns="0" tIns="0" rIns="0" bIns="0" anchor="t" anchorCtr="0">
              <a:spAutoFit/>
            </a:bodyPr>
            <a:lstStyle/>
            <a:p>
              <a:pPr algn="l"/>
              <a:r>
                <a:rPr lang="en-IE" sz="2400" b="1">
                  <a:solidFill>
                    <a:schemeClr val="accent2"/>
                  </a:solidFill>
                  <a:latin typeface="+mn-lt"/>
                  <a:ea typeface="+mn-ea"/>
                  <a:cs typeface="+mn-cs"/>
                </a:rPr>
                <a:t>Aswin</a:t>
              </a:r>
            </a:p>
          </p:txBody>
        </p:sp>
        <p:sp>
          <p:nvSpPr>
            <p:cNvPr id="9" name="TextBox 9"/>
            <p:cNvSpPr txBox="1"/>
            <p:nvPr/>
          </p:nvSpPr>
          <p:spPr>
            <a:xfrm>
              <a:off x="2454783" y="2398395"/>
              <a:ext cx="6302408" cy="469392"/>
            </a:xfrm>
            <a:prstGeom prst="rect">
              <a:avLst/>
            </a:prstGeom>
            <a:noFill/>
            <a:ln>
              <a:noFill/>
            </a:ln>
          </p:spPr>
          <p:txBody>
            <a:bodyPr wrap="none" lIns="0" tIns="0" rIns="0" bIns="0" anchor="t" anchorCtr="0">
              <a:spAutoFit/>
            </a:bodyPr>
            <a:lstStyle/>
            <a:p>
              <a:pPr algn="l"/>
              <a:r>
                <a:rPr lang="en-IE" sz="2400">
                  <a:solidFill>
                    <a:schemeClr val="dk1"/>
                  </a:solidFill>
                  <a:latin typeface="+mn-lt"/>
                  <a:ea typeface="+mn-ea"/>
                  <a:cs typeface="+mn-cs"/>
                </a:rPr>
                <a:t>Daily register snapshots and Dublin PDF archive</a:t>
              </a:r>
            </a:p>
          </p:txBody>
        </p:sp>
        <p:sp>
          <p:nvSpPr>
            <p:cNvPr id="10" name="Line 10"/>
            <p:cNvSpPr/>
            <p:nvPr/>
          </p:nvSpPr>
          <p:spPr>
            <a:xfrm>
              <a:off x="466725" y="2962275"/>
              <a:ext cx="11258550" cy="9525"/>
            </a:xfrm>
            <a:custGeom>
              <a:avLst/>
              <a:gdLst/>
              <a:ahLst/>
              <a:cxnLst/>
              <a:rect l="l" t="t" r="r" b="b"/>
              <a:pathLst>
                <a:path w="11258550" h="9525">
                  <a:moveTo>
                    <a:pt x="0" y="0"/>
                  </a:moveTo>
                  <a:lnTo>
                    <a:pt x="11258550" y="0"/>
                  </a:lnTo>
                </a:path>
              </a:pathLst>
            </a:custGeom>
            <a:noFill/>
            <a:ln w="9525">
              <a:solidFill>
                <a:schemeClr val="accent6"/>
              </a:solidFill>
            </a:ln>
          </p:spPr>
        </p:sp>
      </p:grpSp>
      <p:grpSp>
        <p:nvGrpSpPr>
          <p:cNvPr id="15" name="waseel"/>
          <p:cNvGrpSpPr/>
          <p:nvPr/>
        </p:nvGrpSpPr>
        <p:grpSpPr>
          <a:xfrm>
            <a:off x="445008" y="3169920"/>
            <a:ext cx="11280267" cy="573405"/>
            <a:chOff x="445008" y="3169920"/>
            <a:chExt cx="11280267" cy="573405"/>
          </a:xfrm>
        </p:grpSpPr>
        <p:sp>
          <p:nvSpPr>
            <p:cNvPr id="12" name="TextBox 12"/>
            <p:cNvSpPr txBox="1"/>
            <p:nvPr/>
          </p:nvSpPr>
          <p:spPr>
            <a:xfrm>
              <a:off x="445008" y="3169920"/>
              <a:ext cx="1019490" cy="469392"/>
            </a:xfrm>
            <a:prstGeom prst="rect">
              <a:avLst/>
            </a:prstGeom>
            <a:noFill/>
            <a:ln>
              <a:noFill/>
            </a:ln>
          </p:spPr>
          <p:txBody>
            <a:bodyPr wrap="none" lIns="0" tIns="0" rIns="0" bIns="0" anchor="t" anchorCtr="0">
              <a:spAutoFit/>
            </a:bodyPr>
            <a:lstStyle/>
            <a:p>
              <a:pPr algn="l"/>
              <a:r>
                <a:rPr lang="en-IE" sz="2400" b="1">
                  <a:solidFill>
                    <a:schemeClr val="accent2"/>
                  </a:solidFill>
                  <a:latin typeface="+mn-lt"/>
                  <a:ea typeface="+mn-ea"/>
                  <a:cs typeface="+mn-cs"/>
                </a:rPr>
                <a:t>Waseel</a:t>
              </a:r>
            </a:p>
          </p:txBody>
        </p:sp>
        <p:sp>
          <p:nvSpPr>
            <p:cNvPr id="13" name="TextBox 13"/>
            <p:cNvSpPr txBox="1"/>
            <p:nvPr/>
          </p:nvSpPr>
          <p:spPr>
            <a:xfrm>
              <a:off x="2454783" y="3169920"/>
              <a:ext cx="6300482" cy="469392"/>
            </a:xfrm>
            <a:prstGeom prst="rect">
              <a:avLst/>
            </a:prstGeom>
            <a:noFill/>
            <a:ln>
              <a:noFill/>
            </a:ln>
          </p:spPr>
          <p:txBody>
            <a:bodyPr wrap="none" lIns="0" tIns="0" rIns="0" bIns="0" anchor="t" anchorCtr="0">
              <a:spAutoFit/>
            </a:bodyPr>
            <a:lstStyle/>
            <a:p>
              <a:pPr algn="l"/>
              <a:r>
                <a:rPr lang="en-IE" sz="2400">
                  <a:solidFill>
                    <a:schemeClr val="dk1"/>
                  </a:solidFill>
                  <a:latin typeface="+mn-lt"/>
                  <a:ea typeface="+mn-ea"/>
                  <a:cs typeface="+mn-cs"/>
                </a:rPr>
                <a:t>Audit 30 reports; labelling protocol and gold set</a:t>
              </a:r>
            </a:p>
          </p:txBody>
        </p:sp>
        <p:sp>
          <p:nvSpPr>
            <p:cNvPr id="14" name="Line 14"/>
            <p:cNvSpPr/>
            <p:nvPr/>
          </p:nvSpPr>
          <p:spPr>
            <a:xfrm>
              <a:off x="466725" y="3733800"/>
              <a:ext cx="11258550" cy="9525"/>
            </a:xfrm>
            <a:custGeom>
              <a:avLst/>
              <a:gdLst/>
              <a:ahLst/>
              <a:cxnLst/>
              <a:rect l="l" t="t" r="r" b="b"/>
              <a:pathLst>
                <a:path w="11258550" h="9525">
                  <a:moveTo>
                    <a:pt x="0" y="0"/>
                  </a:moveTo>
                  <a:lnTo>
                    <a:pt x="11258550" y="0"/>
                  </a:lnTo>
                </a:path>
              </a:pathLst>
            </a:custGeom>
            <a:noFill/>
            <a:ln w="9525">
              <a:solidFill>
                <a:schemeClr val="accent6"/>
              </a:solidFill>
            </a:ln>
          </p:spPr>
        </p:sp>
      </p:grpSp>
      <p:grpSp>
        <p:nvGrpSpPr>
          <p:cNvPr id="19" name="twila"/>
          <p:cNvGrpSpPr/>
          <p:nvPr/>
        </p:nvGrpSpPr>
        <p:grpSpPr>
          <a:xfrm>
            <a:off x="445008" y="3941445"/>
            <a:ext cx="11280267" cy="573405"/>
            <a:chOff x="445008" y="3941445"/>
            <a:chExt cx="11280267" cy="573405"/>
          </a:xfrm>
        </p:grpSpPr>
        <p:sp>
          <p:nvSpPr>
            <p:cNvPr id="16" name="TextBox 16"/>
            <p:cNvSpPr txBox="1"/>
            <p:nvPr/>
          </p:nvSpPr>
          <p:spPr>
            <a:xfrm>
              <a:off x="445008" y="3941445"/>
              <a:ext cx="751426" cy="469392"/>
            </a:xfrm>
            <a:prstGeom prst="rect">
              <a:avLst/>
            </a:prstGeom>
            <a:noFill/>
            <a:ln>
              <a:noFill/>
            </a:ln>
          </p:spPr>
          <p:txBody>
            <a:bodyPr wrap="none" lIns="0" tIns="0" rIns="0" bIns="0" anchor="t" anchorCtr="0">
              <a:spAutoFit/>
            </a:bodyPr>
            <a:lstStyle/>
            <a:p>
              <a:pPr algn="l"/>
              <a:r>
                <a:rPr lang="en-IE" sz="2400" b="1">
                  <a:solidFill>
                    <a:schemeClr val="accent2"/>
                  </a:solidFill>
                  <a:latin typeface="+mn-lt"/>
                  <a:ea typeface="+mn-ea"/>
                  <a:cs typeface="+mn-cs"/>
                </a:rPr>
                <a:t>Twila</a:t>
              </a:r>
            </a:p>
          </p:txBody>
        </p:sp>
        <p:sp>
          <p:nvSpPr>
            <p:cNvPr id="17" name="TextBox 17"/>
            <p:cNvSpPr txBox="1"/>
            <p:nvPr/>
          </p:nvSpPr>
          <p:spPr>
            <a:xfrm>
              <a:off x="2454783" y="3941445"/>
              <a:ext cx="6856079" cy="469392"/>
            </a:xfrm>
            <a:prstGeom prst="rect">
              <a:avLst/>
            </a:prstGeom>
            <a:noFill/>
            <a:ln>
              <a:noFill/>
            </a:ln>
          </p:spPr>
          <p:txBody>
            <a:bodyPr wrap="none" lIns="0" tIns="0" rIns="0" bIns="0" anchor="t" anchorCtr="0">
              <a:spAutoFit/>
            </a:bodyPr>
            <a:lstStyle/>
            <a:p>
              <a:pPr algn="l"/>
              <a:r>
                <a:rPr lang="en-IE" sz="2400">
                  <a:solidFill>
                    <a:schemeClr val="dk1"/>
                  </a:solidFill>
                  <a:latin typeface="+mn-lt"/>
                  <a:ea typeface="+mn-ea"/>
                  <a:cs typeface="+mn-cs"/>
                </a:rPr>
                <a:t>Advocacy outreach, interview guide and ethics form</a:t>
              </a:r>
            </a:p>
          </p:txBody>
        </p:sp>
        <p:sp>
          <p:nvSpPr>
            <p:cNvPr id="18" name="Line 18"/>
            <p:cNvSpPr/>
            <p:nvPr/>
          </p:nvSpPr>
          <p:spPr>
            <a:xfrm>
              <a:off x="466725" y="4505325"/>
              <a:ext cx="11258550" cy="9525"/>
            </a:xfrm>
            <a:custGeom>
              <a:avLst/>
              <a:gdLst/>
              <a:ahLst/>
              <a:cxnLst/>
              <a:rect l="l" t="t" r="r" b="b"/>
              <a:pathLst>
                <a:path w="11258550" h="9525">
                  <a:moveTo>
                    <a:pt x="0" y="0"/>
                  </a:moveTo>
                  <a:lnTo>
                    <a:pt x="11258550" y="0"/>
                  </a:lnTo>
                </a:path>
              </a:pathLst>
            </a:custGeom>
            <a:noFill/>
            <a:ln w="9525">
              <a:solidFill>
                <a:schemeClr val="accent6"/>
              </a:solidFill>
            </a:ln>
          </p:spPr>
        </p:sp>
      </p:grpSp>
      <p:grpSp>
        <p:nvGrpSpPr>
          <p:cNvPr id="23" name="niwash"/>
          <p:cNvGrpSpPr/>
          <p:nvPr/>
        </p:nvGrpSpPr>
        <p:grpSpPr>
          <a:xfrm>
            <a:off x="445008" y="4712970"/>
            <a:ext cx="11280267" cy="573405"/>
            <a:chOff x="445008" y="4712970"/>
            <a:chExt cx="11280267" cy="573405"/>
          </a:xfrm>
        </p:grpSpPr>
        <p:sp>
          <p:nvSpPr>
            <p:cNvPr id="20" name="TextBox 20"/>
            <p:cNvSpPr txBox="1"/>
            <p:nvPr/>
          </p:nvSpPr>
          <p:spPr>
            <a:xfrm>
              <a:off x="445008" y="4712970"/>
              <a:ext cx="1028426" cy="469392"/>
            </a:xfrm>
            <a:prstGeom prst="rect">
              <a:avLst/>
            </a:prstGeom>
            <a:noFill/>
            <a:ln>
              <a:noFill/>
            </a:ln>
          </p:spPr>
          <p:txBody>
            <a:bodyPr wrap="none" lIns="0" tIns="0" rIns="0" bIns="0" anchor="t" anchorCtr="0">
              <a:spAutoFit/>
            </a:bodyPr>
            <a:lstStyle/>
            <a:p>
              <a:pPr algn="l"/>
              <a:r>
                <a:rPr lang="en-IE" sz="2400" b="1">
                  <a:solidFill>
                    <a:schemeClr val="accent2"/>
                  </a:solidFill>
                  <a:latin typeface="+mn-lt"/>
                  <a:ea typeface="+mn-ea"/>
                  <a:cs typeface="+mn-cs"/>
                </a:rPr>
                <a:t>Niwash</a:t>
              </a:r>
            </a:p>
          </p:txBody>
        </p:sp>
        <p:sp>
          <p:nvSpPr>
            <p:cNvPr id="21" name="TextBox 21"/>
            <p:cNvSpPr txBox="1"/>
            <p:nvPr/>
          </p:nvSpPr>
          <p:spPr>
            <a:xfrm>
              <a:off x="2454783" y="4712970"/>
              <a:ext cx="5938317" cy="469392"/>
            </a:xfrm>
            <a:prstGeom prst="rect">
              <a:avLst/>
            </a:prstGeom>
            <a:noFill/>
            <a:ln>
              <a:noFill/>
            </a:ln>
          </p:spPr>
          <p:txBody>
            <a:bodyPr wrap="none" lIns="0" tIns="0" rIns="0" bIns="0" anchor="t" anchorCtr="0">
              <a:spAutoFit/>
            </a:bodyPr>
            <a:lstStyle/>
            <a:p>
              <a:pPr algn="l"/>
              <a:r>
                <a:rPr lang="en-IE" sz="2400">
                  <a:solidFill>
                    <a:schemeClr val="dk1"/>
                  </a:solidFill>
                  <a:latin typeface="+mn-lt"/>
                  <a:ea typeface="+mn-ea"/>
                  <a:cs typeface="+mn-cs"/>
                </a:rPr>
                <a:t>JIRA CC board, GitHub link and Sprint 2 tasks</a:t>
              </a:r>
            </a:p>
          </p:txBody>
        </p:sp>
        <p:sp>
          <p:nvSpPr>
            <p:cNvPr id="22" name="Line 22"/>
            <p:cNvSpPr/>
            <p:nvPr/>
          </p:nvSpPr>
          <p:spPr>
            <a:xfrm>
              <a:off x="466725" y="5276850"/>
              <a:ext cx="11258550" cy="9525"/>
            </a:xfrm>
            <a:custGeom>
              <a:avLst/>
              <a:gdLst/>
              <a:ahLst/>
              <a:cxnLst/>
              <a:rect l="l" t="t" r="r" b="b"/>
              <a:pathLst>
                <a:path w="11258550" h="9525">
                  <a:moveTo>
                    <a:pt x="0" y="0"/>
                  </a:moveTo>
                  <a:lnTo>
                    <a:pt x="11258550" y="0"/>
                  </a:lnTo>
                </a:path>
              </a:pathLst>
            </a:custGeom>
            <a:noFill/>
            <a:ln w="9525">
              <a:solidFill>
                <a:schemeClr val="accent6"/>
              </a:solidFill>
            </a:ln>
          </p:spPr>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page-title"/>
          <p:cNvGrpSpPr/>
          <p:nvPr/>
        </p:nvGrpSpPr>
        <p:grpSpPr>
          <a:xfrm>
            <a:off x="438150" y="413385"/>
            <a:ext cx="9014469" cy="819150"/>
            <a:chOff x="438150" y="413385"/>
            <a:chExt cx="9014469" cy="819150"/>
          </a:xfrm>
        </p:grpSpPr>
        <p:sp>
          <p:nvSpPr>
            <p:cNvPr id="2" name="TextBox 2"/>
            <p:cNvSpPr txBox="1"/>
            <p:nvPr/>
          </p:nvSpPr>
          <p:spPr>
            <a:xfrm>
              <a:off x="438150" y="413385"/>
              <a:ext cx="9014469" cy="819150"/>
            </a:xfrm>
            <a:prstGeom prst="rect">
              <a:avLst/>
            </a:prstGeom>
            <a:noFill/>
            <a:ln>
              <a:noFill/>
            </a:ln>
          </p:spPr>
          <p:txBody>
            <a:bodyPr wrap="none" lIns="0" tIns="0" rIns="0" bIns="0" anchor="t" anchorCtr="0">
              <a:spAutoFit/>
            </a:bodyPr>
            <a:lstStyle/>
            <a:p>
              <a:pPr algn="l"/>
              <a:r>
                <a:rPr lang="en-IE" sz="4200">
                  <a:solidFill>
                    <a:srgbClr val="F8F6F0"/>
                  </a:solidFill>
                  <a:latin typeface="+mj-lt"/>
                  <a:ea typeface="+mj-ea"/>
                  <a:cs typeface="+mj-cs"/>
                </a:rPr>
                <a:t>Week 4 decides the product scope</a:t>
              </a:r>
            </a:p>
          </p:txBody>
        </p:sp>
      </p:grpSp>
      <p:grpSp>
        <p:nvGrpSpPr>
          <p:cNvPr id="16" name="scope-choice"/>
          <p:cNvGrpSpPr/>
          <p:nvPr/>
        </p:nvGrpSpPr>
        <p:grpSpPr>
          <a:xfrm>
            <a:off x="440436" y="1567815"/>
            <a:ext cx="11216493" cy="3161919"/>
            <a:chOff x="440436" y="1567815"/>
            <a:chExt cx="11216493" cy="3161919"/>
          </a:xfrm>
        </p:grpSpPr>
        <p:sp>
          <p:nvSpPr>
            <p:cNvPr id="4" name="TextBox 4"/>
            <p:cNvSpPr txBox="1"/>
            <p:nvPr/>
          </p:nvSpPr>
          <p:spPr>
            <a:xfrm>
              <a:off x="4292737" y="1567815"/>
              <a:ext cx="3606525" cy="352044"/>
            </a:xfrm>
            <a:prstGeom prst="rect">
              <a:avLst/>
            </a:prstGeom>
            <a:noFill/>
            <a:ln>
              <a:noFill/>
            </a:ln>
          </p:spPr>
          <p:txBody>
            <a:bodyPr wrap="none" lIns="0" tIns="0" rIns="0" bIns="0" anchor="t" anchorCtr="0">
              <a:spAutoFit/>
            </a:bodyPr>
            <a:lstStyle/>
            <a:p>
              <a:pPr algn="ctr"/>
              <a:r>
                <a:rPr lang="en-IE" sz="1800">
                  <a:solidFill>
                    <a:srgbClr val="E9EEE8"/>
                  </a:solidFill>
                  <a:latin typeface="+mn-lt"/>
                  <a:ea typeface="+mn-ea"/>
                  <a:cs typeface="+mn-cs"/>
                </a:rPr>
                <a:t>HAND-LABELLED DUBLIN REPORTS</a:t>
              </a:r>
            </a:p>
          </p:txBody>
        </p:sp>
        <p:sp>
          <p:nvSpPr>
            <p:cNvPr id="5" name="Freeform 5"/>
            <p:cNvSpPr/>
            <p:nvPr/>
          </p:nvSpPr>
          <p:spPr>
            <a:xfrm>
              <a:off x="4714875" y="1952625"/>
              <a:ext cx="2762250" cy="1238250"/>
            </a:xfrm>
            <a:prstGeom prst="flowChartDecision">
              <a:avLst/>
            </a:prstGeom>
            <a:solidFill>
              <a:schemeClr val="lt2"/>
            </a:solidFill>
            <a:ln>
              <a:noFill/>
            </a:ln>
          </p:spPr>
        </p:sp>
        <p:sp>
          <p:nvSpPr>
            <p:cNvPr id="6" name="TextBox 6"/>
            <p:cNvSpPr txBox="1"/>
            <p:nvPr/>
          </p:nvSpPr>
          <p:spPr>
            <a:xfrm>
              <a:off x="5393626" y="2453640"/>
              <a:ext cx="1404749" cy="352044"/>
            </a:xfrm>
            <a:prstGeom prst="rect">
              <a:avLst/>
            </a:prstGeom>
            <a:noFill/>
            <a:ln>
              <a:noFill/>
            </a:ln>
          </p:spPr>
          <p:txBody>
            <a:bodyPr wrap="none" lIns="0" tIns="0" rIns="0" bIns="0" anchor="t" anchorCtr="0">
              <a:spAutoFit/>
            </a:bodyPr>
            <a:lstStyle/>
            <a:p>
              <a:pPr algn="ctr"/>
              <a:r>
                <a:rPr lang="en-IE" sz="1800">
                  <a:solidFill>
                    <a:schemeClr val="accent1"/>
                  </a:solidFill>
                  <a:latin typeface="+mn-lt"/>
                  <a:ea typeface="+mn-ea"/>
                  <a:cs typeface="+mn-cs"/>
                </a:rPr>
                <a:t>Precision gate</a:t>
              </a:r>
            </a:p>
          </p:txBody>
        </p:sp>
        <p:sp>
          <p:nvSpPr>
            <p:cNvPr id="7" name="Line 7"/>
            <p:cNvSpPr/>
            <p:nvPr/>
          </p:nvSpPr>
          <p:spPr>
            <a:xfrm flipH="1">
              <a:off x="2533650" y="2590800"/>
              <a:ext cx="2162175" cy="742950"/>
            </a:xfrm>
            <a:prstGeom prst="line">
              <a:avLst/>
            </a:prstGeom>
            <a:noFill/>
            <a:ln w="19050">
              <a:solidFill>
                <a:srgbClr val="E9EEE8"/>
              </a:solidFill>
              <a:tailEnd type="arrow" w="lg" len="lg"/>
            </a:ln>
          </p:spPr>
        </p:sp>
        <p:sp>
          <p:nvSpPr>
            <p:cNvPr id="8" name="Line 8"/>
            <p:cNvSpPr/>
            <p:nvPr/>
          </p:nvSpPr>
          <p:spPr>
            <a:xfrm>
              <a:off x="7496175" y="2590800"/>
              <a:ext cx="2162175" cy="742950"/>
            </a:xfrm>
            <a:prstGeom prst="line">
              <a:avLst/>
            </a:prstGeom>
            <a:noFill/>
            <a:ln w="19050">
              <a:solidFill>
                <a:srgbClr val="E9EEE8"/>
              </a:solidFill>
              <a:tailEnd type="arrow" w="lg" len="lg"/>
            </a:ln>
          </p:spPr>
        </p:sp>
        <p:grpSp>
          <p:nvGrpSpPr>
            <p:cNvPr id="11" name="Group 11"/>
            <p:cNvGrpSpPr/>
            <p:nvPr/>
          </p:nvGrpSpPr>
          <p:grpSpPr>
            <a:xfrm>
              <a:off x="1076706" y="2977515"/>
              <a:ext cx="10202655" cy="352044"/>
              <a:chOff x="1076706" y="2977515"/>
              <a:chExt cx="10202655" cy="352044"/>
            </a:xfrm>
          </p:grpSpPr>
          <p:sp>
            <p:nvSpPr>
              <p:cNvPr id="9" name="TextBox 9"/>
              <p:cNvSpPr txBox="1"/>
              <p:nvPr/>
            </p:nvSpPr>
            <p:spPr>
              <a:xfrm>
                <a:off x="1076706" y="2977515"/>
                <a:ext cx="2388299" cy="352044"/>
              </a:xfrm>
              <a:prstGeom prst="rect">
                <a:avLst/>
              </a:prstGeom>
              <a:noFill/>
              <a:ln>
                <a:noFill/>
              </a:ln>
            </p:spPr>
            <p:txBody>
              <a:bodyPr wrap="none" lIns="0" tIns="0" rIns="0" bIns="0" anchor="t" anchorCtr="0">
                <a:spAutoFit/>
              </a:bodyPr>
              <a:lstStyle/>
              <a:p>
                <a:pPr algn="l"/>
                <a:r>
                  <a:rPr lang="en-IE" sz="1800">
                    <a:solidFill>
                      <a:srgbClr val="E9EEE8"/>
                    </a:solidFill>
                    <a:latin typeface="+mn-lt"/>
                    <a:ea typeface="+mn-ea"/>
                    <a:cs typeface="+mn-cs"/>
                  </a:rPr>
                  <a:t>SUFFICIENT PRECISION</a:t>
                </a:r>
              </a:p>
            </p:txBody>
          </p:sp>
          <p:sp>
            <p:nvSpPr>
              <p:cNvPr id="10" name="TextBox 10"/>
              <p:cNvSpPr txBox="1"/>
              <p:nvPr/>
            </p:nvSpPr>
            <p:spPr>
              <a:xfrm>
                <a:off x="8661273" y="2977515"/>
                <a:ext cx="2618088" cy="352044"/>
              </a:xfrm>
              <a:prstGeom prst="rect">
                <a:avLst/>
              </a:prstGeom>
              <a:noFill/>
              <a:ln>
                <a:noFill/>
              </a:ln>
            </p:spPr>
            <p:txBody>
              <a:bodyPr wrap="none" lIns="0" tIns="0" rIns="0" bIns="0" anchor="t" anchorCtr="0">
                <a:spAutoFit/>
              </a:bodyPr>
              <a:lstStyle/>
              <a:p>
                <a:pPr algn="l"/>
                <a:r>
                  <a:rPr lang="en-IE" sz="1800">
                    <a:solidFill>
                      <a:srgbClr val="E9EEE8"/>
                    </a:solidFill>
                    <a:latin typeface="+mn-lt"/>
                    <a:ea typeface="+mn-ea"/>
                    <a:cs typeface="+mn-cs"/>
                  </a:rPr>
                  <a:t>INSUFFICIENT PRECISION</a:t>
                </a:r>
              </a:p>
            </p:txBody>
          </p:sp>
        </p:grpSp>
        <p:grpSp>
          <p:nvGrpSpPr>
            <p:cNvPr id="14" name="Group 14"/>
            <p:cNvGrpSpPr/>
            <p:nvPr/>
          </p:nvGrpSpPr>
          <p:grpSpPr>
            <a:xfrm>
              <a:off x="440436" y="3615690"/>
              <a:ext cx="11216493" cy="645414"/>
              <a:chOff x="440436" y="3615690"/>
              <a:chExt cx="11216493" cy="645414"/>
            </a:xfrm>
          </p:grpSpPr>
          <p:sp>
            <p:nvSpPr>
              <p:cNvPr id="12" name="TextBox 12"/>
              <p:cNvSpPr txBox="1"/>
              <p:nvPr/>
            </p:nvSpPr>
            <p:spPr>
              <a:xfrm>
                <a:off x="440436" y="3615690"/>
                <a:ext cx="3465689" cy="645414"/>
              </a:xfrm>
              <a:prstGeom prst="rect">
                <a:avLst/>
              </a:prstGeom>
              <a:noFill/>
              <a:ln>
                <a:noFill/>
              </a:ln>
            </p:spPr>
            <p:txBody>
              <a:bodyPr wrap="none" lIns="0" tIns="0" rIns="0" bIns="0" anchor="t" anchorCtr="0">
                <a:spAutoFit/>
              </a:bodyPr>
              <a:lstStyle/>
              <a:p>
                <a:pPr algn="l"/>
                <a:r>
                  <a:rPr lang="en-IE" sz="3300">
                    <a:solidFill>
                      <a:srgbClr val="F8F6F0"/>
                    </a:solidFill>
                    <a:latin typeface="+mj-lt"/>
                    <a:ea typeface="+mj-ea"/>
                    <a:cs typeface="+mj-cs"/>
                  </a:rPr>
                  <a:t>Full comparison</a:t>
                </a:r>
              </a:p>
            </p:txBody>
          </p:sp>
          <p:sp>
            <p:nvSpPr>
              <p:cNvPr id="13" name="TextBox 13"/>
              <p:cNvSpPr txBox="1"/>
              <p:nvPr/>
            </p:nvSpPr>
            <p:spPr>
              <a:xfrm>
                <a:off x="7222236" y="3615690"/>
                <a:ext cx="4434693" cy="645414"/>
              </a:xfrm>
              <a:prstGeom prst="rect">
                <a:avLst/>
              </a:prstGeom>
              <a:noFill/>
              <a:ln>
                <a:noFill/>
              </a:ln>
            </p:spPr>
            <p:txBody>
              <a:bodyPr wrap="none" lIns="0" tIns="0" rIns="0" bIns="0" anchor="t" anchorCtr="0">
                <a:spAutoFit/>
              </a:bodyPr>
              <a:lstStyle/>
              <a:p>
                <a:pPr algn="l"/>
                <a:r>
                  <a:rPr lang="en-IE" sz="3300">
                    <a:solidFill>
                      <a:srgbClr val="F8F6F0"/>
                    </a:solidFill>
                    <a:latin typeface="+mj-lt"/>
                    <a:ea typeface="+mj-ea"/>
                    <a:cs typeface="+mj-cs"/>
                  </a:rPr>
                  <a:t>Source-linked search</a:t>
                </a:r>
              </a:p>
            </p:txBody>
          </p:sp>
        </p:grpSp>
        <p:sp>
          <p:nvSpPr>
            <p:cNvPr id="15" name="TextBox 15"/>
            <p:cNvSpPr txBox="1"/>
            <p:nvPr/>
          </p:nvSpPr>
          <p:spPr>
            <a:xfrm>
              <a:off x="3302943" y="4377690"/>
              <a:ext cx="5586113" cy="352044"/>
            </a:xfrm>
            <a:prstGeom prst="rect">
              <a:avLst/>
            </a:prstGeom>
            <a:noFill/>
            <a:ln>
              <a:noFill/>
            </a:ln>
          </p:spPr>
          <p:txBody>
            <a:bodyPr wrap="none" lIns="0" tIns="0" rIns="0" bIns="0" anchor="t" anchorCtr="0">
              <a:spAutoFit/>
            </a:bodyPr>
            <a:lstStyle/>
            <a:p>
              <a:pPr algn="ctr"/>
              <a:r>
                <a:rPr lang="en-IE" sz="1800">
                  <a:solidFill>
                    <a:srgbClr val="E9EEE8"/>
                  </a:solidFill>
                  <a:latin typeface="+mn-lt"/>
                  <a:ea typeface="+mn-ea"/>
                  <a:cs typeface="+mn-cs"/>
                </a:rPr>
                <a:t>Source evidence remains the foundation in either scope.</a:t>
              </a:r>
            </a:p>
          </p:txBody>
        </p:sp>
      </p:grpSp>
      <p:grpSp>
        <p:nvGrpSpPr>
          <p:cNvPr id="21" name="risk-response"/>
          <p:cNvGrpSpPr/>
          <p:nvPr/>
        </p:nvGrpSpPr>
        <p:grpSpPr>
          <a:xfrm>
            <a:off x="448056" y="5038725"/>
            <a:ext cx="11277219" cy="938784"/>
            <a:chOff x="448056" y="5038725"/>
            <a:chExt cx="11277219" cy="938784"/>
          </a:xfrm>
        </p:grpSpPr>
        <p:sp>
          <p:nvSpPr>
            <p:cNvPr id="17" name="Line 17"/>
            <p:cNvSpPr/>
            <p:nvPr/>
          </p:nvSpPr>
          <p:spPr>
            <a:xfrm>
              <a:off x="466725" y="5038725"/>
              <a:ext cx="11258550" cy="9525"/>
            </a:xfrm>
            <a:custGeom>
              <a:avLst/>
              <a:gdLst/>
              <a:ahLst/>
              <a:cxnLst/>
              <a:rect l="l" t="t" r="r" b="b"/>
              <a:pathLst>
                <a:path w="11258550" h="9525">
                  <a:moveTo>
                    <a:pt x="0" y="0"/>
                  </a:moveTo>
                  <a:lnTo>
                    <a:pt x="11258550" y="0"/>
                  </a:lnTo>
                </a:path>
              </a:pathLst>
            </a:custGeom>
            <a:noFill/>
            <a:ln w="19050">
              <a:solidFill>
                <a:schemeClr val="accent3"/>
              </a:solidFill>
            </a:ln>
          </p:spPr>
        </p:sp>
        <p:sp>
          <p:nvSpPr>
            <p:cNvPr id="18" name="TextBox 18"/>
            <p:cNvSpPr txBox="1"/>
            <p:nvPr/>
          </p:nvSpPr>
          <p:spPr>
            <a:xfrm>
              <a:off x="448056" y="5311140"/>
              <a:ext cx="2141273" cy="666369"/>
            </a:xfrm>
            <a:prstGeom prst="rect">
              <a:avLst/>
            </a:prstGeom>
            <a:noFill/>
            <a:ln>
              <a:noFill/>
            </a:ln>
          </p:spPr>
          <p:txBody>
            <a:bodyPr wrap="none" lIns="0" tIns="0" rIns="0" bIns="0" anchor="t" anchorCtr="0">
              <a:spAutoFit/>
            </a:bodyPr>
            <a:lstStyle/>
            <a:p>
              <a:pPr algn="l">
                <a:lnSpc>
                  <a:spcPts val="2475"/>
                </a:lnSpc>
              </a:pPr>
              <a:r>
                <a:rPr lang="en-IE" sz="1800">
                  <a:solidFill>
                    <a:srgbClr val="E9EEE8"/>
                  </a:solidFill>
                  <a:latin typeface="+mn-lt"/>
                  <a:ea typeface="+mn-ea"/>
                  <a:cs typeface="+mn-cs"/>
                </a:rPr>
                <a:t>Variable PDFs</a:t>
              </a:r>
              <a:br/>
              <a:r>
                <a:rPr lang="en-IE" sz="1800">
                  <a:solidFill>
                    <a:srgbClr val="E9EEE8"/>
                  </a:solidFill>
                  <a:latin typeface="+mn-lt"/>
                  <a:ea typeface="+mn-ea"/>
                  <a:cs typeface="+mn-cs"/>
                </a:rPr>
                <a:t>Review and abstention</a:t>
              </a:r>
            </a:p>
          </p:txBody>
        </p:sp>
        <p:sp>
          <p:nvSpPr>
            <p:cNvPr id="19" name="TextBox 19"/>
            <p:cNvSpPr txBox="1"/>
            <p:nvPr/>
          </p:nvSpPr>
          <p:spPr>
            <a:xfrm>
              <a:off x="4419981" y="5311140"/>
              <a:ext cx="1864347" cy="666369"/>
            </a:xfrm>
            <a:prstGeom prst="rect">
              <a:avLst/>
            </a:prstGeom>
            <a:noFill/>
            <a:ln>
              <a:noFill/>
            </a:ln>
          </p:spPr>
          <p:txBody>
            <a:bodyPr wrap="none" lIns="0" tIns="0" rIns="0" bIns="0" anchor="t" anchorCtr="0">
              <a:spAutoFit/>
            </a:bodyPr>
            <a:lstStyle/>
            <a:p>
              <a:pPr algn="l">
                <a:lnSpc>
                  <a:spcPts val="2475"/>
                </a:lnSpc>
              </a:pPr>
              <a:r>
                <a:rPr lang="en-IE" sz="1800">
                  <a:solidFill>
                    <a:srgbClr val="E9EEE8"/>
                  </a:solidFill>
                  <a:latin typeface="+mn-lt"/>
                  <a:ea typeface="+mn-ea"/>
                  <a:cs typeface="+mn-cs"/>
                </a:rPr>
                <a:t>Slow recruitment</a:t>
              </a:r>
              <a:br/>
              <a:r>
                <a:rPr lang="en-IE" sz="1800">
                  <a:solidFill>
                    <a:srgbClr val="E9EEE8"/>
                  </a:solidFill>
                  <a:latin typeface="+mn-lt"/>
                  <a:ea typeface="+mn-ea"/>
                  <a:cs typeface="+mn-cs"/>
                </a:rPr>
                <a:t>Outreach in Week 2</a:t>
              </a:r>
            </a:p>
          </p:txBody>
        </p:sp>
        <p:sp>
          <p:nvSpPr>
            <p:cNvPr id="20" name="TextBox 20"/>
            <p:cNvSpPr txBox="1"/>
            <p:nvPr/>
          </p:nvSpPr>
          <p:spPr>
            <a:xfrm>
              <a:off x="8315706" y="5311140"/>
              <a:ext cx="2110024" cy="666369"/>
            </a:xfrm>
            <a:prstGeom prst="rect">
              <a:avLst/>
            </a:prstGeom>
            <a:noFill/>
            <a:ln>
              <a:noFill/>
            </a:ln>
          </p:spPr>
          <p:txBody>
            <a:bodyPr wrap="none" lIns="0" tIns="0" rIns="0" bIns="0" anchor="t" anchorCtr="0">
              <a:spAutoFit/>
            </a:bodyPr>
            <a:lstStyle/>
            <a:p>
              <a:pPr algn="l">
                <a:lnSpc>
                  <a:spcPts val="2475"/>
                </a:lnSpc>
              </a:pPr>
              <a:r>
                <a:rPr lang="en-IE" sz="1800">
                  <a:solidFill>
                    <a:srgbClr val="E9EEE8"/>
                  </a:solidFill>
                  <a:latin typeface="+mn-lt"/>
                  <a:ea typeface="+mn-ea"/>
                  <a:cs typeface="+mn-cs"/>
                </a:rPr>
                <a:t>Source access changes</a:t>
              </a:r>
              <a:br/>
              <a:r>
                <a:rPr lang="en-IE" sz="1800">
                  <a:solidFill>
                    <a:srgbClr val="E9EEE8"/>
                  </a:solidFill>
                  <a:latin typeface="+mn-lt"/>
                  <a:ea typeface="+mn-ea"/>
                  <a:cs typeface="+mn-cs"/>
                </a:rPr>
                <a:t>Alternative routes</a:t>
              </a:r>
            </a:p>
          </p:txBody>
        </p:sp>
      </p:grpSp>
      <p:grpSp>
        <p:nvGrpSpPr>
          <p:cNvPr id="24" name="footer"/>
          <p:cNvGrpSpPr/>
          <p:nvPr/>
        </p:nvGrpSpPr>
        <p:grpSpPr>
          <a:xfrm>
            <a:off x="451104" y="6347460"/>
            <a:ext cx="11289792" cy="234696"/>
            <a:chOff x="451104" y="6347460"/>
            <a:chExt cx="11289792" cy="234696"/>
          </a:xfrm>
        </p:grpSpPr>
        <p:sp>
          <p:nvSpPr>
            <p:cNvPr id="22" name="TextBox 22"/>
            <p:cNvSpPr txBox="1"/>
            <p:nvPr/>
          </p:nvSpPr>
          <p:spPr>
            <a:xfrm>
              <a:off x="451104" y="6347460"/>
              <a:ext cx="4224242" cy="234696"/>
            </a:xfrm>
            <a:prstGeom prst="rect">
              <a:avLst/>
            </a:prstGeom>
            <a:noFill/>
            <a:ln>
              <a:noFill/>
            </a:ln>
          </p:spPr>
          <p:txBody>
            <a:bodyPr wrap="none" lIns="0" tIns="0" rIns="0" bIns="0" anchor="t" anchorCtr="0">
              <a:spAutoFit/>
            </a:bodyPr>
            <a:lstStyle/>
            <a:p>
              <a:pPr algn="l"/>
              <a:r>
                <a:rPr lang="en-IE" sz="1200">
                  <a:solidFill>
                    <a:srgbClr val="E9EEE8"/>
                  </a:solidFill>
                  <a:latin typeface="+mn-lt"/>
                  <a:ea typeface="+mn-ea"/>
                  <a:cs typeface="+mn-cs"/>
                </a:rPr>
                <a:t>No achieved accuracy or numeric precision threshold is claimed.</a:t>
              </a:r>
            </a:p>
          </p:txBody>
        </p:sp>
        <p:sp>
          <p:nvSpPr>
            <p:cNvPr id="23" name="TextBox 23"/>
            <p:cNvSpPr txBox="1"/>
            <p:nvPr/>
          </p:nvSpPr>
          <p:spPr>
            <a:xfrm>
              <a:off x="11564963" y="6347460"/>
              <a:ext cx="175933" cy="234696"/>
            </a:xfrm>
            <a:prstGeom prst="rect">
              <a:avLst/>
            </a:prstGeom>
            <a:noFill/>
            <a:ln>
              <a:noFill/>
            </a:ln>
          </p:spPr>
          <p:txBody>
            <a:bodyPr wrap="none" lIns="0" tIns="0" rIns="0" bIns="0" anchor="t" anchorCtr="0">
              <a:spAutoFit/>
            </a:bodyPr>
            <a:lstStyle/>
            <a:p>
              <a:pPr algn="r"/>
              <a:r>
                <a:rPr lang="en-IE" sz="1200">
                  <a:solidFill>
                    <a:srgbClr val="E9EEE8"/>
                  </a:solidFill>
                  <a:latin typeface="+mn-lt"/>
                  <a:ea typeface="+mn-ea"/>
                  <a:cs typeface="+mn-cs"/>
                </a:rPr>
                <a:t>09</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theme/theme1.xml><?xml version="1.0" encoding="utf-8"?>
<a:theme xmlns:a="http://schemas.openxmlformats.org/drawingml/2006/main" name="clearcare_week1">
  <a:themeElements>
    <a:clrScheme name="clearcare_week1">
      <a:dk1>
        <a:srgbClr val="202B27"/>
      </a:dk1>
      <a:lt1>
        <a:srgbClr val="F8F6F0"/>
      </a:lt1>
      <a:dk2>
        <a:srgbClr val="1F497D"/>
      </a:dk2>
      <a:lt2>
        <a:srgbClr val="E9EEE8"/>
      </a:lt2>
      <a:accent1>
        <a:srgbClr val="173E36"/>
      </a:accent1>
      <a:accent2>
        <a:srgbClr val="B64F32"/>
      </a:accent2>
      <a:accent3>
        <a:srgbClr val="63775F"/>
      </a:accent3>
      <a:accent4>
        <a:srgbClr val="173E36"/>
      </a:accent4>
      <a:accent5>
        <a:srgbClr val="58655F"/>
      </a:accent5>
      <a:accent6>
        <a:srgbClr val="C7CEC5"/>
      </a:accent6>
      <a:hlink>
        <a:srgbClr val="B64F32"/>
      </a:hlink>
      <a:folHlink>
        <a:srgbClr val="63775F"/>
      </a:folHlink>
    </a:clrScheme>
    <a:fontScheme name="clearcare_week1">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Microsoft YaHei"/>
        <a:cs typeface="Calibr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earcare_week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learcare_week1">
  <a:themeElements>
    <a:clrScheme name="clearcare_week1">
      <a:dk1>
        <a:srgbClr val="202B27"/>
      </a:dk1>
      <a:lt1>
        <a:srgbClr val="F8F6F0"/>
      </a:lt1>
      <a:dk2>
        <a:srgbClr val="1F497D"/>
      </a:dk2>
      <a:lt2>
        <a:srgbClr val="E9EEE8"/>
      </a:lt2>
      <a:accent1>
        <a:srgbClr val="173E36"/>
      </a:accent1>
      <a:accent2>
        <a:srgbClr val="B64F32"/>
      </a:accent2>
      <a:accent3>
        <a:srgbClr val="63775F"/>
      </a:accent3>
      <a:accent4>
        <a:srgbClr val="173E36"/>
      </a:accent4>
      <a:accent5>
        <a:srgbClr val="58655F"/>
      </a:accent5>
      <a:accent6>
        <a:srgbClr val="C7CEC5"/>
      </a:accent6>
      <a:hlink>
        <a:srgbClr val="B64F32"/>
      </a:hlink>
      <a:folHlink>
        <a:srgbClr val="63775F"/>
      </a:folHlink>
    </a:clrScheme>
    <a:fontScheme name="clearcare_week1">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Microsoft YaHei"/>
        <a:cs typeface="Calibr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earcare_week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10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clearcare_week1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
  <cp:revision>2</cp:revision>
  <dcterms:created xsi:type="dcterms:W3CDTF">2026-09-23T18:49:40Z</dcterms:created>
  <dcterms:modified xsi:type="dcterms:W3CDTF">2026-10-03T19:08:22Z</dcterms:modified>
  <cp:category/>
  <cp:contentStatus/>
  <dc:language>en-IE</dc:language>
</cp:coreProperties>
</file>